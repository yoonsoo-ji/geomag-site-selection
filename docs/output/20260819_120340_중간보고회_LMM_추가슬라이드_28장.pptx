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9FC0E4"/>
                </a:solidFill>
                <a:latin typeface="Pretendard"/>
              </a:rPr>
              <a:t>중간보고 추가 작성분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109468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Pretendard"/>
              </a:rPr>
              <a:t>국가 지자기모델(LMM) 중간결과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C9D8E8"/>
                </a:solidFill>
                <a:latin typeface="Pretendard"/>
              </a:rPr>
              <a:t>4층 결합 구조의 시범 구축 결과와 확인·추가 자료, 검증 계획,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C9D8E8"/>
                </a:solidFill>
                <a:latin typeface="Pretendard"/>
              </a:rPr>
              <a:t>그리고 2020년 지자기도 연구와의 관계를 정리한다.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9808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중간결과</a:t>
            </a:r>
          </a:p>
        </p:txBody>
      </p:sp>
      <p:sp>
        <p:nvSpPr>
          <p:cNvPr id="9" name="Rectangle 8"/>
          <p:cNvSpPr/>
          <p:nvPr/>
        </p:nvSpPr>
        <p:spPr>
          <a:xfrm>
            <a:off x="3346704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547872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확인·추가 자료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45936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검증·보완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42832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0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2020 연구 비교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7E93AB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E93AB"/>
                </a:solidFill>
                <a:latin typeface="Pretendar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IGRF만으로는 도폭 편각 정밀도에 닿지 못한다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전지구 모델은 차단차수 13에서 끊기므로, 한반도 규모의 지역장·지각장은 구조적으로 담기지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02</a:t>
            </a:r>
          </a:p>
        </p:txBody>
      </p:sp>
      <p:pic>
        <p:nvPicPr>
          <p:cNvPr id="8" name="Picture 7" descr="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47672"/>
            <a:ext cx="6720840" cy="233701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498079" y="1901952"/>
            <a:ext cx="4145249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16952" y="2048256"/>
            <a:ext cx="390750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≈ 3,000 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670048"/>
            <a:ext cx="3907505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IGRF 공간 분해능 — 이보다 짧은 파장은 미포함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3145536"/>
            <a:ext cx="2008616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616952" y="3291840"/>
            <a:ext cx="17708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0.1°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3913632"/>
            <a:ext cx="17708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목표 편각 정확도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34712" y="3145536"/>
            <a:ext cx="2008616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753584" y="3291840"/>
            <a:ext cx="17708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50 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53584" y="3913632"/>
            <a:ext cx="17708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목표 총자력 정확도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17136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86384" y="4535423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전지구 평균의 한계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754879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한반도 전역에 동일한 보정이 적용된다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084064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6384" y="5102351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지각 자기이상 누락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321807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차수 14 이상 단파장 신호가 빠진다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650992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86384" y="5669279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시간 변동 미분리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5888736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일변화·자기폭풍이 관측값에 남는다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4608575"/>
            <a:ext cx="414524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662671" y="4626863"/>
            <a:ext cx="381606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→ IGRF는 버리는 것이 아니라 출발점으로 두고,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한반도 고유 성분을 분리해 더한다.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네 개 층을 한 좌표·한 시점에서 결합한다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층마다 물리적 기원·공간 스케일·시간 상수가 달라, 분리해야 오차의 원인도 분리된다.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566928"/>
          </a:xfrm>
          <a:prstGeom prst="rect">
            <a:avLst/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110946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82638"/>
                </a:solidFill>
                <a:latin typeface="Pretendard"/>
              </a:rPr>
              <a:t>B_LMM (r, t)  =  B_IGRF  +  B_Regional  +  B_Crustal  +  B_External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51760"/>
            <a:ext cx="11094689" cy="4572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26700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0677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자료원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3403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공간 / 시간 스케일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6128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역할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8854" y="26700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상태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08960"/>
            <a:ext cx="11094689" cy="4572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8368" y="31272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0677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(13차)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3403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≳ 3,000 km / 5년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6128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전지구 기준장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88854" y="31272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보유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5844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0677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지표 절대측정 16점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3403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50~3,000 km / 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6128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한반도 절대 기준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88854" y="35844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확충 필요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023360"/>
            <a:ext cx="11094689" cy="4572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40416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Crustal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0677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KIGAM 항공자력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3403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0.05~50 km / 정적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6128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지각 자기이상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88854" y="40416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해상도 보완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4988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External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0677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1분 자료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63403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한반도 / 일·시·분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6128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시간변동 분리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88854" y="44988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 적용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212080"/>
            <a:ext cx="11094689" cy="8412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13232" y="5230368"/>
            <a:ext cx="10765505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각 층은 서로 다른 자료에서 나온다 — 하나라도 빠지면 그 파장대의 신호를 메울 방법이 없다.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그래서 층을 나눈 구조 자체가, 오차가 생겼을 때 어느 자료를 보강해야 하는지 가리키는 진단 장치가 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측정점을 내삽하는 것만으로는 모델이 되지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「30점을 크리깅하면 되지 않는가」에 대한 답 — 네 가지 이유로 성립하지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011680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물리적 기원이 다르다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50592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Core·Regional·Crustal·External은 기원·시간상수·공간스케일이 모두 다르다.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 측정값에 섞인 신호를 내삽으로는 분리할 수 없다.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7424" y="1901952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87424" y="1901952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87424" y="1938528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0656" y="2011680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시간 의존성을 무시한다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304" y="2450592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지자기장은 매일 수십 nT 변동한다. 측정 시각이 다른 점을 그대로 평균하면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잡음이 공간 분포로 둔갑한다.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74720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48640" y="3511296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3584448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공간 외삽이 위험하다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23359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16점은 평균 간격이 수십 km다. 50 km 미만 단파장 지각이상을 담지 못하고,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도서·경계 부근에서 외삽이 불안정해진다.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7424" y="3474720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187424" y="3474720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187424" y="3511296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0656" y="3584448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물리 제약을 반영하지 못한다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304" y="4023359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지자기장은 발산이 0인 벡터장이다. D·I·F를 각각 내삽하면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성분 간 물리적 일관성이 깨진다.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102352"/>
            <a:ext cx="11094689" cy="56692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13232" y="5120640"/>
            <a:ext cx="1076550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일본 국토지리원·미국 NOAA·영국 BGS 모두 층 분리 구조를 채택하고 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분석은 하나의 모델 JSON을 공유하는 파이프라인으로 돌린다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적합 → 진단 → 계산기 → 보고서가 같은 원천을 읽으므로, 자료가 바뀌면 수치와 문서가 함께 갱신된다.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자료 정리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성과표·야장 판독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좌표·표고 통일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0218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9090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419090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419090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8818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기준시점 환산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0530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IGRF 영년변화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관측시각 확보분 보정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0669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89541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289541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89541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9269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층 분해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0981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IGRF 잔차 산출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이상치 배제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41120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9992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159992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59992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9720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지역장 적합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1432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1차 다항식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로버스트 최소제곱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11571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30443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8030443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030443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40171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교차검증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21883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LOO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잔차 진단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2022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00894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900894" y="1901952"/>
            <a:ext cx="1742434" cy="31089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900894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0622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산출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92334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웹·Excel 계산기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보고서 자동 갱신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639312"/>
            <a:ext cx="11094689" cy="3840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3657600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스크립트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21093" y="3657600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역할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01278" y="3657600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산출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023360"/>
            <a:ext cx="11094689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58368" y="4041648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lmm_build.py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21093" y="4041648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층 적합 · LOO 교차검증 · 모델 JSON 생성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01278" y="4041648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lmm_model.json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4425696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lmm_diagnose.py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21093" y="4425696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잔차 원인 가설 검정 · 민감도 · 반복성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01278" y="4425696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lmm_diagnosis.json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791456"/>
            <a:ext cx="11094689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58368" y="4809744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lmm_web.py / lmm_excel.py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21093" y="4809744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웹·Excel 계산기(오프라인 단일 파일)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01278" y="4809744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lmm.html / xlsx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5193792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create_lmm_*.py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21093" y="5193792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구축현황·검증연구 기록 문서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01278" y="5193792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docx / pptx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724144"/>
            <a:ext cx="11094689" cy="51206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13232" y="5742431"/>
            <a:ext cx="10765505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수치를 문서에 하드코딩하지 않는다 — 재적합하면 보고서 수치가 자동으로 따라간다.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현재까지 확보한 자료 — 두 개 층이 아직 미완이다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Core는 완비, Crustal은 해상도 부족, Regional은 측점 부족, External은 관측시각 부족이 병목이다.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8783" y="1920240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보유 자료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7190" y="1920240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9500" y="1920240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비고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40864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8783" y="2340864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(13차) 계수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7190" y="2340864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완비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9500" y="2340864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재현성 검증 통과 (ppigrf 대조)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761488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8783" y="2761488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절대측정 16점 (2019, 2022-2025)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7190" y="2761488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9500" y="2761488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권고 30점 대비 미달 · 편각 품질 불량점 배제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182112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Crustal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8783" y="3182112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KIGAM 자력이상 2.8 km 격자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7190" y="3182112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해상도 부족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9500" y="3182112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자료 공백 39% · 원측선 필요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602736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External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8783" y="3602736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1분 자료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7190" y="3602736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 적용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9500" y="3602736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2019 구간만 Kp 배제 적용 · 2022~25는 관측시각 부재</a:t>
            </a:r>
          </a:p>
        </p:txBody>
      </p:sp>
      <p:pic>
        <p:nvPicPr>
          <p:cNvPr id="31" name="Picture 30" descr="s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4169663"/>
            <a:ext cx="1924131" cy="210312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548640" y="4224528"/>
            <a:ext cx="233172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67512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16점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Regional 입력 측점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99232" y="4224528"/>
            <a:ext cx="233172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118104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31회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18104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총 관측 세션 (2019~2025)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49824" y="4224528"/>
            <a:ext cx="2331720" cy="969264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568696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209 km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68696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최북단 측점 위 공백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340096"/>
            <a:ext cx="7498079" cy="78638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3232" y="5358383"/>
            <a:ext cx="7168895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관측시각이 남아 있는 구간은 2019년뿐이다. 2022~2025 성과표에는 연도만 있어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외부장 보정을 적용할 자리가 없다 — 이것이 현재 가장 큰 병목이다.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교차검증 결과 — 구조는 섰고, 목표치는 아직이다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16측점 LOO 기준 편각 0.323° · 총자력 58.4 nT로 목표를 넘는다. 정식 편각 산출에는 쓰지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07</a:t>
            </a:r>
          </a:p>
        </p:txBody>
      </p:sp>
      <p:pic>
        <p:nvPicPr>
          <p:cNvPr id="8" name="Picture 7" descr="l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947672"/>
            <a:ext cx="4142232" cy="20711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901952"/>
            <a:ext cx="2212848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7512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0.323°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편각 D  |  목표 &lt;0.1°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1901952"/>
            <a:ext cx="2212848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999232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58.4 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총자력 F  |  목표 &lt;50 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9" y="1901952"/>
            <a:ext cx="2212848" cy="122529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330951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2F6FB2"/>
                </a:solidFill>
                <a:latin typeface="Pretendard"/>
              </a:rPr>
              <a:t>0.043°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1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복각 I  |  별도 목표 없음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83280"/>
            <a:ext cx="6812280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3401568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성분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48332" y="3401568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06420" y="3401568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목표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8262" y="3401568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6350" y="3401568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주된 원인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03904"/>
            <a:ext cx="681228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8368" y="3822191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편각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8332" y="3822191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0.323°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6420" y="3822191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&lt; 0.1°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28262" y="3822191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6350" y="3822191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지각장 해상도 · 방위 기준 · 측점 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242816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총자력 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48332" y="4242816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58.4 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06420" y="4242816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&lt; 50 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28262" y="4242816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86350" y="4242816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측점 밀도 · 지각장 해상도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645152"/>
            <a:ext cx="681228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58368" y="4663440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Crustal 상관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48332" y="4663440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 = +0.534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06420" y="4663440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8262" y="4663440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n=11 불안정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86350" y="4663440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잔차 RMS 41% 감소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157216"/>
            <a:ext cx="6812280" cy="8412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3232" y="5175504"/>
            <a:ext cx="6483096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Crustal 상관은 표본이 11개뿐이라 측점 하나에 크게 흔들린다.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개선으로 단정하지 말 것 — 표본 확대 후 재판정이 필요하다.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4297680"/>
            <a:ext cx="4142232" cy="14813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662671" y="4315968"/>
            <a:ext cx="3813048" cy="1444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현 단계 사용 범위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연구·시범계산 :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지형도 자침편차 등 정식 편각 산출 : 자료 확충 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C63D3D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기존 성과는 정밀하지만 부정확하다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야장 원시 판독값 197세션을 세 층위로 검정했다. 측정·계산이 아니라 방문마다 달라지는 방위 기준이 문제였다.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3588501" cy="122529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2227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07184"/>
                </a:solidFill>
                <a:latin typeface="Pretendard"/>
              </a:rPr>
              <a:t>① 내부 산술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322274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2E7D5B"/>
                </a:solidFill>
                <a:latin typeface="Pretendard"/>
              </a:rPr>
              <a:t>0.16″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322274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편각 재계산차 중앙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야장 산술은 완전 일치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1733" y="1901952"/>
            <a:ext cx="3588501" cy="122529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84613" y="2011680"/>
            <a:ext cx="32227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07184"/>
                </a:solidFill>
                <a:latin typeface="Pretendard"/>
              </a:rPr>
              <a:t>② 정밀도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4613" y="2286000"/>
            <a:ext cx="322274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2E7D5B"/>
                </a:solidFill>
                <a:latin typeface="Pretendard"/>
              </a:rPr>
              <a:t>1.41′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4613" y="2743200"/>
            <a:ext cx="322274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같은 날 세션 산포 중앙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목표 6′ 대비 양호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54827" y="1901952"/>
            <a:ext cx="3588501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37707" y="2011680"/>
            <a:ext cx="32227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07184"/>
                </a:solidFill>
                <a:latin typeface="Pretendard"/>
              </a:rPr>
              <a:t>③ 정확도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7707" y="2286000"/>
            <a:ext cx="322274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33.7′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7707" y="2743200"/>
            <a:ext cx="322274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재방문 잔여 RMS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16구간 중 9구간이 6′ 초과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91840"/>
            <a:ext cx="1109468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재방문 잔여 = 관측 ΔD − IGRF 영년변화   (같은 표석을 다시 재면 0 이어야 한다)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584448"/>
            <a:ext cx="11094689" cy="365760"/>
          </a:xfrm>
          <a:prstGeom prst="rect">
            <a:avLst/>
          </a:prstGeom>
          <a:solidFill>
            <a:srgbClr val="8C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8368" y="3602736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5412" y="3602736"/>
            <a:ext cx="73615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측점별 잔여 (′)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9800" y="3602736"/>
            <a:ext cx="13703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건수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950208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968496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정상 (&lt;6′)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5412" y="3968496"/>
            <a:ext cx="73615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미원 2.0 · 상주 −5.2/2.5 · 성산 −0.6 · 순천 −1.5/0.5 · 함양 −5.8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9800" y="3968496"/>
            <a:ext cx="13703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7구간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334256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주의 (6~20′)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5412" y="4334256"/>
            <a:ext cx="73615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거제 −19.7 · 여주 11.0 · 이원 −8.3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9800" y="4334256"/>
            <a:ext cx="13703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3구간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81728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700016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불일치 (≥20′)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5412" y="4700016"/>
            <a:ext cx="73615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부안 62.2/−70.6 · 함양 76.9 · 포천 −32.2/22.3 · 가야 −35.5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9800" y="4700016"/>
            <a:ext cx="13703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6구간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12080"/>
            <a:ext cx="11094689" cy="1133856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5230368"/>
            <a:ext cx="10765505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원인 — 마크 참방위각이 재방문마다 바뀐다 (거제 159.9°→330.6° · 포천 33.2°→192.7° · 부안 54.4°→169.6°→177.5°)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마크 교체 자체는 오류가 아니나, 바뀐 마크의 참방위각이 틀리면 그 방문의 편각이 통째로 틀어진다.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→ 신규 선점에서 방위표지를 고정하고 방위각 결정법을 상향해야 하는 근거 (천문·자이로 또는 RTK 장기선)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불일치 방문 2건을 빼자 편각이 26% 좋아졌다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감사가 모델 잔차를 보지 않고 지목한 방문이다. 순환 논증이 아니라는 점이 중요하다.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36576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지표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9199" y="192024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감사 전 (17측점)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8137" y="192024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감사 후 (16측점)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37075" y="192024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변화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6013" y="192024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6771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28600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편각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9199" y="22860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0.7691°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8137" y="22860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0.5403°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37075" y="22860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−26%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6013" y="22860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개선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65176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총자력 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9199" y="265176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60.26 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8137" y="265176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58.41 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7075" y="265176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−1.85 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6013" y="265176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개선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99923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01752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복각 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99199" y="301752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0.1787°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18137" y="301752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0.2600°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37075" y="301752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+0.081°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6013" y="301752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악화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383279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편각 잔차 RMS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99199" y="338327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35.0′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18137" y="338327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20.73′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37075" y="338327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−41%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013" y="338327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개선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73075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3749039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D / I 비대칭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99199" y="374903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3.69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18137" y="374903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1.95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37075" y="374903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자기 원인 예상 1.64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56013" y="374903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거의 해소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11480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가설 A (지각 벡터)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9199" y="41148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r=+0.244 p=0.40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18137" y="41148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r=+0.560 p=0.046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37075" y="41148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기각 → 유의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56013" y="41148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반전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626864"/>
            <a:ext cx="11094689" cy="13716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13232" y="4645152"/>
            <a:ext cx="10765505" cy="1335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가장 중요한 것은 마지막 두 줄이다.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D/I 비대칭이 3.69 → 1.95 로 떨어져 자기 원인 예상값(1.64)에 근접했다. 「편각에만 작용하는 초과 오차」의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정체가 바로 그 두 방문이었다는 뜻이다.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규모 미달로 기각했던 「지각 벡터 성분 누락」 가설이 유의해졌다(p=0.046). 잡음이 걷히자 실제 신호가 드러났다.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대가 — 부안이 성과표에 2023 한 건뿐이라 측점이 17→16 으로 줄어 서해안 공간 커버리지를 잃는다. 복각도 악화됐다.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네 가설 중 셋은 기각, 하나는 살아나 모형에 들어갔다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감사로 잡음이 걷히자 「지각 벡터 성분 누락」만 남았다. 그것을 구현한 것이 이번 단계다.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6903720" cy="4754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가설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1409" y="1920240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930" y="1920240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유의확률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3488" y="1920240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6903720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95728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A. 지각 벡터 성분 누락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1409" y="2395728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+0.641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930" y="2395728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0.034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3488" y="2395728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유의 — 구현해 모형에 반영 (다음 장)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871216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B. 측정 정밀도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1409" y="2871216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-0.010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7930" y="2871216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0.98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3488" y="2871216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1회 12.0′ vs 2회+ 14.0′ — 차이 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328416"/>
            <a:ext cx="6903720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346704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C. 국소 자기 거칠기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1409" y="3346704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-0.332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7930" y="3346704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0.35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3488" y="3346704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설명력 없음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822191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D. 미적합 지역 구조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1409" y="3822191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7930" y="3822191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3488" y="3822191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반변량도가 순수 nugget (최단 34 km에서 이미 sill 초과)</a:t>
            </a:r>
          </a:p>
        </p:txBody>
      </p:sp>
      <p:pic>
        <p:nvPicPr>
          <p:cNvPr id="31" name="Picture 30" descr="asy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993392"/>
            <a:ext cx="4023360" cy="210142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589520" y="411480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D / I 잔차 비대칭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389120"/>
            <a:ext cx="4023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관측 1.22 대 자기 원인 예상 1.64 — 초과분이 거의 사라졌다.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535424"/>
            <a:ext cx="6903720" cy="109728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13232" y="4553712"/>
            <a:ext cx="6574536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가설 A 는 처음에 「규모 미달」로 기각됐었다.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방위 기준이 틀린 방문 2건이 잔차를 부풀려 상대적 비중을 가렸기 때문이다.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그 둘을 걷어내자 예측이 잔차의 절반을 차지하게 됐다 — 순서가 중요했다.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4535424"/>
            <a:ext cx="4023360" cy="109728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754112" y="4553712"/>
            <a:ext cx="3694176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남은 계통 오차 (자료만으로 구분 불가)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마크 진북 방위각 오차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② 성과표 전사·환산 오류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③ 편각 환산 절차 오류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항공자력은 스칼라만 주지만, 방향 정보가 그 안에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총자력 이상은 이상벡터를 주자기장 방향으로 투영한 값이다. 역산하면 편각·복각에 쓸 수 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1109468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82638"/>
                </a:solidFill>
                <a:latin typeface="Pretendard"/>
              </a:rPr>
              <a:t>ΔF  =  l · b_north  +  m · b_east  +  n · b_down       (l, m, n) = 주자기장 단위벡터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05456"/>
            <a:ext cx="6903720" cy="40233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" y="2523744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지표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29484" y="2523744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지각 F만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6376" y="2523744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지각 벡터 적용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1344" y="2523744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변화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07792"/>
            <a:ext cx="6903720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926080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편각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9484" y="2926080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0.5403°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6376" y="2926080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0.3396°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2926080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−37%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328416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복각 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29484" y="3328416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0.2600°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6376" y="3328416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0.2408°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3328416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−7%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712464"/>
            <a:ext cx="6903720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58368" y="3730752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편각 잔차 RMS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9484" y="3730752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20.73′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6376" y="3730752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13.75′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1344" y="3730752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−34%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133088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가설 A 상관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29484" y="4133088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r=+0.560 p=0.046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6376" y="4133088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r=+0.641 p=0.034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81344" y="4133088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강화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517136"/>
            <a:ext cx="6903720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535424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적용 후 잔여 상관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29484" y="4535424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6376" y="4535424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r=+0.208 p=0.54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1344" y="4535424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이중계상 없음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0" y="2505456"/>
            <a:ext cx="1920240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708392" y="2651760"/>
            <a:ext cx="16824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F6FB2"/>
                </a:solidFill>
                <a:latin typeface="Pretendard"/>
              </a:rPr>
              <a:t>8.4′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08392" y="3273552"/>
            <a:ext cx="168249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복원 벡터의 편각 예측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20072" y="2505456"/>
            <a:ext cx="192024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838944" y="2651760"/>
            <a:ext cx="16824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E86F2A"/>
                </a:solidFill>
                <a:latin typeface="Pretendard"/>
              </a:rPr>
              <a:t>1.60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38944" y="3273552"/>
            <a:ext cx="168249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최적배율 — 진폭이 모자란다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89520" y="3776472"/>
            <a:ext cx="4050791" cy="14813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754112" y="3794759"/>
            <a:ext cx="3721607" cy="1444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배율 1.6 이 다음 요구사항이다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예측 방향은 맞는데 크기가 모자란다.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2.8 km 격자가 단파장을 평활했기 때문 —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250 m 원측선 자료가 곧 다음 이득이다.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6903720" cy="122529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13232" y="5157216"/>
            <a:ext cx="6574536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복각 LOO 가 0.043° 로 표시되는 경우가 있으나 그대로 읽으면 안 된다.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잔차가 줄면서 강건 적합의 채택 측점이 15 → 8 로 좁아졌고, 교차검증은 그 8점 위에서만 계산된다.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채택 집합을 고정해 견준 값이 위 표의 −7% 다. 편각은 같은 방식으로 −37% 라 선택효과가 아니다.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구현은 세 환경에서 같은 값을 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Python·JavaScript·Excel 세 구현이 동일 좌표에서 일치함을 확인했다 — 계산체계 자체는 재현 가능하다.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대조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2987" y="1920240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8969" y="1920240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차이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340864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JavaScript ↔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2987" y="2340864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웹 계산기 vs 서버 재현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8969" y="2340864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0.21″ · F 0.07 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761488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Excel ↔ 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2987" y="2761488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수식 평가 회귀검증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8969" y="2761488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0.33″ · F 0.12 nT (사전격자 보간오차)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3182112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IGRF 엔진 ↔ ppigrf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2987" y="3182112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 층 구현 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8969" y="3182112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0.01″ · F 0.37 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895344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층별 기여 실측 (충북 청주 인근 1점)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42816"/>
            <a:ext cx="2677660" cy="9144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6656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82638"/>
                </a:solidFill>
                <a:latin typeface="Pretendard"/>
              </a:rPr>
              <a:t>50,831 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 (IGRF)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54316" y="4242816"/>
            <a:ext cx="2677660" cy="91440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482332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F6FB2"/>
                </a:solidFill>
                <a:latin typeface="Pretendard"/>
              </a:rPr>
              <a:t>-0.80 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82332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Regional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9992" y="4242816"/>
            <a:ext cx="2677660" cy="91440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88008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F6FB2"/>
                </a:solidFill>
                <a:latin typeface="Pretendard"/>
              </a:rPr>
              <a:t>-147.76 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8008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Crustal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5669" y="4242816"/>
            <a:ext cx="2677660" cy="914400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093685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63D3D"/>
                </a:solidFill>
                <a:latin typeface="Pretendard"/>
              </a:rPr>
              <a:t>-148.56 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3685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합계 LMM − IGRF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358383"/>
            <a:ext cx="1109468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5376671"/>
            <a:ext cx="1076550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IGRF 대조는 정확도 검증이 아니다. IGRF는 LMM의 입력이므로 LMM−IGRF는 정의상 보정층의 합이다.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정당한 용도는 Core 구현 검증 하나이며 이미 통과했다 — 정확도는 LOO·독립 표본으로만 말할 수 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웹에서 바로 확인할 수 있게 만들어 두었다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모델·자료 현황·계산기를 각각 한 페이지로 낸다. 모두 정적 파일이라 설치 없이 열린다.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1109468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한국 지자기도 — IGRF · LMM · 차이   (lmm_map.html)</a:t>
            </a:r>
          </a:p>
        </p:txBody>
      </p:sp>
      <p:pic>
        <p:nvPicPr>
          <p:cNvPr id="9" name="Picture 8" descr="lmm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996" y="2194560"/>
            <a:ext cx="5391974" cy="20848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352544"/>
            <a:ext cx="110946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 와 LMM 은 같은 색범위 · 오른쪽이 LMM 이 더하는 양(지각 자기이상 구조)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26864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3D 지구본 — 한국 LMM 패치</a:t>
            </a:r>
          </a:p>
        </p:txBody>
      </p:sp>
      <p:pic>
        <p:nvPicPr>
          <p:cNvPr id="12" name="Picture 11" descr="globe_lmm_di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5151" y="4882896"/>
            <a:ext cx="1357162" cy="8595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797296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geomag_globe.html · 커서를 올리면 그 좌표의 LMM D·I·F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144" y="4626864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자료 확보 현황</a:t>
            </a:r>
          </a:p>
        </p:txBody>
      </p:sp>
      <p:pic>
        <p:nvPicPr>
          <p:cNvPr id="15" name="Picture 14" descr="inven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0608" y="4882896"/>
            <a:ext cx="1375258" cy="859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33144" y="5797296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data_inventory.html · 4개 층을 파일에서 직접 세어 표시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071616"/>
            <a:ext cx="11094689" cy="3840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3232" y="6089903"/>
            <a:ext cx="107655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시연 — ① 지자기도 3면 비교 → ② 지구본에서 위치·규모 확인 → ③ 자료 현황으로 근거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확인할 자료 ① — 한국지질자원연구원 항공자력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현재는 가공된 격자만 쓰고 있다. 원측선 자료를 확인해 Crustal 층의 해상도 한계를 푼다.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14</a:t>
            </a:r>
          </a:p>
        </p:txBody>
      </p:sp>
      <p:pic>
        <p:nvPicPr>
          <p:cNvPr id="8" name="Picture 7" descr="re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47672"/>
            <a:ext cx="4690872" cy="23454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901952"/>
            <a:ext cx="210312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7512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2.8 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현재 사용 격자 간격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70632" y="1901952"/>
            <a:ext cx="2103120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89504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250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9504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원측선 간격 (권고)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92624" y="1901952"/>
            <a:ext cx="210312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111496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39%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496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격자 자료 공백 비율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36976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13232" y="329184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무엇을 확인하는가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529584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측선 간격·측고·IGRF 제거 기준·측량 연도 — 격자로 가공되기 전의 원측선 제원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895344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3232" y="3950207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왜 필요한가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187952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현재 격자는 2.8 km 간격이라 50 km 미만 단파장 지각이상을 담지 못한다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553712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13232" y="460857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무엇이 풀리는가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846320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총자력 F 목표 미달의 주된 원인 중 하나인 지각장 해상도 한계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21808"/>
            <a:ext cx="11094689" cy="95097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3232" y="5340096"/>
            <a:ext cx="1076550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선행 검증 근거 — 경상분지 동해안 사례에서 점 측정 잔차와 항공자력 2 km 평균이 5 nT 이내로 일치했다.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즉 항공자력이 점 측정 잔차를 재현한다는 것은 이미 확인됐고, 남은 것은 전국 모자이크 적용이다.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C63D3D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항공자력 제원 확인 — 원측선 1~2 km, 공개본 2.5 km 격자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박영수 외(2019) 「한국의 자력이상도」에 37년치 탐사 제원이 정리돼 있다. 원측선을 받아도 개선폭은 제한적이다.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2697480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" y="2048256"/>
            <a:ext cx="24597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F6FB2"/>
                </a:solidFill>
                <a:latin typeface="Pretendard"/>
              </a:rPr>
              <a:t>1 ~ 2 km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70048"/>
            <a:ext cx="24597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주측선 간격 (연도별)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점간 약 30 m · 고도 100~200 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1901952"/>
            <a:ext cx="269748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83864" y="2048256"/>
            <a:ext cx="24597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2.3 × 2.8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2670048"/>
            <a:ext cx="24597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공개본 1.5분 등격자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원측선보다 성기다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1901952"/>
            <a:ext cx="269748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00216" y="2048256"/>
            <a:ext cx="24597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86.4 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2670048"/>
            <a:ext cx="24597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공개본 격자 자체 내삽오차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25.9% 가 목표 50 nT 초과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97696" y="1901952"/>
            <a:ext cx="2645633" cy="113385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16568" y="2048256"/>
            <a:ext cx="24078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F6FB2"/>
                </a:solidFill>
                <a:latin typeface="Pretendard"/>
              </a:rPr>
              <a:t>364만점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8" y="2670048"/>
            <a:ext cx="2407889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1982~2017 · 37년 · 도폭 190개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00400"/>
            <a:ext cx="11094689" cy="365760"/>
          </a:xfrm>
          <a:prstGeom prst="rect">
            <a:avLst/>
          </a:prstGeom>
          <a:solidFill>
            <a:srgbClr val="8C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8368" y="3218688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제원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5412" y="321868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초기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4350" y="321868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중기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4234" y="321868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후기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3172" y="321868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최근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566160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584448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주측선 / 맺음측선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5412" y="358444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 km / 5 km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4350" y="358444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1.5 km / 8~10 km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4234" y="358444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 km / 6~8 km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23172" y="358444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1~2 km / 4~6 km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3950207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연도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5412" y="3950207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1982~1993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4350" y="3950207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1994~1999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4234" y="3950207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2000~2011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23172" y="3950207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2012~2017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297680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58368" y="4315968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장비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5412" y="431596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양성자 G-813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74350" y="431596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세슘 G-822A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4234" y="431596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세슘 + GNSS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23172" y="431596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3축 경사계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828032"/>
            <a:ext cx="11094689" cy="1517904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13232" y="4846320"/>
            <a:ext cx="10765505" cy="1481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설명자료의 「측선 250 m」는 자체 수치와 맞지 않는다 — 8,600 km²에 213,791점이면 점간 32 m 기준 측선 간격이 1.26 km 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(250 m 였다면 108만점 필요). 사례연구도 표준 측선 자료였고 특별히 조밀한 자료가 아니었다.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원측선을 받아도 측선 직교방향은 2.8 → 1~2 km, 1.4~2.8배 개선에 그친다 — F 50 nT 달성은 여전히 불확실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② 편각 D 0.1° 는 이 한계와 무관하다 — 지각층은 F 에만 기여한다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추가할 자료 ② — 국토지리정보원 2021~2025 반복측정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Regional 층의 입력 측점을 늘리고, 관측시각을 확보해 External 층의 봉쇄를 푼다.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2487168" cy="11887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F6FB2"/>
                </a:solidFill>
                <a:latin typeface="Pretendard"/>
              </a:rPr>
              <a:t>16점 → 30점 이상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Regional 입력 측점 목표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901952"/>
            <a:ext cx="2487168" cy="11887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27355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F6FB2"/>
                </a:solidFill>
                <a:latin typeface="Pretendard"/>
              </a:rPr>
              <a:t>2021~2025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추가 대상 반복측정 기간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901952"/>
            <a:ext cx="2487168" cy="1188720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87959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관측시각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959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External 층 적용의 전제 조건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73552"/>
            <a:ext cx="11094689" cy="40233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3291840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항목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5412" y="3291840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상태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9500" y="3291840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확보 시 효과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75888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8368" y="3694176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측점 밀도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5412" y="3694176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현재 16점 · 권고 30점 이상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9500" y="3694176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1차 다항식의 자유도 확보 · 이상치 배제 작동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096512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관측시각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5412" y="4096512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2022~2025 성과표는 연도만 기재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9500" y="4096512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야장 확보 시 분 단위 복원 → 외부장 보정 가능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480560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8368" y="4498848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독립 검증점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5412" y="4498848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적합에 쓰지 않는 측점 분리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9500" y="4498848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LOO 외에 독립 표본 검증이 가능해진다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901184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시기간 대조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5412" y="4901184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겹치는 측점의 IGRF 잔차 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9500" y="4901184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External 적용 전후로 0에 수렴하는지 정량 판정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486400"/>
            <a:ext cx="1109468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13232" y="5504688"/>
            <a:ext cx="1076550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두 자료는 서로 다른 목표를 푼다 — 섞어 말하면 안 된다.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· 항공자력(Crustal) → 총자력 F의 지각장 해상도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· 반복측정 + 관측시각(Regional·External) → 편각 D의 외부장 잡음과 측점 밀도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어떤 자료가 어떤 미달을 푸는가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현재의 두 미달 항목을 원인별로 나누고, 각 자료가 담당하는 몫을 분명히 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19328" cy="841248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2011680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편각 D  0.323°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7744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목표 0.1°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89504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2980944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외부장 미보정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291840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관측시각 확보 → 상시관측 보정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22191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913631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측점 밀도 부족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224528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16점 → 30점 이상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754880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9808" y="484632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계통 오차 의심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157216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성과표 원본 감사 · 방위 기준 재확인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4000" y="1901952"/>
            <a:ext cx="5419328" cy="841248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25168" y="2011680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총자력 F  58.4 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5168" y="237744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목표 50 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24000" y="2889504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25168" y="2980944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지각장 해상도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8048" y="3291840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항공자력 원측선 250 m 적용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4000" y="3822191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25168" y="3913631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측점 밀도 부족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8048" y="4224528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반복측정 확대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24000" y="4754880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25168" y="484632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자료 공백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8048" y="5157216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격자 공백 39% 보완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705856"/>
            <a:ext cx="11094689" cy="73152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13232" y="5724144"/>
            <a:ext cx="10765505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순서가 중요하다 — 상시관측으로 제거할 수 있는 일변동은 편각 기준 수 분(′) 수준인데,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미설명 잔차는 14′다. 잡음이 신호보다 큰 상태에서 보정을 얹으면 개선 여부를 판정할 수 없다.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앞으로 필요한 자료와 요구 조건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설명자료의 권고 수준과 현재 보유량을 나란히 놓고, 확보 경로까지 적는다.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자료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4465" y="1920240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설명자료 요건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3403" y="1920240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93287" y="1920240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확보 경로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6013" y="1920240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무엇이 풀리나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340864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항공자력 원측선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4465" y="2340864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측선 100~250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3403" y="2340864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2.8 km 격자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3287" y="2340864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KIGAM 활용신청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6013" y="2340864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F 목표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761488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지표 절대측정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4465" y="2761488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30점 이상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3403" y="2761488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16점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3287" y="2761488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2027 캠페인 · 야장 17건 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6013" y="2761488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D·F 목표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182112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관측시각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44465" y="3182112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세션마다 기록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3403" y="3182112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2019~2025 확보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3287" y="3182112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완료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6013" y="3182112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External 전제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602736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상시관측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44465" y="3602736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1분 자료 · 다지점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63403" y="3602736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CYG + KASA 3소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93287" y="3602736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확보 완료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013" y="3602736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NOC 투영 입력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005072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023359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독립 검증점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44465" y="4023359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적합 제외 측점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63403" y="4023359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미분리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93287" y="4023359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신규 캠페인 설계에 반영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56013" y="4023359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성능 과대평가 방지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443983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관측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44465" y="4443983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Kp ≤ 2 · RTK ≤ 1 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63403" y="4443983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Kp 미제어(정온 123/196)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93287" y="4443983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작업지침 반영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56013" y="4443983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표본 품질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102352"/>
            <a:ext cx="11094689" cy="131673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13232" y="5120640"/>
            <a:ext cx="10765505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우선순위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항공자력 원측선 — F 목표 미달의 유일한 해법. 오픈플랫폼 미공개라 활용신청이 필요하다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② NOC 공간투영 구현 — 자료는 이미 있다. 관측소 4곳이라 공간 모드를 적합할 수 있다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③ 측점 확대 — 야장에만 있는 17건을 검증해 투입하면 가장 값싸게 늘릴 수 있다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청양 한 곳으로는 안 됐고, 네 곳을 쓰니 됐다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자문 권고대로 대체관측소를 모형에 실제로 넣었다. 다만 정온 세션에 한정할 때만 이득이 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21093" y="1920240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보정량 자료원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8137" y="1920240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세션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0447" y="1920240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LOO 편각 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385" y="1920240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340864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미적용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1093" y="2340864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8137" y="2340864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 세션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0447" y="2340864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0.5899°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9385" y="2340864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기준선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761488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편각만 차감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1093" y="2761488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청양 단독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8137" y="2761488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 세션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0447" y="2761488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0.3653°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9385" y="2761488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종전 채택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182112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편각만 차감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21093" y="3182112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관측소 4소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18137" y="3182112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 세션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0447" y="3182112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0.4028°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79385" y="3182112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단독보다 나쁨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602736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편각만 차감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21093" y="3602736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청양 단독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18137" y="3602736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정온만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0447" y="3602736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0.3763°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79385" y="3602736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005072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023359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편각만 차감 (채택)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21093" y="4023359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관측소 4소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18137" y="4023359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정온만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0447" y="4023359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0.3232°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79385" y="4023359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최종 채택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608576"/>
            <a:ext cx="3566160" cy="969264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67512" y="4754880"/>
            <a:ext cx="3328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E7D5B"/>
                </a:solidFill>
                <a:latin typeface="Pretendard"/>
              </a:rPr>
              <a:t>−45%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" y="5376672"/>
            <a:ext cx="3328415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미적용 대비 편각 교차검증 오차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59" y="4608576"/>
            <a:ext cx="356616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370831" y="4754880"/>
            <a:ext cx="3328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F6FB2"/>
                </a:solidFill>
                <a:latin typeface="Pretendard"/>
              </a:rPr>
              <a:t>178세션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70831" y="5376672"/>
            <a:ext cx="3328415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4소 보간으로 산출한 보정량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55279" y="4608576"/>
            <a:ext cx="3688049" cy="96926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119871" y="4626864"/>
            <a:ext cx="3358865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왜 정온만인가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교란시엔 4소 평면적합이 발산한다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(총자력 편차 최대 567 nT)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650992"/>
            <a:ext cx="11094689" cy="74980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13232" y="5669279"/>
            <a:ext cx="1076550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계기 좌표계 정합이 관건 — 강릉·제주 Y 는 변화계 기준(Y≈0)이라 회전을 맞춰야 한다(제주 −6.32° · 강릉 −8.10° · 이천 −0.69° · 청양 −0.03°).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다섯 설정 중 교차검증 최소를 고른 것이므로 0.365 → 0.323 차이 자체가 아니라 방식의 타당성이 근거다.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자문 권고 반영 현황 — 남은 것은 두 가지다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2026-07-29 자문회의 지적 사항을 항목별로 대조했다.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3474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자문 권고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2987" y="1920240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반영 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77907" y="1920240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49424"/>
            <a:ext cx="11094689" cy="34747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267712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일변화 미보정이 근본 원인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2987" y="2267712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야장 직접 대조로 원시값 확정 + 편각 보정 적용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77907" y="2267712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615184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청양 단독 차감의 한계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2987" y="2615184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관측소 4소 공간보간으로 교체 (앞 장)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77907" y="2615184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44368"/>
            <a:ext cx="11094689" cy="34747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2962656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2020~2025 야장·관측시각 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2987" y="2962656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212세션 복원 · 178세션 보정량 산출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77907" y="2962656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310127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Kp 반영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2987" y="3310127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정온 판정 · 교란 세션 보정 제외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77907" y="3310127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639311"/>
            <a:ext cx="11094689" cy="34747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657599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구배를 필터가 아니라 가중치로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42987" y="3657599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계단 점수 + 800 nT 하드 제외 → 연속 가중치 (250 nT 최고점)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77907" y="3657599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005071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측점 수 대비 자유도 민감도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42987" y="4005071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1차 다항식은 14점까지 유지 · 12점부터 흔들림 · 2차는 사용 불가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77907" y="4005071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334255"/>
            <a:ext cx="11094689" cy="34747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368" y="4352543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에폭 혼용 금지 (2010 vs 2020~24)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42987" y="4352543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정식 산출 단계에서 2019 제외 채택 · 시범 단계는 표본 유지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77907" y="4352543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부분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700015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그레디오미터 도입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2987" y="4700015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장비 사안 — 연구 범위 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7907" y="4700015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해당 없음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193791"/>
            <a:ext cx="11094689" cy="82296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13232" y="5212079"/>
            <a:ext cx="10765505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남은 두 가지는 자료·장비 사안이다.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항공자력 원측선(250 m) — 지각층 진폭 부족의 유일한 해법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신규 측점 확보 — 배치 최적과 자기환경 등급이 어긋나는 구간은 후보 재탐색이 필요하다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설명자료 대비 — 무엇을 지켰고 무엇이 남았는가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4층 구조와 검증 절차는 그대로 따랐다. 남은 것은 자료 규모와 External 의 공간투영이다.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0233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항목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1624" y="1920240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설명자료 요건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5712" y="1920240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구현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7907" y="1920240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04288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22576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①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1624" y="2322576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(deg ≤ 13), ppigrf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5712" y="2322576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동일 구현 · 재현성 검증 통과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77907" y="2322576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준수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724912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② Regional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1624" y="2724912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지표 절대측정 30점 이상 · D+I+F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5712" y="2724912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16점 · 세션 6회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7907" y="2724912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08960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127248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③ Crustal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11624" y="3127248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항공자력 측선 100~250 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5712" y="3127248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2.8 km 가공 격자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77907" y="3127248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529584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④ External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1624" y="3529584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CYG NOC 분해 → 점 위치 공간투영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05712" y="3529584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관측소 4소 1차 평면 보간 (모드 분해 없음)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7907" y="3529584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913632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58368" y="3931920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 적합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11624" y="3931920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다항식 또는 R-SCHA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05712" y="3931920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1차 다항식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77907" y="3931920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4334256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잔차면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11624" y="4334256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Residual = 관측 − LMM 을 공간 모델링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05712" y="4334256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미구현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7907" y="4334256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미구현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718304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8368" y="4736592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검증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11624" y="4736592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LOO 자기검증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05712" y="4736592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LOO 구현 · 3환경 일치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77907" y="4736592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준수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303520"/>
            <a:ext cx="11094689" cy="102412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13232" y="5321808"/>
            <a:ext cx="10765505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설명자료의 「자료가 하나라도 빠지면 구조적 결함」 진단이 그대로 맞았다.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항공자력이 없으면 F 목표는 영원히 미달 → 원측선 확보가 F 의 유일한 경로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단일 관측소로는 외부장을 못 뗀다 → 4소 공간보간으로 편각 45% 개선, 다만 교란시엔 여전히 깨진다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검증은 게이트를 두고 단계적으로 진행한다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판정기준을 먼저 정하고 그 기준에 따라 다음 단계로 넘어간다 — 층이 결합돼 있어 순차 튜닝은 금지한다.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2663944" cy="3474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94944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0단계   완료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2022~25 야장 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212세션 · 분 단위 시각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0872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8888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358888" y="1901952"/>
            <a:ext cx="2663944" cy="3474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505192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1단계   완료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3480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성과표 원본 감사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3480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불일치 방문 2건 특정·제외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1120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9136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169136" y="1901952"/>
            <a:ext cx="2663944" cy="3474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15440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2단계   완료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3728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지각 벡터 · External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3728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end-to-end 재적합으로 판정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1369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79385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979385" y="1901952"/>
            <a:ext cx="2663944" cy="34747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25689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3단계   진행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3977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원측선 · 신규 측점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3977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KPI 미달분 · 독립 표본 검증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694176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1단계 판정기준 — 편각 잔차로 다음 행동을 가른다 (기준은 착수 전에 정했다)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041648"/>
            <a:ext cx="7406640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059935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감사 후 편각 잔차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4059935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02351" y="4059935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후속 조치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462272"/>
            <a:ext cx="740664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480559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10′ 이하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4480559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보정 진행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02351" y="4480559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자료 결합 착수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4901183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10 ~ 20′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360" y="4901183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 재측정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02351" y="4901183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잔차 큰 측점 현장 재측정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303520"/>
            <a:ext cx="740664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5321807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20′ 초과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0360" y="5321807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모형 작업 중단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02351" y="5321807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방위 기준 재결정 선행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26679" y="4041648"/>
            <a:ext cx="3916649" cy="168249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891271" y="4059935"/>
            <a:ext cx="3587465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현재 13.8′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두 번째 구간.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남은 것은 잔차가 큰 측점의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현장 재측정이다.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(착수 시점 35.0′)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보완 우선순위와 남은 위험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자료 확충만으로 풀리지 않는 항목이 있다 — 그 경우의 대응까지 미리 정해 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88720" cy="49377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29384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최우선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56231" y="1901952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029967" y="1920240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1956816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항공자력 원측선(250 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2176272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지각 벡터 진폭이 1.6배 모자라다 — 편각·총자력 공통 병목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05456"/>
            <a:ext cx="1188720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8640" y="2532888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2순위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56231" y="2505456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029967" y="2523744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8" y="2560320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잔차 큰 측점 재측정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8" y="2779776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편각 잔차 13.8′ — 방위표지 고정과 함께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08960"/>
            <a:ext cx="1188720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8640" y="3136392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3순위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56231" y="3108960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029967" y="3127248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29968" y="3163824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신규 측점 확보 (30점)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9968" y="3383280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자유도·이상치 배제·독립 검증점. 12점 이하에서 무너진다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12464"/>
            <a:ext cx="1188720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48640" y="3739896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4순위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56231" y="3712464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029967" y="3730752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29968" y="3767328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NOC 공간투영 구현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9968" y="3986784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4소 평면은 근사 — 교란시에 먼저 깨진다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517136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535423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위험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9199" y="4535423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내용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58969" y="4535423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대응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937759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956047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계통 오차가 남는 경우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99199" y="4956047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자료를 늘려도 편각 잔차가 줄지 않음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58969" y="4956047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방위 기준 재결정 · 문제 측점 재측정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5376671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표본 불안정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99199" y="5376671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Crustal 상관이 n=11로 흔들림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58969" y="5376671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표본 확대 전 결론 유보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779007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5797295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공간 공백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99199" y="5797295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최북단 위 209 km 미측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58969" y="5797295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신규 캠페인 배치에 반영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26679" y="1901952"/>
            <a:ext cx="3916649" cy="23957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891271" y="1920240"/>
            <a:ext cx="3587465" cy="2359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지금 말할 수 있는 것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구조와 계산체계는 재현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오차 원인을 층으로 분리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아직 말할 수 없는 것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목표 정확도 달성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정식 편각 산출 적합성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2020년은 «보정된 지자기도», 이번은 «계산되는 지역모델»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같은 IGRF를 쓰지만 IGRF를 다루는 방식이 다르다 — 보정 대상으로 보느냐, 배경장으로 두느냐.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19328" cy="786384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6B5B95"/>
                </a:solidFill>
                <a:latin typeface="Pretendard"/>
              </a:rPr>
              <a:t>2020년 지자기도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59152"/>
            <a:ext cx="50169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기반 보정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52928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2871216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1.  IGRF 예측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5424" y="3364992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11296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529584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2.  국내 실측과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5424" y="4023360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69664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9808" y="4187952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3.  차이만큼 보정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5424" y="4681728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28032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49808" y="4846320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4.  기준시점 지자기도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4000" y="1901952"/>
            <a:ext cx="5419328" cy="786384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25168" y="1993392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F6FB2"/>
                </a:solidFill>
                <a:latin typeface="Pretendard"/>
              </a:rPr>
              <a:t>2026년 LMM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5168" y="2359152"/>
            <a:ext cx="50169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지역 성분 분리 모델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24000" y="2852928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25168" y="2871216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1.  IGRF 배경장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0785" y="3364992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3511296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25168" y="3529584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2.  실측 − IGRF = 지역 신호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0785" y="4023360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24000" y="4169664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25168" y="4187952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3.  성분별 공간모델링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0785" y="4681728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4000" y="4828032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25168" y="4846320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4.  좌표·시점별 D·I·F 계산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504688"/>
            <a:ext cx="11094689" cy="877824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5522975"/>
            <a:ext cx="10765505" cy="841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핵심 차이는 Regional 층이다. 2020년은 IGRF와 실측의 차이를 «보정량»으로 다뤘고,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이번에는 그 차이를 한반도 고유의 «지역 자기장 신호»로 보아 공간함수로 추정한다.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항목별 비교 — 구조가 다르다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배경장은 같지만 국내 관측자료의 지위, 성분 분리 여부, 검증 방식, 갱신 개념이 모두 다르다.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36576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구분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5412" y="192024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2020년 대한민국 지자기도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93287" y="192024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2026년 LMM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6771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2860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기본 개념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5412" y="228600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기반 보정 지자기도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3287" y="228600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지역 자기장 성분 모델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65176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국내 반복측량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5412" y="265176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IGRF와 비교·보정에 활용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3287" y="265176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Regional 층을 추정하는 핵심자료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9923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301752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지각 자기장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5412" y="301752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명시적 분리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93287" y="301752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항공자력 → Crustal 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38327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외부장·일변화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5412" y="3383279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상시관측을 보정·검토에 활용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93287" y="3383279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External 층으로 별도 취급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3075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74903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공간 모델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5412" y="3749039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분포 + 국내성과 보정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3287" y="3749039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+ Regional + Crustal + 잔차면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1148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시간 모델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5412" y="411480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기준연도 환산 · IGRF 영년변화 중심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93287" y="411480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기준시점 환산 + 외부장·영년변화 분리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46227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368" y="448056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검증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5412" y="448056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관측값·IGRF 비교 중심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3287" y="448056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LOO 교차검증 · 독립 표본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84632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활용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5412" y="484632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지자기도 · 도엽별 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93287" y="484632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좌표 입력 → D·I·F 계산 (웹·Excel·도엽)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19379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8368" y="521208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갱신 개념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5412" y="521208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새 지자기도 재작성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93287" y="521208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신규 관측자료로 모델 재적합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724144"/>
            <a:ext cx="11094689" cy="585216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13232" y="5742432"/>
            <a:ext cx="1076550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2020년 연구는 «19년까지 2회 이상 측량된 15점을 기준자료로 활용했다 — 자료의 성격이 아니라 쓰임이 달라진 것이다.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같은 측정값을 넣어도 계산 흐름이 갈린다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한 측점에서 IGRF 편각 −8.00°, 실측 편각 −8.35°인 경우를 예로 든다.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566928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110946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6B5B95"/>
                </a:solidFill>
                <a:latin typeface="Pretendard"/>
              </a:rPr>
              <a:t>예시 측점   IGRF D = −8.00°      실측 D = −8.35°      차이 = −0.35°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5419328" cy="493776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" y="268833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2020년 방식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1012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9808" y="332841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−0.35°를 «IGRF와 실측의 차이»로 본다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5020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96849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그 지점 주변의 지자기도 값을 보정한다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9028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49808" y="460857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보정된 지자기도를 도엽 단위로 제공한다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230368"/>
            <a:ext cx="5419328" cy="493776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9808" y="524865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5B95"/>
                </a:solidFill>
                <a:latin typeface="Pretendard"/>
              </a:rPr>
              <a:t>→ 지도에 값이 인쇄된다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4000" y="2670048"/>
            <a:ext cx="5419328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25168" y="268833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LMM 방식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4000" y="331012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25168" y="332841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ΔD_regional = D_obs − D_IGRF = −0.35°  (지역 신호)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24000" y="395020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25168" y="396849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전국 측점의 ΔD를 모아 ΔD_regional(λ, φ, t) 를 적합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4000" y="459028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25168" y="460857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임의 좌표에서  D_LMM = D_IGRF + ΔD_regional + 보정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5230368"/>
            <a:ext cx="5419328" cy="49377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25168" y="524865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6FB2"/>
                </a:solidFill>
                <a:latin typeface="Pretendard"/>
              </a:rPr>
              <a:t>→ 좌표를 넣으면 값이 계산된다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870448"/>
            <a:ext cx="11094689" cy="54864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13232" y="5888736"/>
            <a:ext cx="10765505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2020년 결과는 «값이 적힌 지도», LMM은 «값을 만들어내는 함수»다 — 갱신 방식이 달라지는 이유가 여기에 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경쟁 모델이 아니라 계보로 놓는 것이 정확하다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2020년 성과는 대체 대상이 아니라, 이번 연구가 딛고 서는 단계다.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3515349" cy="420624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지자기 분포모델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국내 지자기 분포 파악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0565" y="246888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8309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38309" y="1901952"/>
            <a:ext cx="3515349" cy="420624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338309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189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IGRF + 실측 보정 지자기도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1189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지도 제작용 국내 보정장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0235" y="246888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7979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127979" y="1901952"/>
            <a:ext cx="3515349" cy="420624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27979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0859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LMM 지역 지자기모델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0859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계산 가능한 국가 지역모델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30752"/>
            <a:ext cx="5419328" cy="1700784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68096" y="3877056"/>
            <a:ext cx="49804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B2"/>
                </a:solidFill>
                <a:latin typeface="Pretendard"/>
              </a:rPr>
              <a:t>이번 연구가 주장할 수 있는 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4279392"/>
            <a:ext cx="498041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구조가 고도화됐다 — 오차 원인을 층으로 분리할 수 있다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계산 가능한 형태다 — 좌표·시점을 넣으면 값이 나온다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갱신 가능한 형태다 — 신규 관측으로 재적합한다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3730752"/>
            <a:ext cx="5419328" cy="1700784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43456" y="3877056"/>
            <a:ext cx="49804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3D3D"/>
                </a:solidFill>
                <a:latin typeface="Pretendard"/>
              </a:rPr>
              <a:t>아직 주장하면 안 되는 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3456" y="4279392"/>
            <a:ext cx="498041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«2020년보다 정확하다» — 목표 정확도를 아직 못 만족한다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현재 LOO 편각 0.323° · 총자력 58.4 nT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층이 완전히 구현된 상태가 아니다 (Crustal 제한 · External 부분)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650992"/>
            <a:ext cx="11094689" cy="64008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13232" y="5669279"/>
            <a:ext cx="10765505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제안요청서의 «국제모델과의 차이 분석» 요구와도 이 정의가 맞는다 — IGRF를 대체하는 것이 아니라 그 차이를 설명하는 모델이다.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9FC0E4"/>
                </a:solidFill>
                <a:latin typeface="Pretendard"/>
              </a:rPr>
              <a:t>중간보고 · LMM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9468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Pretendard"/>
              </a:rPr>
              <a:t>구조는 세웠고, 남은 것은 자료다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68096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구축 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4층 결합 구조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3개 계산환경 일치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진단·검증 체계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7176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596632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확인할 자료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6632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항공자력 원측선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250 m 측선 제원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05712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25168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추가할 자료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5168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2021~2025 반복측정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관측시각(야장)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34249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253705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판정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05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편각 0.1° · 총자력 50 nT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감사 후 재적합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74920"/>
            <a:ext cx="1109468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C9D8E8"/>
                </a:solidFill>
                <a:latin typeface="Pretendard"/>
              </a:rPr>
              <a:t>현재 LOO 편각 0.323° · 총자력 58.4 nT — 연구·시범계산에는 쓰되 정식 편각 산출은 자료 확충 이후로 둔다.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7E93AB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E93AB"/>
                </a:solidFill>
                <a:latin typeface="Pretendard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