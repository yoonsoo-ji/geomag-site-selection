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축은 독립된 사업이 아니다. 선점으로 확보되는 신규 측점이 LMM 의 Regional 층 입력이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2103120"/>
            <a:ext cx="5303520" cy="530352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3703320"/>
            <a:ext cx="310896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20700000">
            <a:off x="9646920" y="2331720"/>
            <a:ext cx="1234440" cy="1097280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675120" y="1234440"/>
            <a:ext cx="5120640" cy="507492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2918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spc="140">
                <a:solidFill>
                  <a:srgbClr val="6E767E"/>
                </a:solidFill>
                <a:latin typeface="Consolas"/>
                <a:ea typeface="Noto Sans KR"/>
              </a:rPr>
              <a:t>NGII · GEOMAGNETIC REFERENCE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868680" cy="9144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6949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>
                <a:solidFill>
                  <a:srgbClr val="6E767E"/>
                </a:solidFill>
                <a:latin typeface="Bahnschrift"/>
                <a:ea typeface="Noto Sans KR"/>
              </a:rPr>
              <a:t>지구자기장 측정 기준 정비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749807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4400" b="1">
                <a:solidFill>
                  <a:srgbClr val="1A1A1A"/>
                </a:solidFill>
                <a:latin typeface="Bahnschrift"/>
                <a:ea typeface="Noto Sans KR Black"/>
              </a:rPr>
              <a:t>연구 진행현황과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sz="4400" b="1">
                <a:solidFill>
                  <a:srgbClr val="1A1A1A"/>
                </a:solidFill>
                <a:latin typeface="Bahnschrift"/>
                <a:ea typeface="Noto Sans KR Black"/>
              </a:rPr>
              <a:t>자문 요청사항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10912"/>
            <a:ext cx="137160" cy="1371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9560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6324F"/>
                </a:solidFill>
                <a:latin typeface="Consolas"/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측정 입지 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5010912"/>
            <a:ext cx="137160" cy="137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49560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D4ED8"/>
                </a:solidFill>
                <a:latin typeface="Consolas"/>
                <a:ea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지역 자기장 모형 LMM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5010912"/>
            <a:ext cx="137160" cy="13716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49560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E8531F"/>
                </a:solidFill>
                <a:latin typeface="Consolas"/>
                <a:ea typeface="Noto Sans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자문 질의사항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99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ADVISORY MEETING —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02 / 22</a:t>
            </a:r>
          </a:p>
        </p:txBody>
      </p:sp>
      <p:sp>
        <p:nvSpPr>
          <p:cNvPr id="9" name="Oval 8"/>
          <p:cNvSpPr/>
          <p:nvPr/>
        </p:nvSpPr>
        <p:spPr>
          <a:xfrm>
            <a:off x="-1554480" y="2834640"/>
            <a:ext cx="3108960" cy="3108960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758952"/>
            <a:ext cx="146304" cy="329184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726948"/>
            <a:ext cx="10216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절차는 검증을 마쳤다 —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남은 제약은 입력자료다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46504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16324F"/>
                </a:solidFill>
                <a:latin typeface="Bahnschrift"/>
                <a:ea typeface="Noto Sans KR Black"/>
              </a:rPr>
              <a:t>178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5399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제외구역 통과 후보지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P1 = 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0618" y="1627632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1746504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16324F"/>
                </a:solidFill>
                <a:latin typeface="Bahnschrift"/>
                <a:ea typeface="Noto Sans KR Black"/>
              </a:rPr>
              <a:t>103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25399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도상선점 확정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SURVEY CARDS ISSUED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8276" y="1627632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8276" y="1746504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16324F"/>
                </a:solidFill>
                <a:latin typeface="Bahnschrift"/>
                <a:ea typeface="Noto Sans KR Black"/>
              </a:rPr>
              <a:t>496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225399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매칭 국가기준점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733 → FILTERED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74720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93591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16324F"/>
                </a:solidFill>
                <a:latin typeface="Bahnschrift"/>
                <a:ea typeface="Noto Sans KR Black"/>
              </a:rPr>
              <a:t>16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01083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지표 절대측정 측점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OBS 31 · 2019/2022-25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0618" y="3474720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0618" y="3593591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E8531F"/>
                </a:solidFill>
                <a:latin typeface="Bahnschrift"/>
                <a:ea typeface="Noto Sans KR Black"/>
              </a:rPr>
              <a:t>0.32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0618" y="4101083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교차검증 편각 LOO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KPI 0.1° — 미달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8276" y="3474720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276" y="3593591"/>
            <a:ext cx="3210458" cy="58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E8531F"/>
                </a:solidFill>
                <a:latin typeface="Bahnschrift"/>
                <a:ea typeface="Noto Sans KR Black"/>
              </a:rPr>
              <a:t>58</a:t>
            </a:r>
            <a:r>
              <a:rPr sz="1406" b="0">
                <a:solidFill>
                  <a:srgbClr val="6E767E"/>
                </a:solidFill>
                <a:latin typeface="Consolas"/>
                <a:ea typeface="Noto Sans KR"/>
              </a:rPr>
              <a:t>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4101083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교차검증 총자력 LOO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KPI 50 nT — 미달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41264"/>
            <a:ext cx="10545775" cy="51206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566928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spc="120">
                <a:solidFill>
                  <a:srgbClr val="E8531F"/>
                </a:solidFill>
                <a:latin typeface="Consolas"/>
                <a:ea typeface="Noto Sans KR"/>
              </a:rPr>
              <a:t>RESULT  </a:t>
            </a:r>
            <a:r>
              <a:rPr sz="1150" b="1">
                <a:solidFill>
                  <a:srgbClr val="FFFFFF"/>
                </a:solidFill>
                <a:latin typeface="Bahnschrift"/>
                <a:ea typeface="Noto Sans KR"/>
              </a:rPr>
              <a:t>구현 오류 0 건 — 성능을 묶는 것은 관측시각 · 원측선 해상도 · 측점 수 세 가지다.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WHY THIS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03 / 22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4846320"/>
            <a:ext cx="2926080" cy="2926080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758952"/>
            <a:ext cx="146304" cy="329184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726948"/>
            <a:ext cx="10216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문제의 답이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연구의 두 축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24231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457200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636007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spc="80">
                <a:solidFill>
                  <a:srgbClr val="6E767E"/>
                </a:solidFill>
                <a:latin typeface="Consolas"/>
                <a:ea typeface="Noto Sans KR"/>
              </a:rPr>
              <a:t>01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892040"/>
            <a:ext cx="21305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Bahnschrift"/>
                <a:ea typeface="Noto Sans KR"/>
              </a:rPr>
              <a:t>기존 측정점 33개 (2010–25)
자침편차는 전역모형(IGRF) 의존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79" y="3337560"/>
            <a:ext cx="24231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79" y="3337560"/>
            <a:ext cx="457200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3" y="3538728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spc="80">
                <a:solidFill>
                  <a:srgbClr val="6E767E"/>
                </a:solidFill>
                <a:latin typeface="Consolas"/>
                <a:ea typeface="Noto Sans KR"/>
              </a:rPr>
              <a:t>02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3794760"/>
            <a:ext cx="21305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Bahnschrift"/>
                <a:ea typeface="Noto Sans KR"/>
              </a:rPr>
              <a:t>간섭원 급증 · 관측 공백
편각 정확도 KPI 0.1° 미달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40280"/>
            <a:ext cx="24231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240280"/>
            <a:ext cx="457200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441448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spc="80">
                <a:solidFill>
                  <a:srgbClr val="6E767E"/>
                </a:solidFill>
                <a:latin typeface="Consolas"/>
                <a:ea typeface="Noto Sans KR"/>
              </a:rPr>
              <a:t>03 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697480"/>
            <a:ext cx="21305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Bahnschrift"/>
                <a:ea typeface="Noto Sans KR"/>
              </a:rPr>
              <a:t>선점 기준 부재
관측시각 미기록 · 지역 모형 부재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00984" y="4187952"/>
            <a:ext cx="256031" cy="475488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9903" y="3090672"/>
            <a:ext cx="256033" cy="475488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372600" y="1481328"/>
            <a:ext cx="2788920" cy="12984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3768" y="1664208"/>
            <a:ext cx="2386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spc="120">
                <a:solidFill>
                  <a:srgbClr val="FFFFFF"/>
                </a:solidFill>
                <a:latin typeface="Consolas"/>
                <a:ea typeface="Noto Sans KR"/>
              </a:rPr>
              <a:t>PART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1920240"/>
            <a:ext cx="2386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측정 입지 선정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8" y="2322576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Bahnschrift"/>
                <a:ea typeface="Noto Sans KR"/>
              </a:rPr>
              <a:t>어디에서 잴 것인가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127248"/>
            <a:ext cx="2788920" cy="12984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3768" y="3310128"/>
            <a:ext cx="2386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spc="120">
                <a:solidFill>
                  <a:srgbClr val="FFFFFF"/>
                </a:solidFill>
                <a:latin typeface="Consolas"/>
                <a:ea typeface="Noto Sans KR"/>
              </a:rPr>
              <a:t>PART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3566160"/>
            <a:ext cx="2386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지역 자기장 모형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3968496"/>
            <a:ext cx="2386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Bahnschrift"/>
                <a:ea typeface="Noto Sans KR"/>
              </a:rPr>
              <a:t>어떻게 면(面)으로 만들 것인가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878824" y="2267712"/>
            <a:ext cx="420624" cy="338328"/>
          </a:xfrm>
          <a:prstGeom prst="line">
            <a:avLst/>
          </a:prstGeom>
          <a:ln w="20320">
            <a:solidFill>
              <a:srgbClr val="16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78824" y="3063240"/>
            <a:ext cx="420624" cy="576072"/>
          </a:xfrm>
          <a:prstGeom prst="line">
            <a:avLst/>
          </a:prstGeom>
          <a:ln w="2032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67060" y="4517136"/>
            <a:ext cx="0" cy="374904"/>
          </a:xfrm>
          <a:prstGeom prst="line">
            <a:avLst/>
          </a:prstGeom>
          <a:ln w="1524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823960" y="4974336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50" b="1">
                <a:solidFill>
                  <a:srgbClr val="E8531F"/>
                </a:solidFill>
                <a:latin typeface="Bahnschrift"/>
                <a:ea typeface="Noto Sans KR"/>
              </a:rPr>
              <a:t>선점된 신규 측점 = 모형의 Regional 층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23036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두 축은 함께 결정되어야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651760" y="822960"/>
            <a:ext cx="5760720" cy="576072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146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0" b="1">
                <a:solidFill>
                  <a:srgbClr val="FFFFFF"/>
                </a:solidFill>
                <a:latin typeface="Bahnschrift"/>
                <a:ea typeface="Noto Sans KR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2103120"/>
            <a:ext cx="57451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300" b="1">
                <a:solidFill>
                  <a:srgbClr val="1A1A1A"/>
                </a:solidFill>
                <a:latin typeface="Bahnschrift"/>
                <a:ea typeface="Noto Sans KR Black"/>
              </a:rPr>
              <a:t>측정 입지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798064"/>
            <a:ext cx="5745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6E767E"/>
                </a:solidFill>
                <a:latin typeface="Bahnschrift"/>
                <a:ea typeface="Noto Sans KR"/>
              </a:rPr>
              <a:t>어디에서 측정할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3502151"/>
            <a:ext cx="109728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4183" y="345643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전국 격자 → 제외구역 11종 필터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4050791"/>
            <a:ext cx="109728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3" y="400507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다기준 점수 · 3등급 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4599431"/>
            <a:ext cx="109728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4183" y="455371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서브격자 · 국가기준점 매칭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5148072"/>
            <a:ext cx="109728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3" y="510235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현장 자기교란 조사카드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SELECTION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약 1,800점이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103개소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로 좁혀진다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72768"/>
            <a:ext cx="5669280" cy="51206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9105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전국 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37943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 spc="60">
                <a:solidFill>
                  <a:srgbClr val="6E767E"/>
                </a:solidFill>
                <a:latin typeface="Consolas"/>
                <a:ea typeface="Noto Sans KR"/>
              </a:rPr>
              <a:t>10 KM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9096" y="15544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324F"/>
                </a:solidFill>
                <a:latin typeface="Bahnschrift"/>
                <a:ea typeface="Noto Sans KR Black"/>
              </a:rPr>
              <a:t>약 1,800</a:t>
            </a:r>
            <a:r>
              <a:rPr sz="1050" b="0">
                <a:solidFill>
                  <a:srgbClr val="6E767E"/>
                </a:solidFill>
                <a:latin typeface="Consolas"/>
                <a:ea typeface="Noto Sans KR"/>
              </a:rPr>
              <a:t> 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368296"/>
            <a:ext cx="1782796" cy="5120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8658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제외구역 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334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 spc="60">
                <a:solidFill>
                  <a:srgbClr val="6E767E"/>
                </a:solidFill>
                <a:latin typeface="Consolas"/>
                <a:ea typeface="Noto Sans KR"/>
              </a:rPr>
              <a:t>11 ZONES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612" y="23500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4ED8"/>
                </a:solidFill>
                <a:latin typeface="Bahnschrift"/>
                <a:ea typeface="Noto Sans KR Black"/>
              </a:rPr>
              <a:t>178</a:t>
            </a:r>
            <a:r>
              <a:rPr sz="105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163824"/>
            <a:ext cx="1069009" cy="5120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8211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1등급 선별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 spc="60">
                <a:solidFill>
                  <a:srgbClr val="6E767E"/>
                </a:solidFill>
                <a:latin typeface="Consolas"/>
                <a:ea typeface="Noto Sans KR"/>
              </a:rPr>
              <a:t>TOP TERCILE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8825" y="314553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4ED8"/>
                </a:solidFill>
                <a:latin typeface="Bahnschrift"/>
                <a:ea typeface="Noto Sans KR Black"/>
              </a:rPr>
              <a:t>64</a:t>
            </a:r>
            <a:r>
              <a:rPr sz="105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959352"/>
            <a:ext cx="2367862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77639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서브격자 재확장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245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 spc="60">
                <a:solidFill>
                  <a:srgbClr val="6E767E"/>
                </a:solidFill>
                <a:latin typeface="Consolas"/>
                <a:ea typeface="Noto Sans KR"/>
              </a:rPr>
              <a:t>1 KM × R5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7678" y="394106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4ED8"/>
                </a:solidFill>
                <a:latin typeface="Bahnschrift"/>
                <a:ea typeface="Noto Sans KR Black"/>
              </a:rPr>
              <a:t>314</a:t>
            </a:r>
            <a:r>
              <a:rPr sz="1050" b="0">
                <a:solidFill>
                  <a:srgbClr val="6E767E"/>
                </a:solidFill>
                <a:latin typeface="Consolas"/>
                <a:ea typeface="Noto Sans KR"/>
              </a:rPr>
              <a:t> 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754880"/>
            <a:ext cx="1356157" cy="51206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731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도상선점 확정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00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 spc="60">
                <a:solidFill>
                  <a:srgbClr val="6E767E"/>
                </a:solidFill>
                <a:latin typeface="Consolas"/>
                <a:ea typeface="Noto Sans KR"/>
              </a:rPr>
              <a:t>FIELD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5973" y="47365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324F"/>
                </a:solidFill>
                <a:latin typeface="Bahnschrift"/>
                <a:ea typeface="Noto Sans KR Black"/>
              </a:rPr>
              <a:t>103</a:t>
            </a:r>
            <a:r>
              <a:rPr sz="105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0607040" y="4215384"/>
            <a:ext cx="0" cy="795528"/>
          </a:xfrm>
          <a:prstGeom prst="line">
            <a:avLst/>
          </a:prstGeom>
          <a:ln w="1778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56757" y="5010912"/>
            <a:ext cx="4450283" cy="0"/>
          </a:xfrm>
          <a:prstGeom prst="line">
            <a:avLst/>
          </a:prstGeom>
          <a:ln w="1778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077022" y="4215384"/>
            <a:ext cx="3530018" cy="0"/>
          </a:xfrm>
          <a:prstGeom prst="line">
            <a:avLst/>
          </a:prstGeom>
          <a:ln w="17780">
            <a:solidFill>
              <a:srgbClr val="E853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55279" y="51572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>
                <a:solidFill>
                  <a:srgbClr val="E8531F"/>
                </a:solidFill>
                <a:latin typeface="Bahnschrift"/>
                <a:ea typeface="Noto Sans KR"/>
              </a:rPr>
              <a:t>현장 부적합 → 차순위 재선정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4243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100">
                <a:solidFill>
                  <a:srgbClr val="1D4ED8"/>
                </a:solidFill>
                <a:latin typeface="Consolas"/>
                <a:ea typeface="Noto Sans KR"/>
              </a:rPr>
              <a:t>NOTE  </a:t>
            </a:r>
            <a:r>
              <a:rPr sz="1000" b="0">
                <a:solidFill>
                  <a:srgbClr val="6E767E"/>
                </a:solidFill>
                <a:latin typeface="Bahnschrift"/>
                <a:ea typeface="Noto Sans KR"/>
              </a:rPr>
              <a:t>네 번째 단계는 축소가 아니라 재확장이다 — 1등급 63개소마다 반경 5 km 를 다시 훑어 설치 지점을 고른다.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EXCLUSION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이격은 전부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법정 최소 이상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이다</a:t>
            </a:r>
          </a:p>
        </p:txBody>
      </p:sp>
      <p:pic>
        <p:nvPicPr>
          <p:cNvPr id="11" name="Picture 10" descr="bh_bu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6400800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49011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01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인공·지질 간섭원 11종의 적용 반경. 오렌지 눈금이 법정 최소값이다.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645920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764792"/>
            <a:ext cx="3642055" cy="52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6324F"/>
                </a:solidFill>
                <a:latin typeface="Bahnschrift"/>
                <a:ea typeface="Noto Sans KR Black"/>
              </a:rPr>
              <a:t>11</a:t>
            </a:r>
            <a:r>
              <a:rPr sz="1254" b="0">
                <a:solidFill>
                  <a:srgbClr val="6E767E"/>
                </a:solidFill>
                <a:latin typeface="Consolas"/>
                <a:ea typeface="Noto Sans KR"/>
              </a:rPr>
              <a:t> 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217420"/>
            <a:ext cx="36420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제외 항목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인공 8 · 지질 2 · 자기이상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127248"/>
            <a:ext cx="274320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246120"/>
            <a:ext cx="3642055" cy="52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D4ED8"/>
                </a:solidFill>
                <a:latin typeface="Bahnschrift"/>
                <a:ea typeface="Noto Sans KR Black"/>
              </a:rPr>
              <a:t>5.0</a:t>
            </a:r>
            <a:r>
              <a:rPr sz="1254" b="0">
                <a:solidFill>
                  <a:srgbClr val="6E767E"/>
                </a:solidFill>
                <a:latin typeface="Consolas"/>
                <a:ea typeface="Noto Sans KR"/>
              </a:rPr>
              <a:t>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98748"/>
            <a:ext cx="36420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최대 이격 — 철도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직류·교류 구분 불가 → 최대값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626864"/>
            <a:ext cx="3642055" cy="118872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4626864"/>
            <a:ext cx="45720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59" y="4846320"/>
            <a:ext cx="32762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1">
                <a:solidFill>
                  <a:srgbClr val="1A1A1A"/>
                </a:solidFill>
                <a:latin typeface="Bahnschrift"/>
                <a:ea typeface="Noto Sans KR"/>
              </a:rPr>
              <a:t>「지구물리측량 작업규정」 §13②</a:t>
            </a: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모든 항목에서 법정 최소 이격을 충족하거나 초과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07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배점의 4분의 1이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공백 해소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55648"/>
            <a:ext cx="2636443" cy="566928"/>
          </a:xfrm>
          <a:prstGeom prst="rect">
            <a:avLst/>
          </a:prstGeom>
          <a:solidFill>
            <a:srgbClr val="16324F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99616"/>
            <a:ext cx="26364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① 희소성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9403" y="1755648"/>
            <a:ext cx="1581866" cy="566928"/>
          </a:xfrm>
          <a:prstGeom prst="rect">
            <a:avLst/>
          </a:prstGeom>
          <a:solidFill>
            <a:srgbClr val="3E68DD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1499616"/>
            <a:ext cx="15818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② 지형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1270" y="1755648"/>
            <a:ext cx="1581866" cy="566928"/>
          </a:xfrm>
          <a:prstGeom prst="rect">
            <a:avLst/>
          </a:prstGeom>
          <a:solidFill>
            <a:srgbClr val="6083E3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1499616"/>
            <a:ext cx="15818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③ 전력철도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3136" y="1755648"/>
            <a:ext cx="1581866" cy="566928"/>
          </a:xfrm>
          <a:prstGeom prst="rect">
            <a:avLst/>
          </a:prstGeom>
          <a:solidFill>
            <a:srgbClr val="829DE9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Noto Sans KR Black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3136" y="1499616"/>
            <a:ext cx="15818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④ 인구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5002" y="1755648"/>
            <a:ext cx="1054577" cy="566928"/>
          </a:xfrm>
          <a:prstGeom prst="rect">
            <a:avLst/>
          </a:prstGeom>
          <a:solidFill>
            <a:srgbClr val="A4B8EF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Bahnschrift"/>
                <a:ea typeface="Noto Sans KR Black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002" y="1499616"/>
            <a:ext cx="10545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⑤ 모델기여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9580" y="1755648"/>
            <a:ext cx="527288" cy="566928"/>
          </a:xfrm>
          <a:prstGeom prst="rect">
            <a:avLst/>
          </a:prstGeom>
          <a:solidFill>
            <a:srgbClr val="BBC9F3"/>
          </a:solidFill>
          <a:ln w="1524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Bahnschrift"/>
                <a:ea typeface="Noto Sans KR Black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9580" y="149961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Bahnschrift"/>
                <a:ea typeface="Noto Sans KR"/>
              </a:rPr>
              <a:t>⑥ 암상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6868" y="1755648"/>
            <a:ext cx="10545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9841732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69748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097764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225780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353796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81812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09828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737844" y="1810512"/>
            <a:ext cx="7617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786868" y="1499616"/>
            <a:ext cx="10545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⑦ 지속성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41446" y="1755648"/>
            <a:ext cx="5272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0896310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024326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152342" y="1810512"/>
            <a:ext cx="91440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280358" y="1810512"/>
            <a:ext cx="60945" cy="457200"/>
          </a:xfrm>
          <a:prstGeom prst="line">
            <a:avLst/>
          </a:prstGeom>
          <a:ln w="1143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841446" y="149961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⑧ 접근성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2468880"/>
            <a:ext cx="8963908" cy="0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2542032"/>
            <a:ext cx="89639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>
                <a:solidFill>
                  <a:srgbClr val="16324F"/>
                </a:solidFill>
                <a:latin typeface="Bahnschrift"/>
                <a:ea typeface="Noto Sans KR"/>
              </a:rPr>
              <a:t>가용 85점 → 100점 정규화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6868" y="2542032"/>
            <a:ext cx="15818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미산정 15점</a:t>
            </a:r>
          </a:p>
        </p:txBody>
      </p:sp>
      <p:pic>
        <p:nvPicPr>
          <p:cNvPr id="42" name="Picture 41" descr="bh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64992"/>
            <a:ext cx="4937760" cy="1828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2960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02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종합 점수 분포 — 3분위 경계 P33 55.1 · P66 57.5. 경계는 분포에 따라 자동 조정된다.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502151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3474720"/>
            <a:ext cx="47576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희소성 25점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3730752"/>
            <a:ext cx="47576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측정 공백 해소를 최우선으로 둔 설계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288536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1112" y="4261104"/>
            <a:ext cx="47576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모델기여 10점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4517136"/>
            <a:ext cx="47576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150–400 nT 구간 최고점 — 자기이상 반영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074920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112" y="5047488"/>
            <a:ext cx="47576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미산정 15점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5303520"/>
            <a:ext cx="47576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⑦ 부지 지속성 · ⑧ 접근성 — 자료 미확보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CANDIDATES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08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후보는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해안과 산간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에 몰린다</a:t>
            </a:r>
          </a:p>
        </p:txBody>
      </p:sp>
      <p:pic>
        <p:nvPicPr>
          <p:cNvPr id="11" name="Picture 10" descr="bh_c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25880"/>
            <a:ext cx="4042769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0" y="5998464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03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등급별 전국 분포.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572768"/>
            <a:ext cx="274320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691640"/>
            <a:ext cx="265176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4ED8"/>
                </a:solidFill>
                <a:latin typeface="Bahnschrift"/>
                <a:ea typeface="Noto Sans KR Black"/>
              </a:rPr>
              <a:t>64</a:t>
            </a:r>
            <a:r>
              <a:rPr sz="114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031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1등급 · P1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57.5–89.3 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761488"/>
            <a:ext cx="274320" cy="50292"/>
          </a:xfrm>
          <a:prstGeom prst="rect">
            <a:avLst/>
          </a:prstGeom>
          <a:solidFill>
            <a:srgbClr val="6E767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265176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E767E"/>
                </a:solidFill>
                <a:latin typeface="Bahnschrift"/>
                <a:ea typeface="Noto Sans KR Black"/>
              </a:rPr>
              <a:t>57</a:t>
            </a:r>
            <a:r>
              <a:rPr sz="114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918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2등급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55.1–57.3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50208"/>
            <a:ext cx="274320" cy="50292"/>
          </a:xfrm>
          <a:prstGeom prst="rect">
            <a:avLst/>
          </a:prstGeom>
          <a:solidFill>
            <a:srgbClr val="6E767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265176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E767E"/>
                </a:solidFill>
                <a:latin typeface="Bahnschrift"/>
                <a:ea typeface="Noto Sans KR Black"/>
              </a:rPr>
              <a:t>57</a:t>
            </a:r>
            <a:r>
              <a:rPr sz="1140" b="0">
                <a:solidFill>
                  <a:srgbClr val="6E767E"/>
                </a:solidFill>
                <a:latin typeface="Consolas"/>
                <a:ea typeface="Noto Sans KR"/>
              </a:rPr>
              <a:t> 개소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3등급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46.0–55.0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1645920"/>
            <a:ext cx="2880360" cy="324612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5897880" y="1417320"/>
            <a:ext cx="685800" cy="594360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92024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 spc="100">
                <a:solidFill>
                  <a:srgbClr val="1D4ED8"/>
                </a:solidFill>
                <a:latin typeface="Consolas"/>
                <a:ea typeface="Noto Sans KR"/>
              </a:rPr>
              <a:t>판독</a:t>
            </a:r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제외구역이 조밀한 내륙 평야부에는 후보가 남지 않는다.</a:t>
            </a: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sz="1000" b="0">
                <a:solidFill>
                  <a:srgbClr val="6E767E"/>
                </a:solidFill>
                <a:latin typeface="Bahnschrift"/>
                <a:ea typeface="Noto Sans KR"/>
              </a:rPr>
              <a:t>관측망 대표성에는 부합 — 접근성과 부지 확보 난이도는 상승.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E8531F"/>
                </a:solidFill>
                <a:latin typeface="Consolas"/>
                <a:ea typeface="Noto Sans KR"/>
              </a:rPr>
              <a:t>Q  </a:t>
            </a:r>
            <a:r>
              <a:rPr sz="1000" b="0">
                <a:solidFill>
                  <a:srgbClr val="6E767E"/>
                </a:solidFill>
                <a:latin typeface="Bahnschrift"/>
                <a:ea typeface="Noto Sans KR"/>
              </a:rPr>
              <a:t>이 쏠림을 받아들일 것인가, 배점을 손볼 것인가 — 질의 1-2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SUB-GRID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09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5 km 원 안에서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다시 고른다</a:t>
            </a:r>
          </a:p>
        </p:txBody>
      </p:sp>
      <p:pic>
        <p:nvPicPr>
          <p:cNvPr id="11" name="Picture 10" descr="bh_sub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00200"/>
            <a:ext cx="3977639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5705856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04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선정 개념도 — 실제 좌표가 아니다.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1700784"/>
            <a:ext cx="635508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837944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17922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서브격자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10312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사이트당 상위 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55648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Bahnschrift"/>
                <a:ea typeface="Noto Sans KR Black"/>
              </a:rPr>
              <a:t>314</a:t>
            </a: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 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2724912"/>
            <a:ext cx="635508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2960" y="2862072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8163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도로 접근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312724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고속도로 제외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79776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Bahnschrift"/>
                <a:ea typeface="Noto Sans KR Black"/>
              </a:rPr>
              <a:t>≤2</a:t>
            </a: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 km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749040"/>
            <a:ext cx="635508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388620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38404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국가기준점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415137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733점 → 제외구역 필터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03904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Bahnschrift"/>
                <a:ea typeface="Noto Sans KR Black"/>
              </a:rPr>
              <a:t>496</a:t>
            </a: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 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4773168"/>
            <a:ext cx="635508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2960" y="4910328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48646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임도망도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51755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3,322 노선 · 산림청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828032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Bahnschrift"/>
                <a:ea typeface="Noto Sans KR Black"/>
              </a:rPr>
              <a:t>9,018</a:t>
            </a: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 km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5797296"/>
            <a:ext cx="635508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01 · FIELD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판정은 조사자가 아니라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규칙이 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64592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645920"/>
            <a:ext cx="141732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8470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차량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15798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80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64592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1645920"/>
            <a:ext cx="141732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18470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전력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215798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60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64592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645920"/>
            <a:ext cx="141732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9935" y="18470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통신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5" y="215798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50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64592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1645920"/>
            <a:ext cx="141732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18470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금속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215798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30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2688336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2688336"/>
            <a:ext cx="141732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288950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건축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3200400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70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688336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2688336"/>
            <a:ext cx="1417320" cy="9144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456" y="288950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매설물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3200400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존재=부적합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688336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31920" y="2688336"/>
            <a:ext cx="1417320" cy="9144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9935" y="288950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상공 장애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9935" y="3200400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존재=부적합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688336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2688336"/>
            <a:ext cx="1417320" cy="9144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4416" y="2889504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방위표지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4416" y="3200400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Consolas"/>
                <a:ea typeface="Noto Sans KR"/>
              </a:rPr>
              <a:t>불가=부적합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822191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8개 항목 — 존재 여부만 드롭다운으로 고르면 판정 자동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" y="4315968"/>
            <a:ext cx="566928" cy="56692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44398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Bahnschrift"/>
                <a:ea typeface="Noto Sans KR Black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17904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Bahnschrift"/>
                <a:ea typeface="Noto Sans KR"/>
              </a:rPr>
              <a:t>적합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7904" y="457200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자기구배 조사 진행</a:t>
            </a:r>
          </a:p>
        </p:txBody>
      </p:sp>
      <p:sp>
        <p:nvSpPr>
          <p:cNvPr id="48" name="Oval 47"/>
          <p:cNvSpPr/>
          <p:nvPr/>
        </p:nvSpPr>
        <p:spPr>
          <a:xfrm>
            <a:off x="2944368" y="4315968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44368" y="444398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Bahnschrift"/>
                <a:ea typeface="Noto Sans KR Black"/>
              </a:rPr>
              <a:t>1–2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1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Bahnschrift"/>
                <a:ea typeface="Noto Sans KR"/>
              </a:rPr>
              <a:t>조건부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39311" y="457200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추가 조사 후 재판정</a:t>
            </a:r>
          </a:p>
        </p:txBody>
      </p:sp>
      <p:sp>
        <p:nvSpPr>
          <p:cNvPr id="52" name="Oval 51"/>
          <p:cNvSpPr/>
          <p:nvPr/>
        </p:nvSpPr>
        <p:spPr>
          <a:xfrm>
            <a:off x="5065776" y="4315968"/>
            <a:ext cx="566928" cy="566928"/>
          </a:xfrm>
          <a:prstGeom prst="ellips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5776" y="444398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Bahnschrift"/>
                <a:ea typeface="Noto Sans KR Black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Bahnschrift"/>
                <a:ea typeface="Noto Sans KR"/>
              </a:rPr>
              <a:t>부적합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457200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차순위 후보 선정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30352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1" spc="100">
                <a:solidFill>
                  <a:srgbClr val="1D4ED8"/>
                </a:solidFill>
                <a:latin typeface="Consolas"/>
                <a:ea typeface="Noto Sans KR"/>
              </a:rPr>
              <a:t>CARD  </a:t>
            </a: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기본정보(관할본부 자동 배정) → 자기교란 → 방위표지(방위각 자동 계산) → 종합 판정 → 사진·약도. 103건 본부별 분철.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1645920"/>
            <a:ext cx="3824935" cy="416052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>
            <a:off x="10454335" y="1389888"/>
            <a:ext cx="713232" cy="621792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99831" y="1956816"/>
            <a:ext cx="3312871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1" spc="120">
                <a:solidFill>
                  <a:srgbClr val="E8531F"/>
                </a:solidFill>
                <a:latin typeface="Consolas"/>
                <a:ea typeface="Noto Sans KR"/>
              </a:rPr>
              <a:t>OPEN QUESTION</a:t>
            </a:r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sz="1250" b="1">
                <a:solidFill>
                  <a:srgbClr val="1A1A1A"/>
                </a:solidFill>
                <a:latin typeface="Bahnschrift"/>
                <a:ea typeface="Noto Sans KR"/>
              </a:rPr>
              <a:t>기준 이격 80·60·50·30·70 m 는 실측 근거가 아직 없다.</a:t>
            </a:r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sz="1000" b="0">
                <a:solidFill>
                  <a:srgbClr val="6E767E"/>
                </a:solidFill>
                <a:latin typeface="Bahnschrift"/>
                <a:ea typeface="Noto Sans KR"/>
              </a:rPr>
              <a:t>실측 검증이 필요한가, 판정 구간(1–2건 조건부)은 적절한가 — 질의 1-5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1463040" y="-1737360"/>
            <a:ext cx="5120640" cy="5120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0" b="1">
                <a:solidFill>
                  <a:srgbClr val="FFFFFF"/>
                </a:solidFill>
                <a:latin typeface="Bahnschrift"/>
                <a:ea typeface="Noto Sans KR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2103120"/>
            <a:ext cx="57451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300" b="1">
                <a:solidFill>
                  <a:srgbClr val="1A1A1A"/>
                </a:solidFill>
                <a:latin typeface="Bahnschrift"/>
                <a:ea typeface="Noto Sans KR Black"/>
              </a:rPr>
              <a:t>지역 자기장 모형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798064"/>
            <a:ext cx="5745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6E767E"/>
                </a:solidFill>
                <a:latin typeface="Bahnschrift"/>
                <a:ea typeface="Noto Sans KR"/>
              </a:rPr>
              <a:t>측정값을 어떻게 면(面)으로 만들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3502151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4183" y="345643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4층 결합 — IGRF · Regional · Crustal · External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4050791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3" y="400507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Leave-One-Out 교차검증 · KPI 판정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4599431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4183" y="455371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편각 잔차 원인 진단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5148072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3" y="510235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웹 · 엑셀 계산기 · 도엽별 자침편차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12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자기장은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네 층의 합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Consolas"/>
                <a:ea typeface="Noto Sans KR"/>
              </a:rPr>
              <a:t>B(r,t) = B</a:t>
            </a:r>
            <a:r>
              <a:rPr sz="900" b="1">
                <a:solidFill>
                  <a:srgbClr val="16324F"/>
                </a:solidFill>
                <a:latin typeface="Consolas"/>
                <a:ea typeface="Noto Sans KR"/>
              </a:rPr>
              <a:t>IGRF</a:t>
            </a:r>
            <a:r>
              <a:rPr sz="1400" b="1">
                <a:solidFill>
                  <a:srgbClr val="1A1A1A"/>
                </a:solidFill>
                <a:latin typeface="Consolas"/>
                <a:ea typeface="Noto Sans KR"/>
              </a:rPr>
              <a:t> + B</a:t>
            </a:r>
            <a:r>
              <a:rPr sz="900" b="1">
                <a:solidFill>
                  <a:srgbClr val="1D4ED8"/>
                </a:solidFill>
                <a:latin typeface="Consolas"/>
                <a:ea typeface="Noto Sans KR"/>
              </a:rPr>
              <a:t>REGIONAL</a:t>
            </a:r>
            <a:r>
              <a:rPr sz="1400" b="1">
                <a:solidFill>
                  <a:srgbClr val="1A1A1A"/>
                </a:solidFill>
                <a:latin typeface="Consolas"/>
                <a:ea typeface="Noto Sans KR"/>
              </a:rPr>
              <a:t> + B</a:t>
            </a:r>
            <a:r>
              <a:rPr sz="900" b="1">
                <a:solidFill>
                  <a:srgbClr val="1D4ED8"/>
                </a:solidFill>
                <a:latin typeface="Consolas"/>
                <a:ea typeface="Noto Sans KR"/>
              </a:rPr>
              <a:t>CRUSTAL</a:t>
            </a:r>
            <a:r>
              <a:rPr sz="1400" b="1">
                <a:solidFill>
                  <a:srgbClr val="1A1A1A"/>
                </a:solidFill>
                <a:latin typeface="Consolas"/>
                <a:ea typeface="Noto Sans KR"/>
              </a:rPr>
              <a:t> + B</a:t>
            </a:r>
            <a:r>
              <a:rPr sz="900" b="1">
                <a:solidFill>
                  <a:srgbClr val="E8531F"/>
                </a:solidFill>
                <a:latin typeface="Consolas"/>
                <a:ea typeface="Noto Sans KR"/>
              </a:rPr>
              <a:t>EXTERNAL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901952"/>
            <a:ext cx="6949440" cy="85953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29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onsolas"/>
                <a:ea typeface="Noto Sans KR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011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50" b="1" spc="60">
                <a:solidFill>
                  <a:srgbClr val="FFFFFF"/>
                </a:solidFill>
                <a:latin typeface="Bahnschrift"/>
                <a:ea typeface="Noto Sans KR Black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359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Bahnschrift"/>
                <a:ea typeface="Noto Sans KR"/>
              </a:rPr>
              <a:t>IGRF-14 · 13차 구면조화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069080" y="2228575"/>
            <a:ext cx="1417320" cy="20628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2120" y="202996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  <a:latin typeface="Consolas"/>
                <a:ea typeface="Noto Sans KR"/>
              </a:rPr>
              <a:t>≥ 3,000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35915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Bahnschrift"/>
                <a:ea typeface="Noto Sans KR"/>
              </a:rPr>
              <a:t>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07791"/>
            <a:ext cx="694944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35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onsolas"/>
                <a:ea typeface="Noto Sans KR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50" b="1" spc="60">
                <a:solidFill>
                  <a:srgbClr val="FFFFFF"/>
                </a:solidFill>
                <a:latin typeface="Bahnschrift"/>
                <a:ea typeface="Noto Sans KR Black"/>
              </a:rPr>
              <a:t>REGIONAL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3649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Bahnschrift"/>
                <a:ea typeface="Noto Sans KR"/>
              </a:rPr>
              <a:t>지표 절대측정 17점 · 1차 다항식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069080" y="3236975"/>
            <a:ext cx="354330" cy="201168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3410" y="3236975"/>
            <a:ext cx="354330" cy="201168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777740" y="3236975"/>
            <a:ext cx="354330" cy="201168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32070" y="3236975"/>
            <a:ext cx="354330" cy="201168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32120" y="30358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  <a:latin typeface="Consolas"/>
                <a:ea typeface="Noto Sans KR"/>
              </a:rPr>
              <a:t>50 – 3,000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364991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Bahnschrift"/>
                <a:ea typeface="Noto Sans KR"/>
              </a:rPr>
              <a:t>확보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913631"/>
            <a:ext cx="6949440" cy="859536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4164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A1A1A"/>
                </a:solidFill>
                <a:latin typeface="Consolas"/>
                <a:ea typeface="Noto Sans KR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40233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50" b="1" spc="60">
                <a:solidFill>
                  <a:srgbClr val="1A1A1A"/>
                </a:solidFill>
                <a:latin typeface="Bahnschrift"/>
                <a:ea typeface="Noto Sans KR Black"/>
              </a:rPr>
              <a:t>CRUSTAL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4370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KIGAM 항공자력 1.5′ 격자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06908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4782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2656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0530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8404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6278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4152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2026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69900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7774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5648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93522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01396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9270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17144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5018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32892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407660" y="4279391"/>
            <a:ext cx="78740" cy="128016"/>
          </a:xfrm>
          <a:prstGeom prst="line">
            <a:avLst/>
          </a:prstGeom>
          <a:ln w="1778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32120" y="4041647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0.05 – 50 KM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4370831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E8531F"/>
                </a:solidFill>
                <a:latin typeface="Bahnschrift"/>
                <a:ea typeface="Noto Sans KR"/>
              </a:rPr>
              <a:t>해상도 부족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919472"/>
            <a:ext cx="6949440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50474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A1A1A"/>
                </a:solidFill>
                <a:latin typeface="Consolas"/>
                <a:ea typeface="Noto Sans KR"/>
              </a:rPr>
              <a:t>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9888" y="5029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50" b="1" spc="60">
                <a:solidFill>
                  <a:srgbClr val="1A1A1A"/>
                </a:solidFill>
                <a:latin typeface="Bahnschrift"/>
                <a:ea typeface="Noto Sans KR Black"/>
              </a:rPr>
              <a:t>EXTERNAL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9888" y="53766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청양 CYG 1분 자료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069080" y="5349240"/>
            <a:ext cx="1417320" cy="0"/>
          </a:xfrm>
          <a:prstGeom prst="line">
            <a:avLst/>
          </a:prstGeom>
          <a:ln w="20320">
            <a:solidFill>
              <a:srgbClr val="E853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532120" y="504748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시간 변동 (1분–수시간)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2120" y="5376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E8531F"/>
                </a:solidFill>
                <a:latin typeface="Bahnschrift"/>
                <a:ea typeface="Noto Sans KR"/>
              </a:rPr>
              <a:t>부분 적용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20" y="1901952"/>
            <a:ext cx="3093415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75320" y="1901952"/>
            <a:ext cx="457200" cy="128016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94776" y="2157984"/>
            <a:ext cx="265450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 spc="80">
                <a:solidFill>
                  <a:srgbClr val="E8531F"/>
                </a:solidFill>
                <a:latin typeface="Consolas"/>
                <a:ea typeface="Noto Sans KR"/>
              </a:rPr>
              <a:t>설계상 한계</a:t>
            </a:r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지각층은 총자력 F 에만 더해진다.</a:t>
            </a:r>
          </a:p>
          <a:p>
            <a:pPr>
              <a:lnSpc>
                <a:spcPct val="142000"/>
              </a:lnSpc>
              <a:spcBef>
                <a:spcPts val="80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항공자력이 스칼라 이상만 제공 — 편각 D·복각 I 에는 미반영. 이 선택이 §9 의 첫 검정 대상.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434840"/>
            <a:ext cx="3093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층마다 담당 파장이 달라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단순 내삽으로는 분리되지 않는다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입력에서 계산기까지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한 줄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로 흐른다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2331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554480"/>
            <a:ext cx="128016" cy="73152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645920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성과표 2022–25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938528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15측점 · 연도만 기록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399" y="1920240"/>
            <a:ext cx="576073" cy="1001268"/>
          </a:xfrm>
          <a:prstGeom prst="line">
            <a:avLst/>
          </a:prstGeom>
          <a:ln w="13970">
            <a:solidFill>
              <a:srgbClr val="C9CE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" y="2395728"/>
            <a:ext cx="2331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395728"/>
            <a:ext cx="128016" cy="7315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487168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야장 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77977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검증 통과 6건 · 분 단위 시각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399" y="2761488"/>
            <a:ext cx="576073" cy="160020"/>
          </a:xfrm>
          <a:prstGeom prst="line">
            <a:avLst/>
          </a:prstGeom>
          <a:ln w="13970">
            <a:solidFill>
              <a:srgbClr val="C9CE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3236976"/>
            <a:ext cx="2331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236976"/>
            <a:ext cx="128016" cy="7315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328416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KIGAM 항공자력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621024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1.5′ 격자 · 1982–2018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00399" y="2921508"/>
            <a:ext cx="576073" cy="681228"/>
          </a:xfrm>
          <a:prstGeom prst="line">
            <a:avLst/>
          </a:prstGeom>
          <a:ln w="13970">
            <a:solidFill>
              <a:srgbClr val="C9CE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2960" y="4078224"/>
            <a:ext cx="2331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078224"/>
            <a:ext cx="128016" cy="7315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169663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CYG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462272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2019 구간 78일 확보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200399" y="2921508"/>
            <a:ext cx="576073" cy="1522476"/>
          </a:xfrm>
          <a:prstGeom prst="line">
            <a:avLst/>
          </a:prstGeom>
          <a:ln w="13970">
            <a:solidFill>
              <a:srgbClr val="C9CE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840479" y="2212848"/>
            <a:ext cx="1874519" cy="14173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59" y="241401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Bahnschrift"/>
                <a:ea typeface="Noto Sans KR Black"/>
              </a:rPr>
              <a:t>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59" y="277977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FFFFFF"/>
                </a:solidFill>
                <a:latin typeface="Consolas"/>
                <a:ea typeface="Noto Sans KR"/>
              </a:rPr>
              <a:t>lmm_build.py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59" y="307238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Bahnschrift"/>
                <a:ea typeface="Noto Sans KR"/>
              </a:rPr>
              <a:t>층 결합 · 잔차면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69863" y="2921508"/>
            <a:ext cx="393192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17919" y="2212848"/>
            <a:ext cx="1874519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241401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Bahnschrift"/>
                <a:ea typeface="Noto Sans KR Black"/>
              </a:rPr>
              <a:t>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277977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>
                <a:solidFill>
                  <a:srgbClr val="FFFFFF"/>
                </a:solidFill>
                <a:latin typeface="Consolas"/>
                <a:ea typeface="Noto Sans KR"/>
              </a:rPr>
              <a:t>LOO 교차검증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307238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Bahnschrift"/>
                <a:ea typeface="Noto Sans KR"/>
              </a:rPr>
              <a:t>17측점 하나씩 제외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59" y="1554480"/>
            <a:ext cx="2773375" cy="768096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39" y="1655064"/>
            <a:ext cx="2407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웹 계산기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39" y="1947672"/>
            <a:ext cx="2407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lmm.html · 오프라인 단일 파일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59" y="2450591"/>
            <a:ext cx="2773375" cy="768096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39" y="2551175"/>
            <a:ext cx="2407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엑셀 계산기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39" y="2843784"/>
            <a:ext cx="2407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수식 공개 · 매크로 없음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59" y="3346704"/>
            <a:ext cx="2773375" cy="768096"/>
          </a:xfrm>
          <a:prstGeom prst="rect">
            <a:avLst/>
          </a:prstGeom>
          <a:solidFill>
            <a:srgbClr val="FFFFFF"/>
          </a:solidFill>
          <a:ln w="17780">
            <a:solidFill>
              <a:srgbClr val="E8531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39" y="3447288"/>
            <a:ext cx="2407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E8531F"/>
                </a:solidFill>
                <a:latin typeface="Bahnschrift"/>
                <a:ea typeface="Noto Sans KR"/>
              </a:rPr>
              <a:t>자침편차 (보류)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39" y="3739896"/>
            <a:ext cx="2407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KPI 미달 — 정식 산출 금지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147303" y="2921508"/>
            <a:ext cx="393192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0704" y="51023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spc="120">
                <a:solidFill>
                  <a:srgbClr val="E8531F"/>
                </a:solidFill>
                <a:latin typeface="Consolas"/>
                <a:ea typeface="Noto Sans KR"/>
              </a:rPr>
              <a:t>CROSS-CHECK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" y="53492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>
                <a:solidFill>
                  <a:srgbClr val="FFFFFF"/>
                </a:solidFill>
                <a:latin typeface="Bahnschrift"/>
                <a:ea typeface="Noto Sans KR"/>
              </a:rPr>
              <a:t>세 구현의 수치 일치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0932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E8531F"/>
                </a:solidFill>
                <a:latin typeface="Consolas"/>
                <a:ea typeface="Noto Sans KR"/>
              </a:rPr>
              <a:t>JS ↔ 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3492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Consolas"/>
                <a:ea typeface="Noto Sans KR"/>
              </a:rPr>
              <a:t>0.22″ · 0.27 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0932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E8531F"/>
                </a:solidFill>
                <a:latin typeface="Consolas"/>
                <a:ea typeface="Noto Sans KR"/>
              </a:rPr>
              <a:t>XLSX ↔ 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53492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Consolas"/>
                <a:ea typeface="Noto Sans KR"/>
              </a:rPr>
              <a:t>0.33″ · 0.12 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0932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E8531F"/>
                </a:solidFill>
                <a:latin typeface="Consolas"/>
                <a:ea typeface="Noto Sans KR"/>
              </a:rPr>
              <a:t>JS ↔ ppigrf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53492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FFFFFF"/>
                </a:solidFill>
                <a:latin typeface="Consolas"/>
                <a:ea typeface="Noto Sans KR"/>
              </a:rPr>
              <a:t>0.17″ · 0.03 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교차검증은 아직 </a:t>
            </a:r>
            <a:r>
              <a:rPr sz="2400" b="1">
                <a:solidFill>
                  <a:srgbClr val="E8531F"/>
                </a:solidFill>
                <a:latin typeface="Bahnschrift"/>
                <a:ea typeface="Noto Sans KR Black"/>
              </a:rPr>
              <a:t>KPI 밖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237744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531F"/>
                </a:solidFill>
                <a:latin typeface="Bahnschrift"/>
                <a:ea typeface="Noto Sans KR Black"/>
              </a:rPr>
              <a:t>0.323</a:t>
            </a:r>
            <a:r>
              <a:rPr sz="1292" b="0">
                <a:solidFill>
                  <a:srgbClr val="6E767E"/>
                </a:solidFill>
                <a:latin typeface="Consolas"/>
                <a:ea typeface="Noto Sans KR"/>
              </a:rPr>
              <a:t> 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편각 D — LOO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KPI 0.1° · 7.7×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591056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09928"/>
            <a:ext cx="237744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531F"/>
                </a:solidFill>
                <a:latin typeface="Bahnschrift"/>
                <a:ea typeface="Noto Sans KR Black"/>
              </a:rPr>
              <a:t>58.4</a:t>
            </a:r>
            <a:r>
              <a:rPr sz="1292" b="0">
                <a:solidFill>
                  <a:srgbClr val="6E767E"/>
                </a:solidFill>
                <a:latin typeface="Consolas"/>
                <a:ea typeface="Noto Sans KR"/>
              </a:rPr>
              <a:t>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7627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총자력 F — LOO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KPI 50 nT · 1.2×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91056"/>
            <a:ext cx="274320" cy="502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709928"/>
            <a:ext cx="237744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6324F"/>
                </a:solidFill>
                <a:latin typeface="Bahnschrift"/>
                <a:ea typeface="Noto Sans KR Black"/>
              </a:rPr>
              <a:t>0.043</a:t>
            </a:r>
            <a:r>
              <a:rPr sz="1292" b="0">
                <a:solidFill>
                  <a:srgbClr val="6E767E"/>
                </a:solidFill>
                <a:latin typeface="Consolas"/>
                <a:ea typeface="Noto Sans KR"/>
              </a:rPr>
              <a:t> 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7627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복각 I — 참고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기준 없음</a:t>
            </a:r>
          </a:p>
        </p:txBody>
      </p:sp>
      <p:pic>
        <p:nvPicPr>
          <p:cNvPr id="20" name="Picture 19" descr="bh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417320"/>
            <a:ext cx="1841863" cy="2148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2520" y="3621024"/>
            <a:ext cx="2681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05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측점 17 · 관측 33회.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91840"/>
            <a:ext cx="7680960" cy="658368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34015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00">
                <a:solidFill>
                  <a:srgbClr val="1D4ED8"/>
                </a:solidFill>
                <a:latin typeface="Consolas"/>
                <a:ea typeface="Noto Sans KR"/>
              </a:rPr>
              <a:t>CRUSTAL  </a:t>
            </a: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지각층이 총자력 잔차 80→47 nT (41% 감소). 단 표본 11개 — 측점 하나에 좌우, 단정 금지.</a:t>
            </a:r>
          </a:p>
        </p:txBody>
      </p:sp>
      <p:pic>
        <p:nvPicPr>
          <p:cNvPr id="24" name="Picture 23" descr="bh_res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33087"/>
            <a:ext cx="10545775" cy="19350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596188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06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측점별 편각 잔차 — KPI 대(帶) 안은 14개 중 3개뿐이다.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RESIDUAL FORENSICS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가설 넷 중 </a:t>
            </a:r>
            <a:r>
              <a:rPr sz="2400" b="1">
                <a:solidFill>
                  <a:srgbClr val="E8531F"/>
                </a:solidFill>
                <a:latin typeface="Bahnschrift"/>
                <a:ea typeface="Noto Sans KR Black"/>
              </a:rPr>
              <a:t>하나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만 살아남았다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609344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7373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1" spc="80">
                <a:solidFill>
                  <a:srgbClr val="6E767E"/>
                </a:solidFill>
                <a:latin typeface="Consolas"/>
                <a:ea typeface="Noto Sans KR"/>
              </a:rPr>
              <a:t>H-A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1956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지각 벡터 누락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D4ED8"/>
                </a:solidFill>
                <a:latin typeface="Consolas"/>
                <a:ea typeface="Noto Sans KR"/>
              </a:rPr>
              <a:t>r +0.64 </a:t>
            </a: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p 0.03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1609344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7373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1" spc="80">
                <a:solidFill>
                  <a:srgbClr val="6E767E"/>
                </a:solidFill>
                <a:latin typeface="Consolas"/>
                <a:ea typeface="Noto Sans KR"/>
              </a:rPr>
              <a:t>H-B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1956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측정 정밀도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D4ED8"/>
                </a:solidFill>
                <a:latin typeface="Consolas"/>
                <a:ea typeface="Noto Sans KR"/>
              </a:rPr>
              <a:t>r -0.01 </a:t>
            </a: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p 0.98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61488" y="2103120"/>
            <a:ext cx="1371600" cy="237744"/>
          </a:xfrm>
          <a:prstGeom prst="line">
            <a:avLst/>
          </a:prstGeom>
          <a:ln w="2286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43984" y="1609344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7373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1" spc="80">
                <a:solidFill>
                  <a:srgbClr val="6E767E"/>
                </a:solidFill>
                <a:latin typeface="Consolas"/>
                <a:ea typeface="Noto Sans KR"/>
              </a:rPr>
              <a:t>H-B′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56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관측 횟수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D4ED8"/>
                </a:solidFill>
                <a:latin typeface="Consolas"/>
                <a:ea typeface="Noto Sans KR"/>
              </a:rPr>
              <a:t>r -0.27 </a:t>
            </a: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p 0.32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2103120"/>
            <a:ext cx="1371600" cy="237744"/>
          </a:xfrm>
          <a:prstGeom prst="line">
            <a:avLst/>
          </a:prstGeom>
          <a:ln w="2286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54496" y="1609344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7373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1" spc="80">
                <a:solidFill>
                  <a:srgbClr val="6E767E"/>
                </a:solidFill>
                <a:latin typeface="Consolas"/>
                <a:ea typeface="Noto Sans KR"/>
              </a:rPr>
              <a:t>H-C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956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국소 거칠기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D4ED8"/>
                </a:solidFill>
                <a:latin typeface="Consolas"/>
                <a:ea typeface="Noto Sans KR"/>
              </a:rPr>
              <a:t>r -0.33 </a:t>
            </a: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p 0.35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82512" y="2103120"/>
            <a:ext cx="1371599" cy="237744"/>
          </a:xfrm>
          <a:prstGeom prst="line">
            <a:avLst/>
          </a:prstGeom>
          <a:ln w="22860">
            <a:solidFill>
              <a:srgbClr val="E85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56448" y="177393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700" b="1">
                <a:solidFill>
                  <a:srgbClr val="6E767E"/>
                </a:solidFill>
                <a:latin typeface="Bahnschrift"/>
                <a:ea typeface="Noto Sans KR Black"/>
              </a:rPr>
              <a:t>3건 기각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A 는 유의 — 벡터를 복원해 모형에 넣었다</a:t>
            </a:r>
          </a:p>
        </p:txBody>
      </p:sp>
      <p:pic>
        <p:nvPicPr>
          <p:cNvPr id="31" name="Picture 30" descr="bh_v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4480560" cy="21031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52852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07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잔차 반변량도 — 순수 nugget. 공간 상관이 없다.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163824"/>
            <a:ext cx="868680" cy="86868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310128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Bahnschrift"/>
                <a:ea typeface="Noto Sans KR Black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401568"/>
            <a:ext cx="502920" cy="5029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47472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Bahnschrift"/>
                <a:ea typeface="Noto Sans KR Black"/>
              </a:rP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22452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1A"/>
                </a:solidFill>
                <a:latin typeface="Consolas"/>
                <a:ea typeface="Noto Sans KR"/>
              </a:rPr>
              <a:t>D/I = 1.22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498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자기 원인이면 1.64 — 편각에만 작용하는 오차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108960"/>
            <a:ext cx="3230575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108960"/>
            <a:ext cx="457200" cy="128016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3346704"/>
            <a:ext cx="282823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 spc="80">
                <a:solidFill>
                  <a:srgbClr val="E8531F"/>
                </a:solidFill>
                <a:latin typeface="Consolas"/>
                <a:ea typeface="Noto Sans KR"/>
              </a:rPr>
              <a:t>남은 후보 3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1  마크 진북 방위각 오차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2  성과표 전사·환산 오류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3  편각 환산 절차 오류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자료만으로는 구분 불가 — 원본 감사 필요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80">
                <a:solidFill>
                  <a:srgbClr val="1D4ED8"/>
                </a:solidFill>
                <a:latin typeface="Consolas"/>
                <a:ea typeface="Noto Sans KR"/>
              </a:rPr>
              <a:t>EVIDENCE  </a:t>
            </a: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벡터 복원 예측 8.4′ ≪ 잔차 13.8′ · 성산 2회 재현 0.6′ 인데 둘 다 34′ 오차 — 계통 오차의 서명.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EXTERNAL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관측시각을 찾았고, 관측소를 </a:t>
            </a:r>
            <a:r>
              <a:rPr sz="2400" b="1">
                <a:solidFill>
                  <a:srgbClr val="E8531F"/>
                </a:solidFill>
                <a:latin typeface="Bahnschrift"/>
                <a:ea typeface="Noto Sans KR Black"/>
              </a:rPr>
              <a:t>넷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으로 늘렸다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645920"/>
            <a:ext cx="22860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9222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야장 원본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21408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212세션 · 분 단위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5536" y="2125980"/>
            <a:ext cx="310896" cy="0"/>
          </a:xfrm>
          <a:prstGeom prst="line">
            <a:avLst/>
          </a:prstGeom>
          <a:ln w="17780">
            <a:solidFill>
              <a:srgbClr val="E853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93008" y="1645920"/>
            <a:ext cx="22860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79222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관측 시각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21408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2019~2025 복원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15584" y="2125980"/>
            <a:ext cx="310896" cy="0"/>
          </a:xfrm>
          <a:prstGeom prst="line">
            <a:avLst/>
          </a:prstGeom>
          <a:ln w="17780">
            <a:solidFill>
              <a:srgbClr val="E853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63056" y="1645920"/>
            <a:ext cx="22860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79222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관측소 4소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121408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청양·제주·강릉·이천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5632" y="2125980"/>
            <a:ext cx="310896" cy="0"/>
          </a:xfrm>
          <a:prstGeom prst="line">
            <a:avLst/>
          </a:prstGeom>
          <a:ln w="17780">
            <a:solidFill>
              <a:srgbClr val="E853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833104" y="1645920"/>
            <a:ext cx="22860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179222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Bahnschrift"/>
                <a:ea typeface="Noto Sans KR"/>
              </a:rPr>
              <a:t>④ EXTERNAL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121408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편각에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017520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136391"/>
            <a:ext cx="2743200" cy="52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8531F"/>
                </a:solidFill>
                <a:latin typeface="Bahnschrift"/>
                <a:ea typeface="Noto Sans KR Black"/>
              </a:rPr>
              <a:t>0.112</a:t>
            </a:r>
            <a:r>
              <a:rPr sz="1254" b="0">
                <a:solidFill>
                  <a:srgbClr val="6E767E"/>
                </a:solidFill>
                <a:latin typeface="Consolas"/>
                <a:ea typeface="Noto Sans KR"/>
              </a:rPr>
              <a:t> 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890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편각 일변동 중앙값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전형적 하루가 이미 KPI 0.1° 초과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3017520"/>
            <a:ext cx="274320" cy="5029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3136391"/>
            <a:ext cx="2743200" cy="52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8531F"/>
                </a:solidFill>
                <a:latin typeface="Bahnschrift"/>
                <a:ea typeface="Noto Sans KR Black"/>
              </a:rPr>
              <a:t>37.5</a:t>
            </a:r>
            <a:r>
              <a:rPr sz="1254" b="0">
                <a:solidFill>
                  <a:srgbClr val="6E767E"/>
                </a:solidFill>
                <a:latin typeface="Consolas"/>
                <a:ea typeface="Noto Sans KR"/>
              </a:rPr>
              <a:t> 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5890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총자력 일변동 중앙값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850" b="0">
                <a:solidFill>
                  <a:srgbClr val="6E767E"/>
                </a:solidFill>
                <a:latin typeface="Consolas"/>
                <a:ea typeface="Noto Sans KR"/>
              </a:rPr>
              <a:t>최대 68.4 nT — KPI 50 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017520"/>
            <a:ext cx="4282135" cy="233172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6600" y="3017520"/>
            <a:ext cx="457200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06056" y="3255264"/>
            <a:ext cx="3843223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 spc="80">
                <a:solidFill>
                  <a:srgbClr val="16324F"/>
                </a:solidFill>
                <a:latin typeface="Consolas"/>
                <a:ea typeface="Noto Sans KR"/>
              </a:rPr>
              <a:t>적용 방침</a:t>
            </a: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sz="1100" b="1">
                <a:solidFill>
                  <a:srgbClr val="1A1A1A"/>
                </a:solidFill>
                <a:latin typeface="Bahnschrift"/>
                <a:ea typeface="Noto Sans KR"/>
              </a:rPr>
              <a:t>관측소 4소 공간보간 · 정온 세션 · 편각에만 적용.</a:t>
            </a:r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청양 단독 균일장 근사는 편각을 악화시켰다. 4소 1차 평면으로 바꾸고 교란(Kp&gt;2) 세션을 빼자 LOO 편각이 0.590°→0.323° 로 줄었다. 총자력에는 적용하지 않는다 — F 잔차는 지각장 불일치가 지배해 잡음만 는다.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577840"/>
            <a:ext cx="594360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67842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80">
                <a:solidFill>
                  <a:srgbClr val="1D4ED8"/>
                </a:solidFill>
                <a:latin typeface="Consolas"/>
                <a:ea typeface="Noto Sans KR"/>
              </a:rPr>
              <a:t>NEW METRIC  </a:t>
            </a: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겹치는 3측점 시기간 차 → 0 수렴이면 외부장, 잔존이면 성과표 오류.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LEGAL BASIS &amp;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17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1:25,000 이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단일값 표기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가 성립하는 한계다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0934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00">
                <a:solidFill>
                  <a:srgbClr val="6E767E"/>
                </a:solidFill>
                <a:latin typeface="Consolas"/>
                <a:ea typeface="Noto Sans KR"/>
              </a:rPr>
              <a:t>LAW vs APPLIED (KM)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1901952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020824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철도 이격 · 직류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02536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002536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D4ED8"/>
                </a:solidFill>
                <a:latin typeface="Consolas"/>
                <a:ea typeface="Noto Sans KR"/>
              </a:rPr>
              <a:t>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02082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E8531F"/>
                </a:solidFill>
                <a:latin typeface="Bahnschrift"/>
                <a:ea typeface="Noto Sans KR"/>
              </a:rPr>
              <a:t>부합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2468880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2587752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철도 이격 · 교류/일반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2569464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569464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D4ED8"/>
                </a:solidFill>
                <a:latin typeface="Consolas"/>
                <a:ea typeface="Noto Sans KR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587752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E8531F"/>
                </a:solidFill>
                <a:latin typeface="Bahnschrift"/>
                <a:ea typeface="Noto Sans KR"/>
              </a:rPr>
              <a:t>보수적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3035808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3154680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고압철탑 이격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313639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13639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D4ED8"/>
                </a:solidFill>
                <a:latin typeface="Consolas"/>
                <a:ea typeface="Noto Sans KR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15468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E8531F"/>
                </a:solidFill>
                <a:latin typeface="Bahnschrift"/>
                <a:ea typeface="Noto Sans KR"/>
              </a:rPr>
              <a:t>부합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3602736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721608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송전탑 이격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3703320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3703320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D4ED8"/>
                </a:solidFill>
                <a:latin typeface="Consolas"/>
                <a:ea typeface="Noto Sans KR"/>
              </a:rPr>
              <a:t>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37216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E8531F"/>
                </a:solidFill>
                <a:latin typeface="Bahnschrift"/>
                <a:ea typeface="Noto Sans KR"/>
              </a:rPr>
              <a:t>보수적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" y="4169664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4288536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Bahnschrift"/>
                <a:ea typeface="Noto Sans KR"/>
              </a:rPr>
              <a:t>편각 정수차 §20 (′)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42702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6E767E"/>
                </a:solidFill>
                <a:latin typeface="Consolas"/>
                <a:ea typeface="Noto Sans KR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42702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D4ED8"/>
                </a:solidFill>
                <a:latin typeface="Consolas"/>
                <a:ea typeface="Noto Sans KR"/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8" y="4288536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50" b="0">
                <a:solidFill>
                  <a:srgbClr val="E8531F"/>
                </a:solidFill>
                <a:latin typeface="Bahnschrift"/>
                <a:ea typeface="Noto Sans KR"/>
              </a:rPr>
              <a:t>엄격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" y="4736592"/>
            <a:ext cx="5486400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" y="501091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1" spc="100">
                <a:solidFill>
                  <a:srgbClr val="E8531F"/>
                </a:solidFill>
                <a:latin typeface="Consolas"/>
                <a:ea typeface="Noto Sans KR"/>
              </a:rPr>
              <a:t>KPI  </a:t>
            </a: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D&lt;0.1° 는 공학적 목표치 — 법정 정수차 30′ 와 성격이 다르다. KPI 미달은 법령 위반이 아니다.</a:t>
            </a:r>
          </a:p>
        </p:txBody>
      </p:sp>
      <p:pic>
        <p:nvPicPr>
          <p:cNvPr id="39" name="Picture 38" descr="bh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556455" cy="219384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3913632"/>
            <a:ext cx="4556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D4ED8"/>
                </a:solidFill>
                <a:latin typeface="Consolas"/>
                <a:ea typeface="Noto Sans KR"/>
              </a:rPr>
              <a:t>FIG 08  </a:t>
            </a:r>
            <a:r>
              <a:rPr sz="900" b="0">
                <a:solidFill>
                  <a:srgbClr val="6E767E"/>
                </a:solidFill>
                <a:latin typeface="Bahnschrift"/>
                <a:ea typeface="Noto Sans KR"/>
              </a:rPr>
              <a:t>축척별 도폭 내 편각 변화 — IGRF-14 직접 계산.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4370832"/>
            <a:ext cx="4556455" cy="141732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12280" y="4370832"/>
            <a:ext cx="45720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31736" y="4590288"/>
            <a:ext cx="411754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1:50,000 은 도폭 내 변화만으로 예산의 91% 소진.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000" b="0">
                <a:solidFill>
                  <a:srgbClr val="6E767E"/>
                </a:solidFill>
                <a:latin typeface="Bahnschrift"/>
                <a:ea typeface="Noto Sans KR"/>
              </a:rPr>
              <a:t>1:25,000 은 45% — 도폭당 단일 편각값이 성립하는 가장 성긴 축척.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02 ·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18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야장 확보가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모든 것의 전제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00">
                <a:solidFill>
                  <a:srgbClr val="E8531F"/>
                </a:solidFill>
                <a:latin typeface="Consolas"/>
                <a:ea typeface="Noto Sans KR"/>
              </a:rPr>
              <a:t>S/N  </a:t>
            </a:r>
            <a:r>
              <a:rPr sz="1050" b="0">
                <a:solidFill>
                  <a:srgbClr val="6E767E"/>
                </a:solidFill>
                <a:latin typeface="Bahnschrift"/>
                <a:ea typeface="Noto Sans KR"/>
              </a:rPr>
              <a:t>제거 가능한 잡음 6.7′ 에 미설명 잔차 35′ — 순서를 뒤집으면 개선 여부를 판정할 수 없다.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11680"/>
            <a:ext cx="2331720" cy="14173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396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Bahnschrift"/>
                <a:ea typeface="Noto Sans KR Blac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00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FFFFFF"/>
                </a:solidFill>
                <a:latin typeface="Bahnschrift"/>
                <a:ea typeface="Noto Sans KR"/>
              </a:rPr>
              <a:t>2022–25 야장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8094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FFFFFF"/>
                </a:solidFill>
                <a:latin typeface="Bahnschrift"/>
                <a:ea typeface="Noto Sans KR"/>
              </a:rPr>
              <a:t>관측 일시 복원 · 공통 전제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399" y="2724912"/>
            <a:ext cx="292609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38727" y="201168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7" y="21396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>
                <a:solidFill>
                  <a:srgbClr val="1D4ED8"/>
                </a:solidFill>
                <a:latin typeface="Bahnschrift"/>
                <a:ea typeface="Noto Sans KR Black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7" y="26700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성과표 원본 감사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7" y="298094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편각 환산·전사 오류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6168" y="2724912"/>
            <a:ext cx="292608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54496" y="201168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1396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>
                <a:solidFill>
                  <a:srgbClr val="1D4ED8"/>
                </a:solidFill>
                <a:latin typeface="Bahnschrift"/>
                <a:ea typeface="Noto Sans KR Black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6700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External 포함 재적합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98094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층 결합 — 순차 튜닝 금지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2724912"/>
            <a:ext cx="292608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70264" y="201168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21396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>
                <a:solidFill>
                  <a:srgbClr val="1D4ED8"/>
                </a:solidFill>
                <a:latin typeface="Bahnschrift"/>
                <a:ea typeface="Noto Sans KR Black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6700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Bahnschrift"/>
                <a:ea typeface="Noto Sans KR"/>
              </a:rPr>
              <a:t>교차검증 ·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98094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E767E"/>
                </a:solidFill>
                <a:latin typeface="Bahnschrift"/>
                <a:ea typeface="Noto Sans KR"/>
              </a:rPr>
              <a:t>IGRF 대조는 Core 확인용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85615"/>
            <a:ext cx="100584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3749039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1D4ED8"/>
                </a:solidFill>
                <a:latin typeface="Bahnschrift"/>
                <a:ea typeface="Noto Sans KR"/>
              </a:rPr>
              <a:t>병렬 A  </a:t>
            </a: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NOC 공간투영 구현 — 2019 세션을 회귀 가드로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096511"/>
            <a:ext cx="100584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4059935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1D4ED8"/>
                </a:solidFill>
                <a:latin typeface="Bahnschrift"/>
                <a:ea typeface="Noto Sans KR"/>
              </a:rPr>
              <a:t>병렬 B  </a:t>
            </a: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3측점 시기간 대조를 검증 지표로 고정 (즉시 가능)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9028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spc="80">
                <a:solidFill>
                  <a:srgbClr val="6E767E"/>
                </a:solidFill>
                <a:latin typeface="Consolas"/>
                <a:ea typeface="Noto Sans KR"/>
              </a:rPr>
              <a:t>GATE — 감사 후 편각 잔차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01183"/>
            <a:ext cx="658368" cy="40233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743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≤ 10′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49743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Bahnschrift"/>
                <a:ea typeface="Noto Sans KR"/>
              </a:rPr>
              <a:t>외부장 보정 진행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79" y="4901183"/>
            <a:ext cx="658368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79" y="49743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10–20′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2776" y="49743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Bahnschrift"/>
                <a:ea typeface="Noto Sans KR"/>
              </a:rPr>
              <a:t>잔차 큰 측점 재측정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901183"/>
            <a:ext cx="658368" cy="402336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49743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&gt; 20′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49743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Bahnschrift"/>
                <a:ea typeface="Noto Sans KR"/>
              </a:rPr>
              <a:t>중단 · 방위 기준 재결정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749039"/>
            <a:ext cx="2956255" cy="1965960"/>
          </a:xfrm>
          <a:prstGeom prst="rect">
            <a:avLst/>
          </a:prstGeom>
          <a:solidFill>
            <a:srgbClr val="FFFFFF"/>
          </a:solidFill>
          <a:ln w="20320">
            <a:solidFill>
              <a:srgbClr val="E8531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10500055" y="3493008"/>
            <a:ext cx="658368" cy="566928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1936" y="3950208"/>
            <a:ext cx="25173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40">
                <a:solidFill>
                  <a:srgbClr val="E8531F"/>
                </a:solidFill>
                <a:latin typeface="Consolas"/>
                <a:ea typeface="Noto Sans KR"/>
              </a:rPr>
              <a:t>NOW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31936" y="4187952"/>
            <a:ext cx="25173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531F"/>
                </a:solidFill>
                <a:latin typeface="Bahnschrift"/>
                <a:ea typeface="Noto Sans KR Black"/>
              </a:rPr>
              <a:t>35</a:t>
            </a:r>
            <a:r>
              <a:rPr sz="1600" b="0">
                <a:solidFill>
                  <a:srgbClr val="E8531F"/>
                </a:solidFill>
                <a:latin typeface="Consolas"/>
                <a:ea typeface="Noto Sans KR"/>
              </a:rPr>
              <a:t> 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1936" y="4974336"/>
            <a:ext cx="25173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세 번째 구간에서 시작 — 판정기준은 착수 전 확정 완료.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-2103120" y="2103120"/>
            <a:ext cx="6217920" cy="5394960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6908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0" b="1">
                <a:solidFill>
                  <a:srgbClr val="FFFFFF"/>
                </a:solidFill>
                <a:latin typeface="Bahnschrift"/>
                <a:ea typeface="Noto Sans KR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2103120"/>
            <a:ext cx="57451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300" b="1">
                <a:solidFill>
                  <a:srgbClr val="1A1A1A"/>
                </a:solidFill>
                <a:latin typeface="Bahnschrift"/>
                <a:ea typeface="Noto Sans KR Black"/>
              </a:rPr>
              <a:t>자문 질의사항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798064"/>
            <a:ext cx="5745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6E767E"/>
                </a:solidFill>
                <a:latin typeface="Bahnschrift"/>
                <a:ea typeface="Noto Sans KR"/>
              </a:rPr>
              <a:t>판단을 구하고자 하는 12건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3502151"/>
            <a:ext cx="109728" cy="109728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4183" y="345643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입지 선정 6건 — 기준의 타당성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4050791"/>
            <a:ext cx="109728" cy="109728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3" y="4005072"/>
            <a:ext cx="5470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Bahnschrift"/>
                <a:ea typeface="Noto Sans KR"/>
              </a:rPr>
              <a:t>지역 자기장 모형 6건 — 다음 단계의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03 · ADVISORY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20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질의 ①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입지 선정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 6건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5179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쟁점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517904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현재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7" y="1517904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자문 질문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1792224"/>
            <a:ext cx="105457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2960" y="193852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7510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1911095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이격거리 보수적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11095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철도 5.0 km 전면 적용 — 내륙 평야부 후보 소멸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1911095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직류·교류 구분 자료를 확보해 차등 적용해야 하는가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252374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267004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0662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2642615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배점 가중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2642615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희소성 25점 vs 모델기여 10점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2642615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신규 측점이 곧 모형 입력인데 모델기여 가중을 올릴 것인가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325526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22960" y="340156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381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37413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자기이상 구간 점수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337413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150–400 nT 최고점 · &gt;800 nT 조건부 제외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37413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구간 설정의 물리적 근거가 타당한가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" y="398678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22960" y="413308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1696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410565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미산정 15점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10565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⑦ 부지 지속성 · ⑧ 접근성 — 자료 미확보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410565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국공유지 DB·도로망으로 대체 산정인가, 현장 판단인가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471830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22960" y="486460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011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483717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현장 조사 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483717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기준 이격 80·60·50·30·70 m — 실측 근거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7" y="483717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실측 검증이 필요한가, 판정 구간(1–2건 조건부)은 적절한가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544982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22960" y="559612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63270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556869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국가기준점 활용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556869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삼각점·통합기준점 496점을 위치 기준으로 제공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7" y="556869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표석의 철근·자성 재료가 총자력 측정에 영향을 주는가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2960" y="6181344"/>
            <a:ext cx="105457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20">
                <a:solidFill>
                  <a:srgbClr val="6E767E"/>
                </a:solidFill>
                <a:latin typeface="Consolas"/>
                <a:ea typeface="Noto Sans KR"/>
              </a:rPr>
              <a:t>PART 03 · ADVISORY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4959" y="292608"/>
            <a:ext cx="118872" cy="1188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57839" y="292608"/>
            <a:ext cx="118872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0719" y="292608"/>
            <a:ext cx="118872" cy="118872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6345936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428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b="0" spc="10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282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00" b="0">
                <a:solidFill>
                  <a:srgbClr val="6E767E"/>
                </a:solidFill>
                <a:latin typeface="Consolas"/>
                <a:ea typeface="Noto Sans KR"/>
              </a:rPr>
              <a:t>21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713232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  <a:ea typeface="Noto Sans KR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726948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질의 ② </a:t>
            </a:r>
            <a:r>
              <a:rPr sz="2400" b="1">
                <a:solidFill>
                  <a:srgbClr val="1D4ED8"/>
                </a:solidFill>
                <a:latin typeface="Bahnschrift"/>
                <a:ea typeface="Noto Sans KR Black"/>
              </a:rPr>
              <a:t>지역 자기장 모형</a:t>
            </a:r>
            <a:r>
              <a:rPr sz="2400" b="1">
                <a:solidFill>
                  <a:srgbClr val="1A1A1A"/>
                </a:solidFill>
                <a:latin typeface="Bahnschrift"/>
                <a:ea typeface="Noto Sans KR Black"/>
              </a:rPr>
              <a:t> 6건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5179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쟁점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517904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현재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7" y="1517904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 spc="100">
                <a:solidFill>
                  <a:srgbClr val="6E767E"/>
                </a:solidFill>
                <a:latin typeface="Consolas"/>
                <a:ea typeface="Noto Sans KR"/>
              </a:rPr>
              <a:t>자문 질문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1792224"/>
            <a:ext cx="105457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2960" y="193852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7510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1911095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계통 오차 감사 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11095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잔차 30′ 후보 3 — 마크 방위각·전사·환산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1911095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무엇부터 감사하는가, 자료만으로 가리는 진단법이 있는가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252374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267004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0662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2642615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지각층 각도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2642615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현행은 F 에만 반영 · 벡터 역산 규모는 8′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2642615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주원인이 아닌데 벡터 역산을 구현할 가치가 있는가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325526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22960" y="340156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381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37413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외부장 공간투영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337413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상시관측소 청양 1개소뿐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37413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NOC 공간투영으로 전역 복원에 몇 개소가 필요한가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" y="398678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22960" y="413308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1696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410565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일변화 이중보정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10565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§21 은 법정 절차 — 성과표 적용 여부 미확인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410565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확인 방법과 이중보정 방지 안전장치를 어떻게 두는가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471830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22960" y="486460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0118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483717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Regional 함수 형태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483717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17측점 · 1차 다항식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7" y="483717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30점 도달 시 2차인가, 구면캡조화(SCHA)·크리깅인가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5449824"/>
            <a:ext cx="10545775" cy="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22960" y="5596128"/>
            <a:ext cx="237744" cy="23774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63270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Consolas"/>
                <a:ea typeface="Noto Sans K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5568696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50" b="1">
                <a:solidFill>
                  <a:srgbClr val="1A1A1A"/>
                </a:solidFill>
                <a:latin typeface="Bahnschrift"/>
                <a:ea typeface="Noto Sans KR"/>
              </a:rPr>
              <a:t>KPI 와 2027 캠페인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5568696"/>
            <a:ext cx="37947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E767E"/>
                </a:solidFill>
                <a:latin typeface="Bahnschrift"/>
                <a:ea typeface="Noto Sans KR"/>
              </a:rPr>
              <a:t>KPI 0.1° 는 일변동 중앙값 0.112° 보다 작음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7" y="5568696"/>
            <a:ext cx="4160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Bahnschrift"/>
                <a:ea typeface="Noto Sans KR"/>
              </a:rPr>
              <a:t>시각 보정 후 달성 가능한가, 재측정과 신규점 비율은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2960" y="6181344"/>
            <a:ext cx="105457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737360"/>
            <a:ext cx="4023360" cy="4023360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640080" y="5440680"/>
            <a:ext cx="5669280" cy="8229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720000">
            <a:off x="10881360" y="4663440"/>
            <a:ext cx="1051560" cy="914400"/>
          </a:xfrm>
          <a:prstGeom prst="triangle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918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spc="140">
                <a:solidFill>
                  <a:srgbClr val="6E767E"/>
                </a:solidFill>
                <a:latin typeface="Consolas"/>
                <a:ea typeface="Noto Sans KR"/>
              </a:rP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868680" cy="9144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400" b="1">
                <a:solidFill>
                  <a:srgbClr val="1A1A1A"/>
                </a:solidFill>
                <a:latin typeface="Bahnschrift"/>
                <a:ea typeface="Noto Sans KR Black"/>
              </a:rPr>
              <a:t>다음 단계는 정해져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42032"/>
            <a:ext cx="137160" cy="1371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29330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6324F"/>
                </a:solidFill>
                <a:latin typeface="Consolas"/>
                <a:ea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1799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A1A1A"/>
                </a:solidFill>
                <a:latin typeface="Bahnschrift"/>
                <a:ea typeface="Noto Sans KR Black"/>
              </a:rPr>
              <a:t>두 축은 하나의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36976"/>
            <a:ext cx="317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050" b="0">
                <a:solidFill>
                  <a:srgbClr val="6E767E"/>
                </a:solidFill>
                <a:latin typeface="Bahnschrift"/>
                <a:ea typeface="Noto Sans KR"/>
              </a:rPr>
              <a:t>선점 기준이 요구 정밀도를 정하고, 확보된 측점이 다시 모형의 입력이 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5858" y="2542032"/>
            <a:ext cx="137160" cy="137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2746" y="2487168"/>
            <a:ext cx="29330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D4ED8"/>
                </a:solidFill>
                <a:latin typeface="Consolas"/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834640"/>
            <a:ext cx="31799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A1A1A"/>
                </a:solidFill>
                <a:latin typeface="Bahnschrift"/>
                <a:ea typeface="Noto Sans KR Black"/>
              </a:rPr>
              <a:t>막힌 곳은 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3236976"/>
            <a:ext cx="317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050" b="0">
                <a:solidFill>
                  <a:srgbClr val="6E767E"/>
                </a:solidFill>
                <a:latin typeface="Bahnschrift"/>
                <a:ea typeface="Noto Sans KR"/>
              </a:rPr>
              <a:t>구현 오류 0건 — 관측시각·원측선·측점 수 세 가지가 성능을 묶고 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8756" y="2542032"/>
            <a:ext cx="137160" cy="137160"/>
          </a:xfrm>
          <a:prstGeom prst="rect">
            <a:avLst/>
          </a:prstGeom>
          <a:solidFill>
            <a:srgbClr val="E853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5644" y="2487168"/>
            <a:ext cx="29330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E8531F"/>
                </a:solidFill>
                <a:latin typeface="Consolas"/>
                <a:ea typeface="Noto Sans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756" y="2834640"/>
            <a:ext cx="31799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A1A1A"/>
                </a:solidFill>
                <a:latin typeface="Bahnschrift"/>
                <a:ea typeface="Noto Sans KR Black"/>
              </a:rPr>
              <a:t>판정기준을 먼저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3236976"/>
            <a:ext cx="317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050" b="0">
                <a:solidFill>
                  <a:srgbClr val="6E767E"/>
                </a:solidFill>
                <a:latin typeface="Bahnschrift"/>
                <a:ea typeface="Noto Sans KR"/>
              </a:rPr>
              <a:t>결과를 보고 기준을 정하면 자기확증이 된다. 1단계 기준은 착수 전에 확정하였다.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1441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spc="60">
                <a:solidFill>
                  <a:srgbClr val="FFFFFF"/>
                </a:solidFill>
                <a:latin typeface="Consolas"/>
                <a:ea typeface="Noto Sans KR"/>
              </a:rPr>
              <a:t>NEXT — FIELDBOOKS 2022-25 → AUDIT → REFIT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5760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50" b="0" spc="80">
                <a:solidFill>
                  <a:srgbClr val="6E767E"/>
                </a:solidFill>
                <a:latin typeface="Consolas"/>
                <a:ea typeface="Noto Sans KR"/>
              </a:rPr>
              <a:t>GEOMAG REFERENCE PROJECT — ADVISORY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