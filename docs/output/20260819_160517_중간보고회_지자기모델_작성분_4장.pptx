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embedTrueTypeFonts="1" saveSubsetFonts="1">
  <p:sldMasterIdLst>
    <p:sldMasterId id="2147483909" r:id="rId1"/>
  </p:sldMasterIdLst>
  <p:notesMasterIdLst>
    <p:notesMasterId r:id="rId12"/>
  </p:notesMasterIdLst>
  <p:handoutMasterIdLst>
    <p:handoutMasterId r:id="rId13"/>
  </p:handoutMasterIdLst>
  <p:sldIdLst>
    <p:sldId id="660" r:id="rId2"/>
    <p:sldId id="1092" r:id="rId3"/>
    <p:sldId id="1052" r:id="rId4"/>
    <p:sldId id="1122" r:id="rId5"/>
    <p:sldId id="1321" r:id="rId6"/>
    <p:sldId id="1322" r:id="rId7"/>
    <p:sldId id="1323" r:id="rId30"/>
    <p:sldId id="1094" r:id="rId8"/>
    <p:sldId id="1163" r:id="rId9"/>
    <p:sldId id="1318" r:id="rId10"/>
    <p:sldId id="1324" r:id="rId31"/>
    <p:sldId id="1084" r:id="rId11"/>
  </p:sldIdLst>
  <p:sldSz cx="9906000" cy="6858000" type="A4"/>
  <p:notesSz cx="7104063" cy="10234613"/>
  <p:embeddedFontLst>
    <p:embeddedFont>
      <p:font typeface="나눔스퀘어라운드 Bold" panose="020B0600000101010101" charset="-127"/>
      <p:bold r:id="rId14"/>
    </p:embeddedFont>
    <p:embeddedFont>
      <p:font typeface="산돌고딕B" panose="020B0600000101010101" charset="-127"/>
      <p:regular r:id="rId15"/>
    </p:embeddedFont>
    <p:embeddedFont>
      <p:font typeface="KoPub돋움체 Bold" panose="02020603020101020101" pitchFamily="18" charset="-127"/>
      <p:regular r:id="rId16"/>
      <p:bold r:id="rId17"/>
    </p:embeddedFont>
    <p:embeddedFont>
      <p:font typeface="KoPub돋움체 Light" panose="02020603020101020101" pitchFamily="18" charset="-127"/>
      <p:regular r:id="rId18"/>
    </p:embeddedFont>
    <p:embeddedFont>
      <p:font typeface="KoPub돋움체 Medium" panose="02020603020101020101" pitchFamily="18" charset="-127"/>
      <p:regular r:id="rId19"/>
    </p:embeddedFont>
    <p:embeddedFont>
      <p:font typeface="KoPub바탕체 Bold" panose="02020603020101020101" pitchFamily="18" charset="-127"/>
      <p:regular r:id="rId20"/>
      <p:bold r:id="rId21"/>
    </p:embeddedFont>
    <p:embeddedFont>
      <p:font typeface="나눔고딕" panose="020D0604000000000000" pitchFamily="50" charset="-127"/>
      <p:regular r:id="rId22"/>
      <p:bold r:id="rId23"/>
    </p:embeddedFont>
    <p:embeddedFont>
      <p:font typeface="맑은 고딕" panose="020B0503020000020004" pitchFamily="50" charset="-127"/>
      <p:regular r:id="rId24"/>
      <p:bold r:id="rId25"/>
    </p:embeddedFont>
  </p:embeddedFontLst>
  <p:defaultTextStyle>
    <a:defPPr>
      <a:defRPr lang="ko-KR"/>
    </a:defPPr>
    <a:lvl1pPr algn="ctr" rtl="0" fontAlgn="base" latinLnBrk="1">
      <a:spcBef>
        <a:spcPct val="50000"/>
      </a:spcBef>
      <a:spcAft>
        <a:spcPct val="0"/>
      </a:spcAft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1pPr>
    <a:lvl2pPr marL="457200" algn="ctr" rtl="0" fontAlgn="base" latinLnBrk="1">
      <a:spcBef>
        <a:spcPct val="50000"/>
      </a:spcBef>
      <a:spcAft>
        <a:spcPct val="0"/>
      </a:spcAft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2pPr>
    <a:lvl3pPr marL="914400" algn="ctr" rtl="0" fontAlgn="base" latinLnBrk="1">
      <a:spcBef>
        <a:spcPct val="50000"/>
      </a:spcBef>
      <a:spcAft>
        <a:spcPct val="0"/>
      </a:spcAft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3pPr>
    <a:lvl4pPr marL="1371600" algn="ctr" rtl="0" fontAlgn="base" latinLnBrk="1">
      <a:spcBef>
        <a:spcPct val="50000"/>
      </a:spcBef>
      <a:spcAft>
        <a:spcPct val="0"/>
      </a:spcAft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4pPr>
    <a:lvl5pPr marL="1828800" algn="ctr" rtl="0" fontAlgn="base" latinLnBrk="1">
      <a:spcBef>
        <a:spcPct val="50000"/>
      </a:spcBef>
      <a:spcAft>
        <a:spcPct val="0"/>
      </a:spcAft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65" userDrawn="1">
          <p15:clr>
            <a:srgbClr val="A4A3A4"/>
          </p15:clr>
        </p15:guide>
        <p15:guide id="2" orient="horz" pos="1071" userDrawn="1">
          <p15:clr>
            <a:srgbClr val="A4A3A4"/>
          </p15:clr>
        </p15:guide>
        <p15:guide id="4" orient="horz" userDrawn="1">
          <p15:clr>
            <a:srgbClr val="A4A3A4"/>
          </p15:clr>
        </p15:guide>
        <p15:guide id="6" pos="6068" userDrawn="1">
          <p15:clr>
            <a:srgbClr val="A4A3A4"/>
          </p15:clr>
        </p15:guide>
        <p15:guide id="7" pos="172" userDrawn="1">
          <p15:clr>
            <a:srgbClr val="A4A3A4"/>
          </p15:clr>
        </p15:guide>
        <p15:guide id="11" pos="3120" userDrawn="1">
          <p15:clr>
            <a:srgbClr val="A4A3A4"/>
          </p15:clr>
        </p15:guide>
        <p15:guide id="12" orient="horz" pos="356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2" userDrawn="1">
          <p15:clr>
            <a:srgbClr val="A4A3A4"/>
          </p15:clr>
        </p15:guide>
        <p15:guide id="2" pos="2239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4099"/>
    <a:srgbClr val="009900"/>
    <a:srgbClr val="4A7EBB"/>
    <a:srgbClr val="33CC33"/>
    <a:srgbClr val="FF6600"/>
    <a:srgbClr val="006666"/>
    <a:srgbClr val="5EC7D4"/>
    <a:srgbClr val="F6F1F0"/>
    <a:srgbClr val="2F5596"/>
    <a:srgbClr val="00BC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066" autoAdjust="0"/>
  </p:normalViewPr>
  <p:slideViewPr>
    <p:cSldViewPr showGuides="1">
      <p:cViewPr varScale="1">
        <p:scale>
          <a:sx n="103" d="100"/>
          <a:sy n="103" d="100"/>
        </p:scale>
        <p:origin x="1278" y="102"/>
      </p:cViewPr>
      <p:guideLst>
        <p:guide orient="horz" pos="4065"/>
        <p:guide orient="horz" pos="1071"/>
        <p:guide orient="horz"/>
        <p:guide pos="6068"/>
        <p:guide pos="172"/>
        <p:guide pos="3120"/>
        <p:guide orient="horz" pos="3566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876"/>
    </p:cViewPr>
  </p:sorterViewPr>
  <p:notesViewPr>
    <p:cSldViewPr>
      <p:cViewPr varScale="1">
        <p:scale>
          <a:sx n="114" d="100"/>
          <a:sy n="114" d="100"/>
        </p:scale>
        <p:origin x="5196" y="120"/>
      </p:cViewPr>
      <p:guideLst>
        <p:guide orient="horz" pos="3222"/>
        <p:guide pos="2239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Relationship Id="rId20" Type="http://schemas.openxmlformats.org/officeDocument/2006/relationships/font" Target="fonts/font7.fntdata"/><Relationship Id="rId21" Type="http://schemas.openxmlformats.org/officeDocument/2006/relationships/font" Target="fonts/font8.fntdata"/><Relationship Id="rId22" Type="http://schemas.openxmlformats.org/officeDocument/2006/relationships/font" Target="fonts/font9.fntdata"/><Relationship Id="rId23" Type="http://schemas.openxmlformats.org/officeDocument/2006/relationships/font" Target="fonts/font10.fntdata"/><Relationship Id="rId24" Type="http://schemas.openxmlformats.org/officeDocument/2006/relationships/font" Target="fonts/font11.fntdata"/><Relationship Id="rId25" Type="http://schemas.openxmlformats.org/officeDocument/2006/relationships/font" Target="fonts/font12.fntdata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11.xml"/><Relationship Id="rId31" Type="http://schemas.openxmlformats.org/officeDocument/2006/relationships/slide" Target="slides/slide1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3078762" cy="511813"/>
          </a:xfrm>
          <a:prstGeom prst="rect">
            <a:avLst/>
          </a:prstGeom>
        </p:spPr>
        <p:txBody>
          <a:bodyPr vert="horz" lIns="95569" tIns="47784" rIns="95569" bIns="47784" rtlCol="0"/>
          <a:lstStyle>
            <a:lvl1pPr algn="l">
              <a:defRPr sz="1300"/>
            </a:lvl1pPr>
          </a:lstStyle>
          <a:p>
            <a:endParaRPr lang="ko-KR" alt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3647" y="4"/>
            <a:ext cx="3078762" cy="511813"/>
          </a:xfrm>
          <a:prstGeom prst="rect">
            <a:avLst/>
          </a:prstGeom>
        </p:spPr>
        <p:txBody>
          <a:bodyPr vert="horz" lIns="95569" tIns="47784" rIns="95569" bIns="47784" rtlCol="0"/>
          <a:lstStyle>
            <a:lvl1pPr algn="r">
              <a:defRPr sz="1300"/>
            </a:lvl1pPr>
          </a:lstStyle>
          <a:p>
            <a:fld id="{3E987FDE-81F0-4B47-AB5B-4B096379894B}" type="datetimeFigureOut">
              <a:rPr lang="ko-KR" altLang="en-US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pPr/>
              <a:t>2026-08-18</a:t>
            </a:fld>
            <a:endParaRPr lang="ko-KR" alt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721155"/>
            <a:ext cx="3078762" cy="511812"/>
          </a:xfrm>
          <a:prstGeom prst="rect">
            <a:avLst/>
          </a:prstGeom>
        </p:spPr>
        <p:txBody>
          <a:bodyPr vert="horz" lIns="95569" tIns="47784" rIns="95569" bIns="47784" rtlCol="0" anchor="b"/>
          <a:lstStyle>
            <a:lvl1pPr algn="l">
              <a:defRPr sz="1300"/>
            </a:lvl1pPr>
          </a:lstStyle>
          <a:p>
            <a:endParaRPr lang="ko-KR" alt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3647" y="9721155"/>
            <a:ext cx="3078762" cy="511812"/>
          </a:xfrm>
          <a:prstGeom prst="rect">
            <a:avLst/>
          </a:prstGeom>
        </p:spPr>
        <p:txBody>
          <a:bodyPr vert="horz" lIns="95569" tIns="47784" rIns="95569" bIns="47784" rtlCol="0" anchor="b"/>
          <a:lstStyle>
            <a:lvl1pPr algn="r">
              <a:defRPr sz="1300"/>
            </a:lvl1pPr>
          </a:lstStyle>
          <a:p>
            <a:fld id="{FA841F78-DC43-4BD1-833B-B52A54EA3C51}" type="slidenum">
              <a:rPr lang="ko-KR" altLang="en-US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pPr/>
              <a:t>‹#›</a:t>
            </a:fld>
            <a:endParaRPr lang="ko-KR" alt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1094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7"/>
            <a:ext cx="3079203" cy="5123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14" tIns="47607" rIns="95214" bIns="47607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3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3206" y="7"/>
            <a:ext cx="3079203" cy="5123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14" tIns="47607" rIns="95214" bIns="47607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pPr>
              <a:defRPr/>
            </a:pPr>
            <a:fld id="{9B44FAE6-1E84-4284-B90D-5162B3CB7787}" type="datetimeFigureOut">
              <a:rPr lang="ko-KR" altLang="en-US" smtClean="0"/>
              <a:pPr>
                <a:defRPr/>
              </a:pPr>
              <a:t>2026-08-18</a:t>
            </a:fld>
            <a:endParaRPr lang="en-US" altLang="ko-KR" dirty="0"/>
          </a:p>
        </p:txBody>
      </p:sp>
      <p:sp>
        <p:nvSpPr>
          <p:cNvPr id="235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77875" y="766763"/>
            <a:ext cx="5548313" cy="38401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0077" y="4861162"/>
            <a:ext cx="5683915" cy="46058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14" tIns="47607" rIns="95214" bIns="476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501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" y="9720675"/>
            <a:ext cx="3079203" cy="5123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14" tIns="47607" rIns="95214" bIns="47607" numCol="1" anchor="b" anchorCtr="0" compatLnSpc="1">
            <a:prstTxWarp prst="textNoShape">
              <a:avLst/>
            </a:prstTxWarp>
          </a:bodyPr>
          <a:lstStyle>
            <a:lvl1pPr algn="l" eaLnBrk="0" hangingPunct="0">
              <a:defRPr sz="13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828929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7875" y="766763"/>
            <a:ext cx="5548313" cy="38401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99945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7875" y="766763"/>
            <a:ext cx="5548313" cy="38401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92137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7875" y="766763"/>
            <a:ext cx="5548313" cy="38401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42875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2C6E1-EADA-4307-0B4E-F63219FB7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9F9B7B4-6AB6-B4D4-65A2-3C815A88E1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D93FFCB-4CE8-C51B-B2D5-80681581E8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39150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F3663-DEFB-C6FD-7E50-6F69C684B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74CA2D7-7C5D-0E85-2898-BDD4A41F0F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99E713-D795-3AF4-A884-C20B576521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16395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7875" y="766763"/>
            <a:ext cx="5548313" cy="38401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504791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5420252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직사각형 46"/>
          <p:cNvSpPr/>
          <p:nvPr userDrawn="1"/>
        </p:nvSpPr>
        <p:spPr>
          <a:xfrm>
            <a:off x="409676" y="64443"/>
            <a:ext cx="4471316" cy="25391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marR="0" lvl="1" indent="-85725" algn="l" defTabSz="9143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400"/>
              </a:buClr>
              <a:buSzPct val="140000"/>
              <a:buFontTx/>
              <a:buNone/>
              <a:tabLst>
                <a:tab pos="5645238" algn="l"/>
              </a:tabLst>
              <a:defRPr/>
            </a:pPr>
            <a:r>
              <a:rPr kumimoji="1" lang="ko-KR" altLang="en-US" sz="1050" b="0" i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국가기준점 지자기측량 발전방안 연구</a:t>
            </a:r>
            <a:endParaRPr kumimoji="1" lang="ko-KR" altLang="en-US" sz="1050" b="0" i="0" kern="1200" spc="-100" baseline="0" dirty="0">
              <a:solidFill>
                <a:schemeClr val="tx1">
                  <a:lumMod val="65000"/>
                  <a:lumOff val="3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  <a:sym typeface="Monotype Sorts"/>
            </a:endParaRP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2" y="179041"/>
            <a:ext cx="9905999" cy="845935"/>
            <a:chOff x="0" y="179039"/>
            <a:chExt cx="9905999" cy="845935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BC8E508-6C13-4058-B8E4-A9A3D835C96C}"/>
                </a:ext>
              </a:extLst>
            </p:cNvPr>
            <p:cNvSpPr/>
            <p:nvPr userDrawn="1"/>
          </p:nvSpPr>
          <p:spPr>
            <a:xfrm>
              <a:off x="0" y="336883"/>
              <a:ext cx="9905999" cy="530249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2" name="양쪽 모서리가 둥근 사각형 11"/>
            <p:cNvSpPr/>
            <p:nvPr userDrawn="1"/>
          </p:nvSpPr>
          <p:spPr bwMode="auto">
            <a:xfrm rot="10800000">
              <a:off x="8476721" y="179039"/>
              <a:ext cx="1102314" cy="845935"/>
            </a:xfrm>
            <a:prstGeom prst="round2SameRect">
              <a:avLst/>
            </a:prstGeom>
            <a:solidFill>
              <a:schemeClr val="bg1"/>
            </a:solidFill>
            <a:ln w="571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>
                <a:spcBef>
                  <a:spcPct val="0"/>
                </a:spcBef>
              </a:pPr>
              <a:endParaRPr lang="ko-KR" altLang="en-US" dirty="0">
                <a:solidFill>
                  <a:prstClr val="black"/>
                </a:solidFill>
                <a:latin typeface="KoPub돋움체 Medium" panose="00000600000000000000" pitchFamily="2" charset="-127"/>
                <a:ea typeface="굴림" charset="-127"/>
              </a:endParaRPr>
            </a:p>
          </p:txBody>
        </p:sp>
        <p:grpSp>
          <p:nvGrpSpPr>
            <p:cNvPr id="13" name="그룹 12"/>
            <p:cNvGrpSpPr/>
            <p:nvPr userDrawn="1"/>
          </p:nvGrpSpPr>
          <p:grpSpPr>
            <a:xfrm>
              <a:off x="8403446" y="219120"/>
              <a:ext cx="1248865" cy="713109"/>
              <a:chOff x="387318" y="361291"/>
              <a:chExt cx="1248865" cy="713109"/>
            </a:xfrm>
          </p:grpSpPr>
          <p:sp>
            <p:nvSpPr>
              <p:cNvPr id="14" name="TextBox 13"/>
              <p:cNvSpPr txBox="1"/>
              <p:nvPr userDrawn="1"/>
            </p:nvSpPr>
            <p:spPr>
              <a:xfrm>
                <a:off x="387318" y="735846"/>
                <a:ext cx="124886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ko-KR" altLang="en-US" sz="1600" spc="-149" dirty="0">
                    <a:solidFill>
                      <a:srgbClr val="2F5597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연구 개요</a:t>
                </a:r>
              </a:p>
            </p:txBody>
          </p:sp>
          <p:sp>
            <p:nvSpPr>
              <p:cNvPr id="15" name="TextBox 14"/>
              <p:cNvSpPr txBox="1"/>
              <p:nvPr userDrawn="1"/>
            </p:nvSpPr>
            <p:spPr>
              <a:xfrm>
                <a:off x="682019" y="361291"/>
                <a:ext cx="65946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en-US" altLang="ko-KR" sz="2400" b="1" spc="-149" dirty="0">
                    <a:solidFill>
                      <a:srgbClr val="2F5597"/>
                    </a:solidFill>
                    <a:latin typeface="KoPub바탕체 Bold" panose="02020603020101020101" pitchFamily="18" charset="-127"/>
                    <a:ea typeface="KoPub바탕체 Bold" panose="02020603020101020101" pitchFamily="18" charset="-127"/>
                  </a:rPr>
                  <a:t>Ⅰ</a:t>
                </a:r>
              </a:p>
            </p:txBody>
          </p:sp>
        </p:grpSp>
      </p:grp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9" y="6453338"/>
            <a:ext cx="1315921" cy="28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633709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그룹 25"/>
          <p:cNvGrpSpPr/>
          <p:nvPr userDrawn="1"/>
        </p:nvGrpSpPr>
        <p:grpSpPr>
          <a:xfrm>
            <a:off x="8409385" y="2573372"/>
            <a:ext cx="1248865" cy="697720"/>
            <a:chOff x="387318" y="361291"/>
            <a:chExt cx="1248865" cy="697720"/>
          </a:xfrm>
        </p:grpSpPr>
        <p:sp>
          <p:nvSpPr>
            <p:cNvPr id="27" name="TextBox 26"/>
            <p:cNvSpPr txBox="1"/>
            <p:nvPr userDrawn="1"/>
          </p:nvSpPr>
          <p:spPr>
            <a:xfrm>
              <a:off x="387318" y="735846"/>
              <a:ext cx="124886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>
                <a:bevelT w="0" h="38100"/>
              </a:sp3d>
            </a:bodyPr>
            <a:lstStyle/>
            <a:p>
              <a:pPr>
                <a:spcBef>
                  <a:spcPts val="19"/>
                </a:spcBef>
              </a:pPr>
              <a:endParaRPr lang="ko-KR" altLang="en-US" sz="1500" spc="-200" baseline="0" dirty="0">
                <a:solidFill>
                  <a:srgbClr val="2F5597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28" name="TextBox 27"/>
            <p:cNvSpPr txBox="1"/>
            <p:nvPr userDrawn="1"/>
          </p:nvSpPr>
          <p:spPr>
            <a:xfrm>
              <a:off x="661699" y="361291"/>
              <a:ext cx="6594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>
                <a:bevelT w="0" h="38100"/>
              </a:sp3d>
            </a:bodyPr>
            <a:lstStyle/>
            <a:p>
              <a:pPr>
                <a:spcBef>
                  <a:spcPts val="19"/>
                </a:spcBef>
              </a:pPr>
              <a:endParaRPr lang="en-US" altLang="ko-KR" sz="2400" b="1" spc="-149" dirty="0">
                <a:solidFill>
                  <a:srgbClr val="2F5597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</a:endParaRPr>
            </a:p>
          </p:txBody>
        </p:sp>
      </p:grpSp>
      <p:sp>
        <p:nvSpPr>
          <p:cNvPr id="30" name="직사각형 29"/>
          <p:cNvSpPr/>
          <p:nvPr userDrawn="1"/>
        </p:nvSpPr>
        <p:spPr>
          <a:xfrm>
            <a:off x="409676" y="64443"/>
            <a:ext cx="4471316" cy="25391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marR="0" lvl="1" indent="-85725" algn="l" defTabSz="9143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400"/>
              </a:buClr>
              <a:buSzPct val="140000"/>
              <a:buFontTx/>
              <a:buNone/>
              <a:tabLst>
                <a:tab pos="5645238" algn="l"/>
              </a:tabLst>
              <a:defRPr/>
            </a:pPr>
            <a:r>
              <a:rPr kumimoji="1" lang="ko-KR" altLang="en-US" sz="1050" b="0" i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국가기준점 지자기측량 발전방안 연구</a:t>
            </a:r>
            <a:endParaRPr kumimoji="1" lang="ko-KR" altLang="en-US" sz="1050" b="0" i="0" kern="1200" spc="-100" baseline="0" dirty="0">
              <a:solidFill>
                <a:schemeClr val="tx1">
                  <a:lumMod val="65000"/>
                  <a:lumOff val="3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  <a:sym typeface="Monotype Sorts"/>
            </a:endParaRP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2" y="179041"/>
            <a:ext cx="9905999" cy="845935"/>
            <a:chOff x="0" y="179039"/>
            <a:chExt cx="9905999" cy="845935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BC8E508-6C13-4058-B8E4-A9A3D835C96C}"/>
                </a:ext>
              </a:extLst>
            </p:cNvPr>
            <p:cNvSpPr/>
            <p:nvPr userDrawn="1"/>
          </p:nvSpPr>
          <p:spPr>
            <a:xfrm>
              <a:off x="0" y="336883"/>
              <a:ext cx="9905999" cy="530249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2" name="양쪽 모서리가 둥근 사각형 11"/>
            <p:cNvSpPr/>
            <p:nvPr userDrawn="1"/>
          </p:nvSpPr>
          <p:spPr bwMode="auto">
            <a:xfrm rot="10800000">
              <a:off x="8476721" y="179039"/>
              <a:ext cx="1102314" cy="845935"/>
            </a:xfrm>
            <a:prstGeom prst="round2SameRect">
              <a:avLst/>
            </a:prstGeom>
            <a:solidFill>
              <a:schemeClr val="bg1"/>
            </a:solidFill>
            <a:ln w="571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>
                <a:spcBef>
                  <a:spcPct val="0"/>
                </a:spcBef>
              </a:pPr>
              <a:endParaRPr lang="ko-KR" altLang="en-US" dirty="0">
                <a:solidFill>
                  <a:prstClr val="black"/>
                </a:solidFill>
                <a:latin typeface="KoPub돋움체 Medium" panose="00000600000000000000" pitchFamily="2" charset="-127"/>
                <a:ea typeface="굴림" charset="-127"/>
              </a:endParaRPr>
            </a:p>
          </p:txBody>
        </p:sp>
        <p:grpSp>
          <p:nvGrpSpPr>
            <p:cNvPr id="13" name="그룹 12"/>
            <p:cNvGrpSpPr/>
            <p:nvPr userDrawn="1"/>
          </p:nvGrpSpPr>
          <p:grpSpPr>
            <a:xfrm>
              <a:off x="8403446" y="219120"/>
              <a:ext cx="1248865" cy="682332"/>
              <a:chOff x="387318" y="361291"/>
              <a:chExt cx="1248865" cy="682332"/>
            </a:xfrm>
          </p:grpSpPr>
          <p:sp>
            <p:nvSpPr>
              <p:cNvPr id="14" name="TextBox 13"/>
              <p:cNvSpPr txBox="1"/>
              <p:nvPr userDrawn="1"/>
            </p:nvSpPr>
            <p:spPr>
              <a:xfrm>
                <a:off x="387318" y="735846"/>
                <a:ext cx="124886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ko-KR" altLang="en-US" sz="1400" spc="-149" dirty="0">
                    <a:solidFill>
                      <a:srgbClr val="2F5597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연구 수행</a:t>
                </a:r>
              </a:p>
            </p:txBody>
          </p:sp>
          <p:sp>
            <p:nvSpPr>
              <p:cNvPr id="15" name="TextBox 14"/>
              <p:cNvSpPr txBox="1"/>
              <p:nvPr userDrawn="1"/>
            </p:nvSpPr>
            <p:spPr>
              <a:xfrm>
                <a:off x="682019" y="361291"/>
                <a:ext cx="65946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en-US" altLang="ko-KR" sz="2400" b="1" spc="-149" dirty="0">
                    <a:solidFill>
                      <a:srgbClr val="2F5597"/>
                    </a:solidFill>
                    <a:latin typeface="KoPub바탕체 Bold" panose="02020603020101020101" pitchFamily="18" charset="-127"/>
                    <a:ea typeface="KoPub바탕체 Bold" panose="02020603020101020101" pitchFamily="18" charset="-127"/>
                  </a:rPr>
                  <a:t>Ⅱ</a:t>
                </a:r>
              </a:p>
            </p:txBody>
          </p:sp>
        </p:grpSp>
      </p:grp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9" y="6453338"/>
            <a:ext cx="1315921" cy="28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603790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 userDrawn="1"/>
        </p:nvGrpSpPr>
        <p:grpSpPr>
          <a:xfrm>
            <a:off x="2" y="179041"/>
            <a:ext cx="9905999" cy="845935"/>
            <a:chOff x="0" y="179039"/>
            <a:chExt cx="9905999" cy="845935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BC8E508-6C13-4058-B8E4-A9A3D835C96C}"/>
                </a:ext>
              </a:extLst>
            </p:cNvPr>
            <p:cNvSpPr/>
            <p:nvPr userDrawn="1"/>
          </p:nvSpPr>
          <p:spPr>
            <a:xfrm>
              <a:off x="0" y="336883"/>
              <a:ext cx="9905999" cy="530249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25" name="양쪽 모서리가 둥근 사각형 24"/>
            <p:cNvSpPr/>
            <p:nvPr userDrawn="1"/>
          </p:nvSpPr>
          <p:spPr bwMode="auto">
            <a:xfrm rot="10800000">
              <a:off x="8476721" y="179039"/>
              <a:ext cx="1102314" cy="845935"/>
            </a:xfrm>
            <a:prstGeom prst="round2SameRect">
              <a:avLst/>
            </a:prstGeom>
            <a:solidFill>
              <a:schemeClr val="bg1"/>
            </a:solidFill>
            <a:ln w="571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>
                <a:spcBef>
                  <a:spcPct val="0"/>
                </a:spcBef>
              </a:pPr>
              <a:endParaRPr lang="ko-KR" altLang="en-US" dirty="0">
                <a:solidFill>
                  <a:prstClr val="black"/>
                </a:solidFill>
                <a:latin typeface="KoPub돋움체 Medium" panose="00000600000000000000" pitchFamily="2" charset="-127"/>
                <a:ea typeface="굴림" charset="-127"/>
              </a:endParaRPr>
            </a:p>
          </p:txBody>
        </p:sp>
        <p:grpSp>
          <p:nvGrpSpPr>
            <p:cNvPr id="26" name="그룹 25"/>
            <p:cNvGrpSpPr/>
            <p:nvPr userDrawn="1"/>
          </p:nvGrpSpPr>
          <p:grpSpPr>
            <a:xfrm>
              <a:off x="8403446" y="219120"/>
              <a:ext cx="1248865" cy="713109"/>
              <a:chOff x="387318" y="361291"/>
              <a:chExt cx="1248865" cy="713109"/>
            </a:xfrm>
          </p:grpSpPr>
          <p:sp>
            <p:nvSpPr>
              <p:cNvPr id="27" name="TextBox 26"/>
              <p:cNvSpPr txBox="1"/>
              <p:nvPr userDrawn="1"/>
            </p:nvSpPr>
            <p:spPr>
              <a:xfrm>
                <a:off x="387318" y="735846"/>
                <a:ext cx="124886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ko-KR" altLang="en-US" sz="1600" spc="-149" dirty="0">
                    <a:solidFill>
                      <a:srgbClr val="2F5597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추진 계획</a:t>
                </a:r>
              </a:p>
            </p:txBody>
          </p:sp>
          <p:sp>
            <p:nvSpPr>
              <p:cNvPr id="28" name="TextBox 27"/>
              <p:cNvSpPr txBox="1"/>
              <p:nvPr userDrawn="1"/>
            </p:nvSpPr>
            <p:spPr>
              <a:xfrm>
                <a:off x="682019" y="361291"/>
                <a:ext cx="65946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en-US" altLang="ko-KR" sz="2400" b="1" spc="-149" dirty="0">
                    <a:solidFill>
                      <a:srgbClr val="2F5597"/>
                    </a:solidFill>
                    <a:latin typeface="KoPub바탕체 Bold" panose="02020603020101020101" pitchFamily="18" charset="-127"/>
                    <a:ea typeface="KoPub바탕체 Bold" panose="02020603020101020101" pitchFamily="18" charset="-127"/>
                  </a:rPr>
                  <a:t>Ⅲ</a:t>
                </a:r>
              </a:p>
            </p:txBody>
          </p:sp>
        </p:grpSp>
      </p:grpSp>
      <p:sp>
        <p:nvSpPr>
          <p:cNvPr id="30" name="직사각형 29"/>
          <p:cNvSpPr/>
          <p:nvPr userDrawn="1"/>
        </p:nvSpPr>
        <p:spPr>
          <a:xfrm>
            <a:off x="409676" y="64443"/>
            <a:ext cx="4471316" cy="25391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marR="0" lvl="1" indent="-85725" algn="l" defTabSz="9143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400"/>
              </a:buClr>
              <a:buSzPct val="140000"/>
              <a:buFontTx/>
              <a:buNone/>
              <a:tabLst>
                <a:tab pos="5645238" algn="l"/>
              </a:tabLst>
              <a:defRPr/>
            </a:pPr>
            <a:r>
              <a:rPr kumimoji="1" lang="ko-KR" altLang="en-US" sz="1050" b="0" i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국가기준점 지자기측량 발전방안 연구</a:t>
            </a:r>
            <a:endParaRPr kumimoji="1" lang="ko-KR" altLang="en-US" sz="1050" b="0" i="0" kern="1200" spc="-100" baseline="0" dirty="0">
              <a:solidFill>
                <a:schemeClr val="tx1">
                  <a:lumMod val="65000"/>
                  <a:lumOff val="3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  <a:sym typeface="Monotype Sorts"/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9" y="6453338"/>
            <a:ext cx="1315921" cy="28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23025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/>
          <p:cNvSpPr/>
          <p:nvPr userDrawn="1"/>
        </p:nvSpPr>
        <p:spPr>
          <a:xfrm>
            <a:off x="409676" y="64443"/>
            <a:ext cx="4471316" cy="25391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marR="0" lvl="1" indent="-85725" algn="l" defTabSz="9143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400"/>
              </a:buClr>
              <a:buSzPct val="140000"/>
              <a:buFontTx/>
              <a:buNone/>
              <a:tabLst>
                <a:tab pos="5645238" algn="l"/>
              </a:tabLst>
              <a:defRPr/>
            </a:pPr>
            <a:r>
              <a:rPr kumimoji="1" lang="ko-KR" altLang="en-US" sz="1050" b="0" i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국가기준점 지자기측량 발전방안 연구</a:t>
            </a:r>
            <a:endParaRPr kumimoji="1" lang="ko-KR" altLang="en-US" sz="1050" b="0" i="0" kern="1200" spc="-100" baseline="0" dirty="0">
              <a:solidFill>
                <a:schemeClr val="tx1">
                  <a:lumMod val="65000"/>
                  <a:lumOff val="3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  <a:sym typeface="Monotype Sorts"/>
            </a:endParaRP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2" y="179041"/>
            <a:ext cx="9905999" cy="845935"/>
            <a:chOff x="0" y="179039"/>
            <a:chExt cx="9905999" cy="845935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BC8E508-6C13-4058-B8E4-A9A3D835C96C}"/>
                </a:ext>
              </a:extLst>
            </p:cNvPr>
            <p:cNvSpPr/>
            <p:nvPr userDrawn="1"/>
          </p:nvSpPr>
          <p:spPr>
            <a:xfrm>
              <a:off x="0" y="336883"/>
              <a:ext cx="9905999" cy="530249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2" name="양쪽 모서리가 둥근 사각형 11"/>
            <p:cNvSpPr/>
            <p:nvPr userDrawn="1"/>
          </p:nvSpPr>
          <p:spPr bwMode="auto">
            <a:xfrm rot="10800000">
              <a:off x="8476721" y="179039"/>
              <a:ext cx="1102314" cy="845935"/>
            </a:xfrm>
            <a:prstGeom prst="round2SameRect">
              <a:avLst/>
            </a:prstGeom>
            <a:solidFill>
              <a:schemeClr val="bg1"/>
            </a:solidFill>
            <a:ln w="571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>
                <a:spcBef>
                  <a:spcPct val="0"/>
                </a:spcBef>
              </a:pPr>
              <a:endParaRPr lang="ko-KR" altLang="en-US" dirty="0">
                <a:solidFill>
                  <a:prstClr val="black"/>
                </a:solidFill>
                <a:latin typeface="KoPub돋움체 Medium" panose="00000600000000000000" pitchFamily="2" charset="-127"/>
                <a:ea typeface="굴림" charset="-127"/>
              </a:endParaRPr>
            </a:p>
          </p:txBody>
        </p:sp>
        <p:grpSp>
          <p:nvGrpSpPr>
            <p:cNvPr id="13" name="그룹 12"/>
            <p:cNvGrpSpPr/>
            <p:nvPr userDrawn="1"/>
          </p:nvGrpSpPr>
          <p:grpSpPr>
            <a:xfrm>
              <a:off x="8403446" y="219120"/>
              <a:ext cx="1248865" cy="713109"/>
              <a:chOff x="387318" y="361291"/>
              <a:chExt cx="1248865" cy="713109"/>
            </a:xfrm>
          </p:grpSpPr>
          <p:sp>
            <p:nvSpPr>
              <p:cNvPr id="14" name="TextBox 13"/>
              <p:cNvSpPr txBox="1"/>
              <p:nvPr userDrawn="1"/>
            </p:nvSpPr>
            <p:spPr>
              <a:xfrm>
                <a:off x="387318" y="735846"/>
                <a:ext cx="124886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ko-KR" altLang="en-US" sz="1600" spc="-149" dirty="0">
                    <a:solidFill>
                      <a:srgbClr val="2F5597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추진 일정</a:t>
                </a:r>
              </a:p>
            </p:txBody>
          </p:sp>
          <p:sp>
            <p:nvSpPr>
              <p:cNvPr id="15" name="TextBox 14"/>
              <p:cNvSpPr txBox="1"/>
              <p:nvPr userDrawn="1"/>
            </p:nvSpPr>
            <p:spPr>
              <a:xfrm>
                <a:off x="682019" y="361291"/>
                <a:ext cx="65946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en-US" altLang="ko-KR" sz="2400" b="1" spc="-149" dirty="0">
                    <a:solidFill>
                      <a:srgbClr val="2F5597"/>
                    </a:solidFill>
                    <a:latin typeface="KoPub바탕체 Bold" panose="02020603020101020101" pitchFamily="18" charset="-127"/>
                    <a:ea typeface="KoPub바탕체 Bold" panose="02020603020101020101" pitchFamily="18" charset="-127"/>
                  </a:rPr>
                  <a:t>Ⅳ</a:t>
                </a:r>
              </a:p>
            </p:txBody>
          </p:sp>
        </p:grpSp>
      </p:grp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9" y="6453338"/>
            <a:ext cx="1315921" cy="28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263714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/>
          <p:cNvGrpSpPr/>
          <p:nvPr userDrawn="1"/>
        </p:nvGrpSpPr>
        <p:grpSpPr>
          <a:xfrm>
            <a:off x="2" y="179041"/>
            <a:ext cx="9905999" cy="845935"/>
            <a:chOff x="0" y="179039"/>
            <a:chExt cx="9905999" cy="845935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BC8E508-6C13-4058-B8E4-A9A3D835C96C}"/>
                </a:ext>
              </a:extLst>
            </p:cNvPr>
            <p:cNvSpPr/>
            <p:nvPr userDrawn="1"/>
          </p:nvSpPr>
          <p:spPr>
            <a:xfrm>
              <a:off x="0" y="336883"/>
              <a:ext cx="9905999" cy="530249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25" name="양쪽 모서리가 둥근 사각형 24"/>
            <p:cNvSpPr/>
            <p:nvPr userDrawn="1"/>
          </p:nvSpPr>
          <p:spPr bwMode="auto">
            <a:xfrm rot="10800000">
              <a:off x="8481392" y="179039"/>
              <a:ext cx="1102314" cy="845935"/>
            </a:xfrm>
            <a:prstGeom prst="round2SameRect">
              <a:avLst/>
            </a:prstGeom>
            <a:solidFill>
              <a:schemeClr val="bg1"/>
            </a:solidFill>
            <a:ln w="571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>
                <a:spcBef>
                  <a:spcPct val="0"/>
                </a:spcBef>
              </a:pPr>
              <a:endParaRPr lang="ko-KR" altLang="en-US" dirty="0">
                <a:solidFill>
                  <a:prstClr val="black"/>
                </a:solidFill>
                <a:latin typeface="KoPub돋움체 Medium" panose="00000600000000000000" pitchFamily="2" charset="-127"/>
                <a:ea typeface="굴림" charset="-127"/>
              </a:endParaRPr>
            </a:p>
          </p:txBody>
        </p:sp>
      </p:grpSp>
      <p:grpSp>
        <p:nvGrpSpPr>
          <p:cNvPr id="26" name="그룹 25"/>
          <p:cNvGrpSpPr/>
          <p:nvPr userDrawn="1"/>
        </p:nvGrpSpPr>
        <p:grpSpPr>
          <a:xfrm>
            <a:off x="8409385" y="219121"/>
            <a:ext cx="1248865" cy="713109"/>
            <a:chOff x="387318" y="361291"/>
            <a:chExt cx="1248865" cy="713109"/>
          </a:xfrm>
        </p:grpSpPr>
        <p:sp>
          <p:nvSpPr>
            <p:cNvPr id="27" name="TextBox 26"/>
            <p:cNvSpPr txBox="1"/>
            <p:nvPr userDrawn="1"/>
          </p:nvSpPr>
          <p:spPr>
            <a:xfrm>
              <a:off x="387318" y="735846"/>
              <a:ext cx="12488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>
                <a:bevelT w="0" h="38100"/>
              </a:sp3d>
            </a:bodyPr>
            <a:lstStyle/>
            <a:p>
              <a:pPr>
                <a:spcBef>
                  <a:spcPts val="19"/>
                </a:spcBef>
              </a:pPr>
              <a:r>
                <a:rPr lang="ko-KR" altLang="en-US" sz="1600" spc="-149" dirty="0">
                  <a:solidFill>
                    <a:srgbClr val="2F5597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기대 효과</a:t>
              </a:r>
            </a:p>
          </p:txBody>
        </p:sp>
        <p:sp>
          <p:nvSpPr>
            <p:cNvPr id="29" name="TextBox 28"/>
            <p:cNvSpPr txBox="1"/>
            <p:nvPr userDrawn="1"/>
          </p:nvSpPr>
          <p:spPr>
            <a:xfrm>
              <a:off x="661699" y="361291"/>
              <a:ext cx="6594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>
                <a:bevelT w="0" h="38100"/>
              </a:sp3d>
            </a:bodyPr>
            <a:lstStyle/>
            <a:p>
              <a:pPr>
                <a:spcBef>
                  <a:spcPts val="19"/>
                </a:spcBef>
              </a:pPr>
              <a:r>
                <a:rPr lang="en-US" altLang="ko-KR" sz="2400" b="1" spc="-149" dirty="0">
                  <a:solidFill>
                    <a:srgbClr val="2F5597"/>
                  </a:solidFill>
                  <a:latin typeface="KoPub바탕체 Bold" panose="02020603020101020101" pitchFamily="18" charset="-127"/>
                  <a:ea typeface="KoPub바탕체 Bold" panose="02020603020101020101" pitchFamily="18" charset="-127"/>
                </a:rPr>
                <a:t>Ⅴ</a:t>
              </a:r>
            </a:p>
          </p:txBody>
        </p:sp>
      </p:grpSp>
      <p:sp>
        <p:nvSpPr>
          <p:cNvPr id="10" name="직사각형 9"/>
          <p:cNvSpPr/>
          <p:nvPr userDrawn="1"/>
        </p:nvSpPr>
        <p:spPr>
          <a:xfrm>
            <a:off x="409676" y="64443"/>
            <a:ext cx="4471316" cy="25391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marR="0" lvl="1" indent="-85725" algn="l" defTabSz="9143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400"/>
              </a:buClr>
              <a:buSzPct val="140000"/>
              <a:buFontTx/>
              <a:buNone/>
              <a:tabLst>
                <a:tab pos="5645238" algn="l"/>
              </a:tabLst>
              <a:defRPr/>
            </a:pPr>
            <a:r>
              <a:rPr kumimoji="1" lang="ko-KR" altLang="en-US" sz="1050" b="0" i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국가기준점 지자기측량 발전방안 연구</a:t>
            </a:r>
            <a:endParaRPr kumimoji="1" lang="ko-KR" altLang="en-US" sz="1050" b="0" i="0" kern="1200" spc="-100" baseline="0" dirty="0">
              <a:solidFill>
                <a:schemeClr val="tx1">
                  <a:lumMod val="65000"/>
                  <a:lumOff val="3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  <a:sym typeface="Monotype Sorts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9" y="6453338"/>
            <a:ext cx="1315921" cy="28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74355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/>
          <p:cNvGrpSpPr/>
          <p:nvPr userDrawn="1"/>
        </p:nvGrpSpPr>
        <p:grpSpPr>
          <a:xfrm>
            <a:off x="2" y="179041"/>
            <a:ext cx="9905999" cy="845935"/>
            <a:chOff x="0" y="179039"/>
            <a:chExt cx="9905999" cy="845935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BC8E508-6C13-4058-B8E4-A9A3D835C96C}"/>
                </a:ext>
              </a:extLst>
            </p:cNvPr>
            <p:cNvSpPr/>
            <p:nvPr userDrawn="1"/>
          </p:nvSpPr>
          <p:spPr>
            <a:xfrm>
              <a:off x="0" y="336883"/>
              <a:ext cx="9905999" cy="530249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25" name="양쪽 모서리가 둥근 사각형 24"/>
            <p:cNvSpPr/>
            <p:nvPr userDrawn="1"/>
          </p:nvSpPr>
          <p:spPr bwMode="auto">
            <a:xfrm rot="10800000">
              <a:off x="8481392" y="179039"/>
              <a:ext cx="1102314" cy="845935"/>
            </a:xfrm>
            <a:prstGeom prst="round2SameRect">
              <a:avLst/>
            </a:prstGeom>
            <a:solidFill>
              <a:schemeClr val="bg1"/>
            </a:solidFill>
            <a:ln w="571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>
                <a:spcBef>
                  <a:spcPct val="0"/>
                </a:spcBef>
              </a:pPr>
              <a:endParaRPr lang="ko-KR" altLang="en-US" dirty="0">
                <a:solidFill>
                  <a:prstClr val="black"/>
                </a:solidFill>
                <a:latin typeface="KoPub돋움체 Medium" panose="00000600000000000000" pitchFamily="2" charset="-127"/>
                <a:ea typeface="굴림" charset="-127"/>
              </a:endParaRPr>
            </a:p>
          </p:txBody>
        </p:sp>
      </p:grpSp>
      <p:grpSp>
        <p:nvGrpSpPr>
          <p:cNvPr id="26" name="그룹 25"/>
          <p:cNvGrpSpPr/>
          <p:nvPr userDrawn="1"/>
        </p:nvGrpSpPr>
        <p:grpSpPr>
          <a:xfrm>
            <a:off x="8409385" y="219121"/>
            <a:ext cx="1248865" cy="713109"/>
            <a:chOff x="387318" y="361291"/>
            <a:chExt cx="1248865" cy="713109"/>
          </a:xfrm>
        </p:grpSpPr>
        <p:sp>
          <p:nvSpPr>
            <p:cNvPr id="27" name="TextBox 26"/>
            <p:cNvSpPr txBox="1"/>
            <p:nvPr userDrawn="1"/>
          </p:nvSpPr>
          <p:spPr>
            <a:xfrm>
              <a:off x="387318" y="735846"/>
              <a:ext cx="12488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>
                <a:bevelT w="0" h="38100"/>
              </a:sp3d>
            </a:bodyPr>
            <a:lstStyle/>
            <a:p>
              <a:pPr>
                <a:spcBef>
                  <a:spcPts val="19"/>
                </a:spcBef>
              </a:pPr>
              <a:r>
                <a:rPr lang="ko-KR" altLang="en-US" sz="1600" spc="-149" dirty="0">
                  <a:solidFill>
                    <a:srgbClr val="2F5597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자문 의견</a:t>
              </a:r>
            </a:p>
          </p:txBody>
        </p:sp>
        <p:sp>
          <p:nvSpPr>
            <p:cNvPr id="29" name="TextBox 28"/>
            <p:cNvSpPr txBox="1"/>
            <p:nvPr userDrawn="1"/>
          </p:nvSpPr>
          <p:spPr>
            <a:xfrm>
              <a:off x="661699" y="361291"/>
              <a:ext cx="6594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>
                <a:bevelT w="0" h="38100"/>
              </a:sp3d>
            </a:bodyPr>
            <a:lstStyle/>
            <a:p>
              <a:pPr>
                <a:spcBef>
                  <a:spcPts val="19"/>
                </a:spcBef>
              </a:pPr>
              <a:r>
                <a:rPr lang="en-US" altLang="ko-KR" sz="2400" b="1" spc="-149" dirty="0">
                  <a:solidFill>
                    <a:srgbClr val="2F5597"/>
                  </a:solidFill>
                  <a:latin typeface="KoPub바탕체 Bold" panose="02020603020101020101" pitchFamily="18" charset="-127"/>
                  <a:ea typeface="KoPub바탕체 Bold" panose="02020603020101020101" pitchFamily="18" charset="-127"/>
                </a:rPr>
                <a:t>Ⅵ</a:t>
              </a:r>
            </a:p>
          </p:txBody>
        </p:sp>
      </p:grpSp>
      <p:sp>
        <p:nvSpPr>
          <p:cNvPr id="10" name="직사각형 9"/>
          <p:cNvSpPr/>
          <p:nvPr userDrawn="1"/>
        </p:nvSpPr>
        <p:spPr>
          <a:xfrm>
            <a:off x="409676" y="64443"/>
            <a:ext cx="4471316" cy="25391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marR="0" lvl="1" indent="-85725" algn="l" defTabSz="9143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400"/>
              </a:buClr>
              <a:buSzPct val="140000"/>
              <a:buFontTx/>
              <a:buNone/>
              <a:tabLst>
                <a:tab pos="5645238" algn="l"/>
              </a:tabLst>
              <a:defRPr/>
            </a:pPr>
            <a:r>
              <a:rPr kumimoji="1" lang="ko-KR" altLang="en-US" sz="1050" b="0" i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국가기준점 지자기측량 발전방안 연구</a:t>
            </a:r>
            <a:endParaRPr kumimoji="1" lang="ko-KR" altLang="en-US" sz="1050" b="0" i="0" kern="1200" spc="-100" baseline="0" dirty="0">
              <a:solidFill>
                <a:schemeClr val="tx1">
                  <a:lumMod val="65000"/>
                  <a:lumOff val="3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  <a:sym typeface="Monotype Sorts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9" y="6453338"/>
            <a:ext cx="1315921" cy="28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252878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412226"/>
      </p:ext>
    </p:extLst>
  </p:cSld>
  <p:clrMapOvr>
    <a:masterClrMapping/>
  </p:clrMapOvr>
  <p:transition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 userDrawn="1"/>
        </p:nvSpPr>
        <p:spPr>
          <a:xfrm>
            <a:off x="4774405" y="6662760"/>
            <a:ext cx="357190" cy="180000"/>
          </a:xfrm>
          <a:prstGeom prst="roundRect">
            <a:avLst/>
          </a:prstGeom>
          <a:noFill/>
          <a:ln w="6350"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50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spcBef>
                <a:spcPts val="0"/>
              </a:spcBef>
            </a:pPr>
            <a:fld id="{0565A694-3509-4BB5-ACAD-3B39F2CDDCBC}" type="slidenum">
              <a:rPr lang="en-US" altLang="ko-KR" sz="799" b="1" smtClean="0"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pPr algn="ctr">
                <a:spcBef>
                  <a:spcPts val="0"/>
                </a:spcBef>
              </a:pPr>
              <a:t>‹#›</a:t>
            </a:fld>
            <a:endParaRPr lang="ko-KR" altLang="en-US" sz="799" b="1" dirty="0">
              <a:solidFill>
                <a:schemeClr val="bg1">
                  <a:lumMod val="50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  <p:sldLayoutId id="2147483912" r:id="rId2"/>
    <p:sldLayoutId id="2147483913" r:id="rId3"/>
    <p:sldLayoutId id="2147483914" r:id="rId4"/>
    <p:sldLayoutId id="2147483915" r:id="rId5"/>
    <p:sldLayoutId id="2147483917" r:id="rId6"/>
    <p:sldLayoutId id="2147483918" r:id="rId7"/>
    <p:sldLayoutId id="2147483916" r:id="rId8"/>
  </p:sldLayoutIdLst>
  <p:transition>
    <p:fade/>
  </p:transition>
  <p:txStyles>
    <p:titleStyle>
      <a:lvl1pPr algn="ctr" defTabSz="914395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8" indent="-342898" algn="l" defTabSz="914395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46" indent="-285749" algn="l" defTabSz="914395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93" indent="-228599" algn="l" defTabSz="914395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91" indent="-228599" algn="l" defTabSz="914395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88" indent="-228599" algn="l" defTabSz="914395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85" indent="-228599" algn="l" defTabSz="91439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83" indent="-228599" algn="l" defTabSz="91439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80" indent="-228599" algn="l" defTabSz="91439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77" indent="-228599" algn="l" defTabSz="91439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7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5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92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9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87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84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81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79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em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em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em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3" y="-1"/>
            <a:ext cx="9926911" cy="6858001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460366" y="1292039"/>
            <a:ext cx="3836989" cy="2308324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ko-KR" altLang="en-US" sz="4800" b="1" spc="-300">
                <a:solidFill>
                  <a:srgbClr val="0C4D88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국가기준점 지자기측량 </a:t>
            </a:r>
            <a:r>
              <a:rPr lang="ko-KR" altLang="en-US" sz="4800" spc="-300">
                <a:solidFill>
                  <a:srgbClr val="0C4D88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발전방안 </a:t>
            </a:r>
            <a:r>
              <a:rPr lang="ko-KR" altLang="en-US" sz="4800" spc="-300" dirty="0">
                <a:solidFill>
                  <a:srgbClr val="0C4D88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연구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DF2A94-FF31-4C3D-B67C-4409C25624B1}"/>
              </a:ext>
            </a:extLst>
          </p:cNvPr>
          <p:cNvSpPr txBox="1"/>
          <p:nvPr/>
        </p:nvSpPr>
        <p:spPr>
          <a:xfrm>
            <a:off x="819562" y="3789040"/>
            <a:ext cx="14276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spc="-149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중간보고회</a:t>
            </a:r>
          </a:p>
        </p:txBody>
      </p:sp>
      <p:grpSp>
        <p:nvGrpSpPr>
          <p:cNvPr id="17" name="그룹 16"/>
          <p:cNvGrpSpPr/>
          <p:nvPr/>
        </p:nvGrpSpPr>
        <p:grpSpPr>
          <a:xfrm>
            <a:off x="285751" y="6152615"/>
            <a:ext cx="1923455" cy="388301"/>
            <a:chOff x="358774" y="9601838"/>
            <a:chExt cx="1923456" cy="388300"/>
          </a:xfrm>
        </p:grpSpPr>
        <p:sp>
          <p:nvSpPr>
            <p:cNvPr id="18" name="TextBox 17"/>
            <p:cNvSpPr txBox="1"/>
            <p:nvPr/>
          </p:nvSpPr>
          <p:spPr>
            <a:xfrm>
              <a:off x="930577" y="9645178"/>
              <a:ext cx="1351653" cy="338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spc="-100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공간정보연구원</a:t>
              </a:r>
              <a:endParaRPr lang="ko-KR" altLang="en-US" sz="1600" spc="-100" dirty="0">
                <a:solidFill>
                  <a:srgbClr val="F3F3F3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2517097D-EFA1-4265-B1DB-682CC713B7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8698" b="1907"/>
            <a:stretch/>
          </p:blipFill>
          <p:spPr>
            <a:xfrm>
              <a:off x="358774" y="9601838"/>
              <a:ext cx="682625" cy="3883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6EDF2A94-FF31-4C3D-B67C-4409C25624B1}"/>
              </a:ext>
            </a:extLst>
          </p:cNvPr>
          <p:cNvSpPr txBox="1"/>
          <p:nvPr/>
        </p:nvSpPr>
        <p:spPr>
          <a:xfrm>
            <a:off x="8769424" y="6202351"/>
            <a:ext cx="1140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600" spc="-100" dirty="0">
                <a:solidFill>
                  <a:srgbClr val="F3F3F3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2026. 8. 25.</a:t>
            </a:r>
            <a:endParaRPr lang="ko-KR" altLang="en-US" sz="1600" spc="-100" dirty="0">
              <a:solidFill>
                <a:srgbClr val="F3F3F3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66" y="596909"/>
            <a:ext cx="2570296" cy="56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10847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4063" y="295306"/>
            <a:ext cx="3691627" cy="3320204"/>
          </a:xfrm>
          <a:prstGeom prst="rect">
            <a:avLst/>
          </a:prstGeom>
        </p:spPr>
      </p:pic>
      <p:sp>
        <p:nvSpPr>
          <p:cNvPr id="19" name="직사각형 18"/>
          <p:cNvSpPr/>
          <p:nvPr/>
        </p:nvSpPr>
        <p:spPr>
          <a:xfrm>
            <a:off x="0" y="3314701"/>
            <a:ext cx="9906000" cy="3543300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18" name="TextBox 17"/>
          <p:cNvSpPr txBox="1"/>
          <p:nvPr/>
        </p:nvSpPr>
        <p:spPr>
          <a:xfrm>
            <a:off x="1493938" y="1788476"/>
            <a:ext cx="19944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400" dirty="0">
                <a:solidFill>
                  <a:srgbClr val="2F559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목   차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1195022" y="1531871"/>
            <a:ext cx="2893882" cy="338554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ko-KR" altLang="en-US" sz="1600" b="1" spc="-149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국가기준점</a:t>
            </a:r>
            <a:r>
              <a:rPr lang="ko-KR" altLang="en-US" sz="1600" b="1" spc="-149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지자기측량 발전방안 연구</a:t>
            </a:r>
            <a:endParaRPr lang="ko-KR" altLang="en-US" sz="1600" b="1" spc="-149" dirty="0"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sym typeface="Monotype Sorts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7" y="339226"/>
            <a:ext cx="1933991" cy="4254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E7F12A4-1D7E-099F-B66D-D57DEDD5C6B9}"/>
              </a:ext>
            </a:extLst>
          </p:cNvPr>
          <p:cNvSpPr txBox="1"/>
          <p:nvPr/>
        </p:nvSpPr>
        <p:spPr>
          <a:xfrm>
            <a:off x="200472" y="3738475"/>
            <a:ext cx="9017801" cy="189282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/>
          <a:p>
            <a:pPr marL="0" lvl="1">
              <a:lnSpc>
                <a:spcPct val="200000"/>
              </a:lnSpc>
              <a:spcBef>
                <a:spcPts val="20"/>
              </a:spcBef>
              <a:spcAft>
                <a:spcPts val="601"/>
              </a:spcAft>
            </a:pPr>
            <a:r>
              <a:rPr lang="en-US" altLang="ko-KR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Ⅰ.</a:t>
            </a:r>
            <a:r>
              <a:rPr lang="ko-KR" altLang="en-US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연구 개요              </a:t>
            </a:r>
            <a:r>
              <a:rPr lang="en-US" altLang="ko-KR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Ⅱ.</a:t>
            </a:r>
            <a:r>
              <a:rPr lang="ko-KR" altLang="en-US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연구진 현황            </a:t>
            </a:r>
            <a:r>
              <a:rPr lang="en-US" altLang="ko-KR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Ⅲ.</a:t>
            </a:r>
            <a:r>
              <a:rPr lang="ko-KR" altLang="en-US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연구 수행</a:t>
            </a:r>
            <a:endParaRPr lang="en-US" altLang="ko-KR" sz="2800" spc="-151" dirty="0"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0" lvl="1" algn="l">
              <a:lnSpc>
                <a:spcPct val="200000"/>
              </a:lnSpc>
              <a:spcBef>
                <a:spcPts val="20"/>
              </a:spcBef>
              <a:spcAft>
                <a:spcPts val="601"/>
              </a:spcAft>
            </a:pPr>
            <a:r>
              <a:rPr lang="en-US" altLang="ko-KR" sz="2800" spc="-151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      Ⅳ</a:t>
            </a:r>
            <a:r>
              <a:rPr lang="en-US" altLang="ko-KR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  <a:r>
              <a:rPr lang="ko-KR" altLang="en-US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추진 일정              </a:t>
            </a:r>
            <a:r>
              <a:rPr lang="en-US" altLang="ko-KR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Ⅴ</a:t>
            </a:r>
            <a:r>
              <a:rPr lang="en-US" altLang="ko-KR" sz="2800" spc="-151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  <a:r>
              <a:rPr lang="ko-KR" altLang="en-US" sz="2800" spc="-151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자문 의견</a:t>
            </a:r>
            <a:endParaRPr lang="ko-KR" altLang="en-US" sz="2800" spc="-151" dirty="0"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582964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0" y="-1"/>
            <a:ext cx="9906000" cy="6858001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25" name="액자 24"/>
          <p:cNvSpPr/>
          <p:nvPr/>
        </p:nvSpPr>
        <p:spPr>
          <a:xfrm>
            <a:off x="1279798" y="1881878"/>
            <a:ext cx="2664296" cy="2664296"/>
          </a:xfrm>
          <a:prstGeom prst="frame">
            <a:avLst>
              <a:gd name="adj1" fmla="val 66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72DD84C-63A5-4C1B-940D-DD0700290F8B}"/>
              </a:ext>
            </a:extLst>
          </p:cNvPr>
          <p:cNvSpPr/>
          <p:nvPr/>
        </p:nvSpPr>
        <p:spPr>
          <a:xfrm>
            <a:off x="1152196" y="1433560"/>
            <a:ext cx="2905969" cy="276999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ko-KR" altLang="en-US" sz="1200" spc="-149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국가기준점 지자기측량 발전방안 연구</a:t>
            </a:r>
            <a:endParaRPr lang="ko-KR" altLang="en-US" sz="1200" spc="-149">
              <a:solidFill>
                <a:schemeClr val="bg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sym typeface="Monotype Sort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67279" y="3173713"/>
            <a:ext cx="2289336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/>
          <a:p>
            <a:pPr marL="0" lvl="1" indent="-85725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ko-KR" altLang="en-US" sz="3600" spc="-149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연구 개요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89408" y="2132857"/>
            <a:ext cx="934892" cy="923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/>
          <a:p>
            <a:pPr>
              <a:spcBef>
                <a:spcPts val="19"/>
              </a:spcBef>
            </a:pPr>
            <a:r>
              <a:rPr lang="en-US" altLang="ko-KR" sz="5400" spc="-149" dirty="0">
                <a:solidFill>
                  <a:schemeClr val="bg1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Ⅰ</a:t>
            </a:r>
            <a:endParaRPr lang="ko-KR" altLang="en-US" sz="5400" spc="-149" dirty="0">
              <a:solidFill>
                <a:schemeClr val="bg1"/>
              </a:solidFill>
              <a:latin typeface="KoPub바탕체 Bold" panose="02020603020101020101" pitchFamily="18" charset="-127"/>
              <a:ea typeface="KoPub바탕체 Bold" panose="02020603020101020101" pitchFamily="18" charset="-127"/>
            </a:endParaRPr>
          </a:p>
        </p:txBody>
      </p:sp>
      <p:cxnSp>
        <p:nvCxnSpPr>
          <p:cNvPr id="15" name="직선 연결선 14"/>
          <p:cNvCxnSpPr/>
          <p:nvPr/>
        </p:nvCxnSpPr>
        <p:spPr>
          <a:xfrm>
            <a:off x="2385584" y="3040109"/>
            <a:ext cx="55039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7017" y="2132857"/>
            <a:ext cx="4650374" cy="4408539"/>
          </a:xfrm>
          <a:prstGeom prst="rect">
            <a:avLst/>
          </a:prstGeom>
          <a:solidFill>
            <a:srgbClr val="2F5596"/>
          </a:solidFill>
        </p:spPr>
      </p:pic>
    </p:spTree>
    <p:extLst>
      <p:ext uri="{BB962C8B-B14F-4D97-AF65-F5344CB8AC3E}">
        <p14:creationId xmlns:p14="http://schemas.microsoft.com/office/powerpoint/2010/main" val="3385075758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/>
          <p:cNvSpPr/>
          <p:nvPr/>
        </p:nvSpPr>
        <p:spPr>
          <a:xfrm>
            <a:off x="0" y="-1"/>
            <a:ext cx="9906000" cy="6858001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25" name="그룹 24"/>
          <p:cNvGrpSpPr/>
          <p:nvPr/>
        </p:nvGrpSpPr>
        <p:grpSpPr>
          <a:xfrm>
            <a:off x="1279798" y="1881875"/>
            <a:ext cx="2664296" cy="3779371"/>
            <a:chOff x="271685" y="251915"/>
            <a:chExt cx="1453411" cy="2061700"/>
          </a:xfrm>
        </p:grpSpPr>
        <p:sp>
          <p:nvSpPr>
            <p:cNvPr id="26" name="액자 25"/>
            <p:cNvSpPr/>
            <p:nvPr/>
          </p:nvSpPr>
          <p:spPr>
            <a:xfrm>
              <a:off x="271685" y="251915"/>
              <a:ext cx="1453411" cy="2061700"/>
            </a:xfrm>
            <a:prstGeom prst="frame">
              <a:avLst>
                <a:gd name="adj1" fmla="val 660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grpSp>
          <p:nvGrpSpPr>
            <p:cNvPr id="27" name="그룹 26"/>
            <p:cNvGrpSpPr/>
            <p:nvPr/>
          </p:nvGrpSpPr>
          <p:grpSpPr>
            <a:xfrm>
              <a:off x="373958" y="388829"/>
              <a:ext cx="1248865" cy="920384"/>
              <a:chOff x="133026" y="1199392"/>
              <a:chExt cx="1248865" cy="920384"/>
            </a:xfrm>
          </p:grpSpPr>
          <p:sp>
            <p:nvSpPr>
              <p:cNvPr id="28" name="TextBox 27"/>
              <p:cNvSpPr txBox="1"/>
              <p:nvPr/>
            </p:nvSpPr>
            <p:spPr>
              <a:xfrm>
                <a:off x="133026" y="1767193"/>
                <a:ext cx="1248865" cy="352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 marL="0" lvl="1" indent="-85725" latinLnBrk="0">
                  <a:spcBef>
                    <a:spcPct val="0"/>
                  </a:spcBef>
                  <a:buClr>
                    <a:srgbClr val="008400"/>
                  </a:buClr>
                  <a:buSzPct val="140000"/>
                  <a:tabLst>
                    <a:tab pos="5645238" algn="l"/>
                  </a:tabLst>
                  <a:defRPr/>
                </a:pPr>
                <a:r>
                  <a:rPr lang="ko-KR" altLang="en-US" sz="3600" kern="0" spc="-10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sysClr val="window" lastClr="FFFFFF"/>
                    </a:solidFill>
                    <a:latin typeface="KoPub돋움체 Bold"/>
                    <a:ea typeface="KoPub돋움체 Bold"/>
                  </a:rPr>
                  <a:t>연구</a:t>
                </a:r>
                <a:r>
                  <a:rPr lang="en-US" altLang="ko-KR" sz="3600" kern="0" spc="-10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sysClr val="window" lastClr="FFFFFF"/>
                    </a:solidFill>
                    <a:latin typeface="KoPub돋움체 Bold"/>
                    <a:ea typeface="KoPub돋움체 Bold"/>
                  </a:rPr>
                  <a:t> </a:t>
                </a:r>
                <a:r>
                  <a:rPr lang="ko-KR" altLang="en-US" sz="3600" kern="0" spc="-10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sysClr val="window" lastClr="FFFFFF"/>
                    </a:solidFill>
                    <a:latin typeface="KoPub돋움체 Bold"/>
                    <a:ea typeface="KoPub돋움체 Bold"/>
                  </a:rPr>
                  <a:t>수행</a:t>
                </a:r>
                <a:endParaRPr lang="ko-KR" altLang="en-US" sz="3600" spc="-149" dirty="0"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526958" y="1199392"/>
                <a:ext cx="509997" cy="5036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en-US" altLang="ko-KR" sz="5400" spc="-149" dirty="0">
                    <a:solidFill>
                      <a:schemeClr val="bg1"/>
                    </a:solidFill>
                    <a:latin typeface="KoPub바탕체 Bold" panose="02020603020101020101" pitchFamily="18" charset="-127"/>
                    <a:ea typeface="KoPub바탕체 Bold" panose="02020603020101020101" pitchFamily="18" charset="-127"/>
                  </a:rPr>
                  <a:t>Ⅱ</a:t>
                </a:r>
                <a:endParaRPr lang="ko-KR" altLang="en-US" sz="5400" spc="-149" dirty="0">
                  <a:solidFill>
                    <a:schemeClr val="bg1"/>
                  </a:solidFill>
                  <a:latin typeface="KoPub바탕체 Bold" panose="02020603020101020101" pitchFamily="18" charset="-127"/>
                  <a:ea typeface="KoPub바탕체 Bold" panose="02020603020101020101" pitchFamily="18" charset="-127"/>
                </a:endParaRPr>
              </a:p>
            </p:txBody>
          </p:sp>
          <p:cxnSp>
            <p:nvCxnSpPr>
              <p:cNvPr id="30" name="직선 연결선 29"/>
              <p:cNvCxnSpPr/>
              <p:nvPr/>
            </p:nvCxnSpPr>
            <p:spPr>
              <a:xfrm>
                <a:off x="633975" y="1694311"/>
                <a:ext cx="300249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21" name="그림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8945" y="1744827"/>
            <a:ext cx="5144894" cy="5144894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D72DD84C-63A5-4C1B-940D-DD0700290F8B}"/>
              </a:ext>
            </a:extLst>
          </p:cNvPr>
          <p:cNvSpPr/>
          <p:nvPr/>
        </p:nvSpPr>
        <p:spPr>
          <a:xfrm>
            <a:off x="1152196" y="1433560"/>
            <a:ext cx="2905969" cy="276999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ko-KR" altLang="en-US" sz="1200" spc="-149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국가기준점 지자기측량 발전방안 연구</a:t>
            </a:r>
            <a:endParaRPr lang="ko-KR" altLang="en-US" sz="1200" spc="-149">
              <a:solidFill>
                <a:schemeClr val="bg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sym typeface="Monotype Sorts"/>
            </a:endParaRPr>
          </a:p>
        </p:txBody>
      </p:sp>
    </p:spTree>
    <p:extLst>
      <p:ext uri="{BB962C8B-B14F-4D97-AF65-F5344CB8AC3E}">
        <p14:creationId xmlns:p14="http://schemas.microsoft.com/office/powerpoint/2010/main" val="4051548010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8DC2F-8E2B-0D23-7A4C-985F03768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사각형: 둥근 모서리 5">
            <a:extLst>
              <a:ext uri="{FF2B5EF4-FFF2-40B4-BE49-F238E27FC236}">
                <a16:creationId xmlns:a16="http://schemas.microsoft.com/office/drawing/2014/main" id="{8D23F761-20D9-81C4-2A96-A11613835383}"/>
              </a:ext>
            </a:extLst>
          </p:cNvPr>
          <p:cNvSpPr/>
          <p:nvPr/>
        </p:nvSpPr>
        <p:spPr>
          <a:xfrm>
            <a:off x="292100" y="1222272"/>
            <a:ext cx="6101060" cy="43738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355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F05C9D-4957-8AB3-89BA-C63102714E8A}"/>
              </a:ext>
            </a:extLst>
          </p:cNvPr>
          <p:cNvSpPr txBox="1"/>
          <p:nvPr/>
        </p:nvSpPr>
        <p:spPr>
          <a:xfrm>
            <a:off x="957098" y="1194293"/>
            <a:ext cx="6228150" cy="4616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1pPr marL="92075" indent="-92075" defTabSz="1043056" latinLnBrk="0">
              <a:spcBef>
                <a:spcPts val="200"/>
              </a:spcBef>
              <a:buFont typeface="Arial" panose="020B0604020202020204" pitchFamily="34" charset="0"/>
              <a:buChar char="•"/>
              <a:defRPr sz="800" kern="0" spc="-10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</a:lstStyle>
          <a:p>
            <a:pPr marL="0" indent="0" algn="l">
              <a:spcBef>
                <a:spcPts val="0"/>
              </a:spcBef>
              <a:buClr>
                <a:prstClr val="white"/>
              </a:buClr>
              <a:buNone/>
              <a:defRPr/>
            </a:pP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기존 반복 관측 성과 기반 지자기모델 시범구축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EFC0963-CAFC-CE27-05BD-F0DDDED39546}"/>
              </a:ext>
            </a:extLst>
          </p:cNvPr>
          <p:cNvSpPr/>
          <p:nvPr/>
        </p:nvSpPr>
        <p:spPr>
          <a:xfrm>
            <a:off x="415924" y="335141"/>
            <a:ext cx="7561412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70" algn="l"/>
              </a:tabLst>
              <a:defRPr/>
            </a:pP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1.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기존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성과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기반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’25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년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지자기모델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시범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구축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5CFE1913-8F9A-64E4-6CA1-B62FB3EA098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grayscl/>
            <a:lum bright="-40000" contrast="-40000"/>
          </a:blip>
          <a:stretch>
            <a:fillRect/>
          </a:stretch>
        </p:blipFill>
        <p:spPr>
          <a:xfrm>
            <a:off x="473403" y="1236838"/>
            <a:ext cx="432048" cy="417271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411480" y="1828800"/>
            <a:ext cx="9079992" cy="658368"/>
          </a:xfrm>
          <a:prstGeom prst="rect">
            <a:avLst/>
          </a:prstGeom>
          <a:solidFill>
            <a:srgbClr val="FD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" y="1883664"/>
            <a:ext cx="8823960" cy="20116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95959"/>
                </a:solidFill>
                <a:latin typeface="KoPub돋움체 Medium"/>
              </a:rPr>
              <a:t>모델 개발에 사용한 자료 확인 (반복관측점 · 상시관측소 · 전지구모델)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" y="2084832"/>
            <a:ext cx="8823960" cy="347472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A1A1A"/>
                </a:solidFill>
                <a:latin typeface="KoPub돋움체 Bold"/>
              </a:rPr>
              <a:t>‘25년 시범모델은 반복관측 성과·상시관측소·전지구모델·항공자력 4종 자료로 구축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2651760"/>
            <a:ext cx="9079992" cy="310896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2670048"/>
            <a:ext cx="870783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구분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1719" y="2670048"/>
            <a:ext cx="2686781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자료원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16516" y="2670048"/>
            <a:ext cx="961583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규모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06115" y="2670048"/>
            <a:ext cx="214198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모델 내 역할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76113" y="2670048"/>
            <a:ext cx="177878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비고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2962656"/>
            <a:ext cx="9079992" cy="42062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2990087"/>
            <a:ext cx="870783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반복관측점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01719" y="2990087"/>
            <a:ext cx="2686781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지자기점 관측성과(’22~’25) + ’19년 야장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16516" y="2990087"/>
            <a:ext cx="961583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16점 · 31회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06115" y="2990087"/>
            <a:ext cx="21419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② Regional (공간분포)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76113" y="2990087"/>
            <a:ext cx="17787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재방문 불일치 2점 제외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3410711"/>
            <a:ext cx="870783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상시관측소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01719" y="3410711"/>
            <a:ext cx="2686781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청양(기상청) · 제주 · 강릉 · 이천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16516" y="3410711"/>
            <a:ext cx="961583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4개소 1분자료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06115" y="3410711"/>
            <a:ext cx="21419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④ External (시간변화)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76113" y="3410711"/>
            <a:ext cx="17787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관측시각 복원(’19~’25)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3803904"/>
            <a:ext cx="9079992" cy="42062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3831336"/>
            <a:ext cx="870783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전지구모델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01719" y="3831336"/>
            <a:ext cx="2686781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IGRF-14 (13차 구면조화)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16516" y="3831336"/>
            <a:ext cx="961583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4개 에폭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06115" y="3831336"/>
            <a:ext cx="21419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① Core (주자기장)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76113" y="3831336"/>
            <a:ext cx="17787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공식 계산기와 자릿수 내 일치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4251960"/>
            <a:ext cx="870783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항공자력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01719" y="4251960"/>
            <a:ext cx="2686781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KIGAM 자력이상도 1.5분 격자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16516" y="4251960"/>
            <a:ext cx="961583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약 2.8 km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06115" y="4251960"/>
            <a:ext cx="21419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③ Crustal (지각 자기이상)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76113" y="4251960"/>
            <a:ext cx="17787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원측선 자료는 부재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1480" y="2651760"/>
            <a:ext cx="9079992" cy="1993392"/>
          </a:xfrm>
          <a:prstGeom prst="rect">
            <a:avLst/>
          </a:prstGeom>
          <a:noFill/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411480" y="4846320"/>
            <a:ext cx="9079992" cy="11704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2F54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594360" y="4709159"/>
            <a:ext cx="2697480" cy="274320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94360" y="4727447"/>
            <a:ext cx="2697480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KoPub돋움체 Bold"/>
              </a:rPr>
              <a:t>청양 상시관측소 자료 활용 여부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7512" y="5120640"/>
            <a:ext cx="8567928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F5497"/>
                </a:solidFill>
                <a:latin typeface="KoPub돋움체 Bold"/>
              </a:rPr>
              <a:t>활용함 — 다만 청양 단독이 아니라 4개소 공간보간으로 적용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7512" y="5431536"/>
            <a:ext cx="8567928" cy="512064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자문의견(거리·위도 차이로 단독 적용 한계) 검토 결과, 4개소의 정온야간 기준선 대비 편차를 1차 평면으로 공간보간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자기폭풍(Kp 2 초과) 구간은 보간이 성립하지 않아 보정에서 제외하고, 편각에만 적용(총자력은 지각장 영향이 지배)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1480" y="6108192"/>
            <a:ext cx="9079992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95959"/>
                </a:solidFill>
                <a:latin typeface="KoPub돋움체 Medium"/>
              </a:rPr>
              <a:t>※ 반복관측 성과는 야장 원본과 대조하여 일변화·기준시점 환산이 적용되지 않은 원시값임을 확인함(매칭 18행 전부 표기 자릿수 이내 일치)</a:t>
            </a:r>
          </a:p>
        </p:txBody>
      </p:sp>
    </p:spTree>
    <p:extLst>
      <p:ext uri="{BB962C8B-B14F-4D97-AF65-F5344CB8AC3E}">
        <p14:creationId xmlns:p14="http://schemas.microsoft.com/office/powerpoint/2010/main" val="4236135929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7FFBC-97ED-C0E5-7D63-794E0C0B6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사각형: 둥근 모서리 5">
            <a:extLst>
              <a:ext uri="{FF2B5EF4-FFF2-40B4-BE49-F238E27FC236}">
                <a16:creationId xmlns:a16="http://schemas.microsoft.com/office/drawing/2014/main" id="{BF1C4B7C-2107-7718-4360-742351117A61}"/>
              </a:ext>
            </a:extLst>
          </p:cNvPr>
          <p:cNvSpPr/>
          <p:nvPr/>
        </p:nvSpPr>
        <p:spPr>
          <a:xfrm>
            <a:off x="292100" y="1222272"/>
            <a:ext cx="6677124" cy="43738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355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42D0B8-4CDB-74C8-FB7D-5684DB66BC4D}"/>
              </a:ext>
            </a:extLst>
          </p:cNvPr>
          <p:cNvSpPr txBox="1"/>
          <p:nvPr/>
        </p:nvSpPr>
        <p:spPr>
          <a:xfrm>
            <a:off x="957098" y="1194293"/>
            <a:ext cx="6228150" cy="4616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1pPr marL="92075" indent="-92075" defTabSz="1043056" latinLnBrk="0">
              <a:spcBef>
                <a:spcPts val="200"/>
              </a:spcBef>
              <a:buFont typeface="Arial" panose="020B0604020202020204" pitchFamily="34" charset="0"/>
              <a:buChar char="•"/>
              <a:defRPr sz="800" kern="0" spc="-10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</a:lstStyle>
          <a:p>
            <a:pPr marL="0" indent="0" algn="l">
              <a:spcBef>
                <a:spcPts val="0"/>
              </a:spcBef>
              <a:buClr>
                <a:prstClr val="white"/>
              </a:buClr>
              <a:buNone/>
              <a:defRPr/>
            </a:pP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LMM(국내외기준) 모델 비교 및 한계·개선방향 도출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BA6D15D-AD0B-E851-905B-B2F49AA0522D}"/>
              </a:ext>
            </a:extLst>
          </p:cNvPr>
          <p:cNvSpPr/>
          <p:nvPr/>
        </p:nvSpPr>
        <p:spPr>
          <a:xfrm>
            <a:off x="415924" y="335141"/>
            <a:ext cx="7561412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70" algn="l"/>
              </a:tabLst>
              <a:defRPr/>
            </a:pP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1.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기존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성과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기반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’25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년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지자기모델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시범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구축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5DF71A1-B3EA-C8D9-7F19-979489CDA75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grayscl/>
            <a:lum bright="-40000" contrast="-40000"/>
          </a:blip>
          <a:stretch>
            <a:fillRect/>
          </a:stretch>
        </p:blipFill>
        <p:spPr>
          <a:xfrm>
            <a:off x="473403" y="1236838"/>
            <a:ext cx="432048" cy="417271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411480" y="1828800"/>
            <a:ext cx="9079992" cy="603504"/>
          </a:xfrm>
          <a:prstGeom prst="rect">
            <a:avLst/>
          </a:prstGeom>
          <a:solidFill>
            <a:srgbClr val="FD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" y="1883664"/>
            <a:ext cx="8823960" cy="20116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95959"/>
                </a:solidFill>
                <a:latin typeface="KoPub돋움체 Medium"/>
              </a:rPr>
              <a:t>LMM 모델 개발에 필요한 4축 자료 / 이번 개발의 항공자력 포함 여부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" y="2084832"/>
            <a:ext cx="8823960" cy="347472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A1A1A"/>
                </a:solidFill>
                <a:latin typeface="KoPub돋움체 Bold"/>
              </a:rPr>
              <a:t>항공자력을 포함해 4축을 모두 구성 — 남은 제약은 지각축의 해상도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2523744"/>
            <a:ext cx="9079992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2F5497"/>
                </a:solidFill>
                <a:latin typeface="KoPub돋움체 Bold"/>
              </a:rPr>
              <a:t>B_LMM  =  ① Core(IGRF)  +  ② Regional(지역)  +  ③ Crustal(지각)  +  ④ External(외부장)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2834640"/>
            <a:ext cx="9079992" cy="310896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2852928"/>
            <a:ext cx="870783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01719" y="2852928"/>
            <a:ext cx="168798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자료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17717" y="2852928"/>
            <a:ext cx="3685580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이번 개발 반영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1314" y="2852928"/>
            <a:ext cx="2323581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한계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3145536"/>
            <a:ext cx="9079992" cy="402336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3172968"/>
            <a:ext cx="870783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① Core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01719" y="3172968"/>
            <a:ext cx="1687982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IGRF-14 (13차)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17717" y="3172968"/>
            <a:ext cx="3685580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반영 — 재현성 검증 통과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1314" y="3172968"/>
            <a:ext cx="2323581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3575303"/>
            <a:ext cx="870783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② Regional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01719" y="3575303"/>
            <a:ext cx="1687982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지표 절대측정 16점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17717" y="3575303"/>
            <a:ext cx="3685580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반영 — 1차 다항식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1314" y="3575303"/>
            <a:ext cx="2323581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권고 30점 대비 미달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3950208"/>
            <a:ext cx="9079992" cy="402336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3977640"/>
            <a:ext cx="870783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③ Crustal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01719" y="3977640"/>
            <a:ext cx="1687982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항공자력 2.8 km 격자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17717" y="3977640"/>
            <a:ext cx="3685580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반영 — 스칼라를 벡터로 복원해 편각·복각까지 적용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1314" y="3977640"/>
            <a:ext cx="2323581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C00000"/>
                </a:solidFill>
                <a:latin typeface="KoPub돋움체 Medium"/>
              </a:rPr>
              <a:t>원측선 부재로 해상도 상한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4379976"/>
            <a:ext cx="870783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④ External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01719" y="4379976"/>
            <a:ext cx="1687982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상시관측 4개소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17717" y="4379976"/>
            <a:ext cx="3685580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반영 — 정온 세션 178건, 편각 보정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31314" y="4379976"/>
            <a:ext cx="2323581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공간투영(NOC) 미구현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" y="2834640"/>
            <a:ext cx="9079992" cy="1920240"/>
          </a:xfrm>
          <a:prstGeom prst="rect">
            <a:avLst/>
          </a:prstGeom>
          <a:noFill/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11480" y="4956048"/>
            <a:ext cx="4430268" cy="113385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1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576072" y="4818888"/>
            <a:ext cx="2286000" cy="274320"/>
          </a:xfrm>
          <a:prstGeom prst="roundRect">
            <a:avLst>
              <a:gd name="adj" fmla="val 14000"/>
            </a:avLst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76072" y="4837176"/>
            <a:ext cx="2286000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KoPub돋움체 Bold"/>
              </a:rPr>
              <a:t>항공자력 포함(4축)의 효과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0936" y="5266944"/>
            <a:ext cx="3991356" cy="786384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총자력뿐 아니라 편각·복각에도 지각 자기이상을 반영</a:t>
            </a:r>
          </a:p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편각 교차검증 오차 0.540° → 0.340° 로 감소</a:t>
            </a:r>
          </a:p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편각 잔차의 약 6할을 지각 자기이상으로 설명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061204" y="4956048"/>
            <a:ext cx="4430268" cy="113385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5225796" y="4818888"/>
            <a:ext cx="2286000" cy="274320"/>
          </a:xfrm>
          <a:prstGeom prst="roundRect">
            <a:avLst>
              <a:gd name="adj" fmla="val 14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225796" y="4837176"/>
            <a:ext cx="2286000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KoPub돋움체 Bold"/>
              </a:rPr>
              <a:t>3축 수준에 머무르는 제약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80660" y="5266944"/>
            <a:ext cx="3991356" cy="786384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원측선(측선 100~250 m) 자료가 존재하지 않음</a:t>
            </a:r>
          </a:p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공개 격자 2.8 km 는 단파장을 평활 — 진폭 약 1.6배 부족</a:t>
            </a:r>
          </a:p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해상도 개선은 신규 자력측량 여부에 좌우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1480" y="6199632"/>
            <a:ext cx="9079992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95959"/>
                </a:solidFill>
                <a:latin typeface="KoPub돋움체 Medium"/>
              </a:rPr>
              <a:t>※ 스칼라 총자력 이상은 이상벡터를 주자기장 방향으로 투영한 값이므로, 파수영역 역산으로 3성분을 복원하여 편각·복각에 반영함</a:t>
            </a:r>
          </a:p>
        </p:txBody>
      </p:sp>
    </p:spTree>
    <p:extLst>
      <p:ext uri="{BB962C8B-B14F-4D97-AF65-F5344CB8AC3E}">
        <p14:creationId xmlns:p14="http://schemas.microsoft.com/office/powerpoint/2010/main" val="31505162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/>
          <p:cNvSpPr/>
          <p:nvPr/>
        </p:nvSpPr>
        <p:spPr>
          <a:xfrm>
            <a:off x="0" y="-1"/>
            <a:ext cx="9906000" cy="6858001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400" dirty="0"/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8945" y="1744827"/>
            <a:ext cx="5144894" cy="5144894"/>
          </a:xfrm>
          <a:prstGeom prst="rect">
            <a:avLst/>
          </a:prstGeom>
        </p:spPr>
      </p:pic>
      <p:grpSp>
        <p:nvGrpSpPr>
          <p:cNvPr id="31" name="그룹 30"/>
          <p:cNvGrpSpPr/>
          <p:nvPr/>
        </p:nvGrpSpPr>
        <p:grpSpPr>
          <a:xfrm>
            <a:off x="1279798" y="1881875"/>
            <a:ext cx="2664296" cy="3779371"/>
            <a:chOff x="271685" y="251915"/>
            <a:chExt cx="1453411" cy="2061700"/>
          </a:xfrm>
        </p:grpSpPr>
        <p:sp>
          <p:nvSpPr>
            <p:cNvPr id="32" name="액자 31"/>
            <p:cNvSpPr/>
            <p:nvPr/>
          </p:nvSpPr>
          <p:spPr>
            <a:xfrm>
              <a:off x="271685" y="251915"/>
              <a:ext cx="1453411" cy="2061700"/>
            </a:xfrm>
            <a:prstGeom prst="frame">
              <a:avLst>
                <a:gd name="adj1" fmla="val 660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grpSp>
          <p:nvGrpSpPr>
            <p:cNvPr id="33" name="그룹 32"/>
            <p:cNvGrpSpPr/>
            <p:nvPr/>
          </p:nvGrpSpPr>
          <p:grpSpPr>
            <a:xfrm>
              <a:off x="373958" y="388829"/>
              <a:ext cx="1248865" cy="957009"/>
              <a:chOff x="133026" y="1199392"/>
              <a:chExt cx="1248865" cy="957009"/>
            </a:xfrm>
          </p:grpSpPr>
          <p:sp>
            <p:nvSpPr>
              <p:cNvPr id="34" name="TextBox 33"/>
              <p:cNvSpPr txBox="1"/>
              <p:nvPr/>
            </p:nvSpPr>
            <p:spPr>
              <a:xfrm>
                <a:off x="133026" y="1767193"/>
                <a:ext cx="1248865" cy="352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 fontAlgn="ctr" latinLnBrk="0">
                  <a:spcBef>
                    <a:spcPts val="0"/>
                  </a:spcBef>
                  <a:spcAft>
                    <a:spcPts val="0"/>
                  </a:spcAft>
                  <a:buClr>
                    <a:schemeClr val="tx1">
                      <a:lumMod val="75000"/>
                      <a:lumOff val="25000"/>
                    </a:schemeClr>
                  </a:buClr>
                  <a:defRPr/>
                </a:pPr>
                <a:r>
                  <a:rPr lang="ko-KR" altLang="en-US" sz="3600" kern="0" spc="-10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sysClr val="window" lastClr="FFFFFF"/>
                    </a:solidFill>
                    <a:latin typeface="KoPub돋움체 Bold"/>
                    <a:ea typeface="KoPub돋움체 Bold"/>
                  </a:rPr>
                  <a:t>추진 계획</a:t>
                </a:r>
                <a:endParaRPr lang="ko-KR" altLang="en-US" sz="3600" spc="-149" dirty="0"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526958" y="1199392"/>
                <a:ext cx="509997" cy="9570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en-US" altLang="ko-KR" sz="5400" spc="-149" dirty="0">
                    <a:solidFill>
                      <a:schemeClr val="bg1"/>
                    </a:solidFill>
                    <a:latin typeface="KoPub바탕체 Bold" panose="02020603020101020101" pitchFamily="18" charset="-127"/>
                    <a:ea typeface="KoPub바탕체 Bold" panose="02020603020101020101" pitchFamily="18" charset="-127"/>
                  </a:rPr>
                  <a:t>Ⅲ</a:t>
                </a:r>
              </a:p>
              <a:p>
                <a:pPr>
                  <a:spcBef>
                    <a:spcPts val="19"/>
                  </a:spcBef>
                </a:pPr>
                <a:endParaRPr lang="ko-KR" altLang="en-US" sz="5400" spc="-149" dirty="0">
                  <a:solidFill>
                    <a:schemeClr val="bg1"/>
                  </a:solidFill>
                  <a:latin typeface="KoPub바탕체 Bold" panose="02020603020101020101" pitchFamily="18" charset="-127"/>
                  <a:ea typeface="KoPub바탕체 Bold" panose="02020603020101020101" pitchFamily="18" charset="-127"/>
                </a:endParaRPr>
              </a:p>
            </p:txBody>
          </p:sp>
          <p:cxnSp>
            <p:nvCxnSpPr>
              <p:cNvPr id="36" name="직선 연결선 35"/>
              <p:cNvCxnSpPr/>
              <p:nvPr/>
            </p:nvCxnSpPr>
            <p:spPr>
              <a:xfrm>
                <a:off x="633975" y="1694311"/>
                <a:ext cx="300249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72DD84C-63A5-4C1B-940D-DD0700290F8B}"/>
              </a:ext>
            </a:extLst>
          </p:cNvPr>
          <p:cNvSpPr/>
          <p:nvPr/>
        </p:nvSpPr>
        <p:spPr>
          <a:xfrm>
            <a:off x="1152196" y="1433560"/>
            <a:ext cx="2905969" cy="276999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ko-KR" altLang="en-US" sz="1200" spc="-149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국가기준점 지자기측량 발전방안 연구</a:t>
            </a:r>
            <a:endParaRPr lang="ko-KR" altLang="en-US" sz="1200" spc="-149">
              <a:solidFill>
                <a:schemeClr val="bg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sym typeface="Monotype Sorts"/>
            </a:endParaRPr>
          </a:p>
        </p:txBody>
      </p:sp>
    </p:spTree>
    <p:extLst>
      <p:ext uri="{BB962C8B-B14F-4D97-AF65-F5344CB8AC3E}">
        <p14:creationId xmlns:p14="http://schemas.microsoft.com/office/powerpoint/2010/main" val="19914143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" name="표 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446470"/>
              </p:ext>
            </p:extLst>
          </p:nvPr>
        </p:nvGraphicFramePr>
        <p:xfrm>
          <a:off x="4243039" y="1114337"/>
          <a:ext cx="5469685" cy="52669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1706">
                  <a:extLst>
                    <a:ext uri="{9D8B030D-6E8A-4147-A177-3AD203B41FA5}">
                      <a16:colId xmlns:a16="http://schemas.microsoft.com/office/drawing/2014/main" val="1994770068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3274784909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1271136756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1454480508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2242417261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3502918187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4098523856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2850868419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3764755481"/>
                    </a:ext>
                  </a:extLst>
                </a:gridCol>
                <a:gridCol w="684331">
                  <a:extLst>
                    <a:ext uri="{9D8B030D-6E8A-4147-A177-3AD203B41FA5}">
                      <a16:colId xmlns:a16="http://schemas.microsoft.com/office/drawing/2014/main" val="2311316655"/>
                    </a:ext>
                  </a:extLst>
                </a:gridCol>
              </a:tblGrid>
              <a:tr h="294483">
                <a:tc gridSpan="10"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10</a:t>
                      </a:r>
                      <a:r>
                        <a:rPr lang="ko-KR" altLang="en-US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개월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5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4F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7811392"/>
                  </a:ext>
                </a:extLst>
              </a:tr>
              <a:tr h="213160"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</a:t>
                      </a:r>
                      <a:endParaRPr lang="ko-KR" altLang="en-US" sz="12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itchFamily="2" charset="-127"/>
                        <a:ea typeface="KoPub돋움체 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M+1</a:t>
                      </a:r>
                      <a:endParaRPr lang="ko-KR" altLang="en-US" sz="12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itchFamily="2" charset="-127"/>
                        <a:ea typeface="KoPub돋움체 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M+2</a:t>
                      </a:r>
                      <a:endParaRPr lang="ko-KR" altLang="en-US" sz="12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itchFamily="2" charset="-127"/>
                        <a:ea typeface="KoPub돋움체 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M+3</a:t>
                      </a:r>
                      <a:endParaRPr lang="ko-KR" altLang="en-US" sz="12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itchFamily="2" charset="-127"/>
                        <a:ea typeface="KoPub돋움체 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M+4</a:t>
                      </a:r>
                      <a:endParaRPr lang="ko-KR" altLang="en-US" sz="12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itchFamily="2" charset="-127"/>
                        <a:ea typeface="KoPub돋움체 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M+5</a:t>
                      </a:r>
                      <a:endParaRPr lang="ko-KR" altLang="en-US" sz="12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itchFamily="2" charset="-127"/>
                        <a:ea typeface="KoPub돋움체 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M+6</a:t>
                      </a:r>
                      <a:endParaRPr lang="ko-KR" altLang="en-US" sz="12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itchFamily="2" charset="-127"/>
                        <a:ea typeface="KoPub돋움체 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9660859"/>
                  </a:ext>
                </a:extLst>
              </a:tr>
              <a:tr h="36686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500515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30129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0947219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7293327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kern="120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　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kern="120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7832206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270742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044408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882191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4691994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912993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260010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407810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922909"/>
                  </a:ext>
                </a:extLst>
              </a:tr>
            </a:tbl>
          </a:graphicData>
        </a:graphic>
      </p:graphicFrame>
      <p:sp>
        <p:nvSpPr>
          <p:cNvPr id="63" name="직사각형 62">
            <a:extLst>
              <a:ext uri="{FF2B5EF4-FFF2-40B4-BE49-F238E27FC236}">
                <a16:creationId xmlns:a16="http://schemas.microsoft.com/office/drawing/2014/main" id="{84CE72EE-92A6-4611-8B67-D338BCC15E02}"/>
              </a:ext>
            </a:extLst>
          </p:cNvPr>
          <p:cNvSpPr/>
          <p:nvPr/>
        </p:nvSpPr>
        <p:spPr>
          <a:xfrm>
            <a:off x="415924" y="335141"/>
            <a:ext cx="6337275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en-US" altLang="ko-KR" sz="2800" spc="-149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2. </a:t>
            </a:r>
            <a:r>
              <a:rPr lang="ko-KR" altLang="en-US" sz="2800" spc="-149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추진일정 및 세부계획</a:t>
            </a:r>
          </a:p>
        </p:txBody>
      </p:sp>
      <p:sp>
        <p:nvSpPr>
          <p:cNvPr id="70" name="Text Box 150"/>
          <p:cNvSpPr txBox="1">
            <a:spLocks noChangeArrowheads="1"/>
          </p:cNvSpPr>
          <p:nvPr/>
        </p:nvSpPr>
        <p:spPr bwMode="auto">
          <a:xfrm>
            <a:off x="8527150" y="6400619"/>
            <a:ext cx="1255116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9pPr>
          </a:lstStyle>
          <a:p>
            <a:pPr algn="l" defTabSz="1053657" eaLnBrk="1" hangingPunct="1">
              <a:spcBef>
                <a:spcPct val="0"/>
              </a:spcBef>
              <a:defRPr/>
            </a:pPr>
            <a:r>
              <a:rPr lang="en-US" altLang="ko-KR" sz="900" spc="-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※ </a:t>
            </a:r>
            <a:r>
              <a:rPr lang="ko-KR" altLang="en-US" sz="900" spc="-1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추진일정은 변경될 </a:t>
            </a:r>
            <a:r>
              <a:rPr lang="ko-KR" altLang="en-US" sz="900" spc="-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수 있음</a:t>
            </a:r>
            <a:r>
              <a:rPr lang="en-US" altLang="ko-KR" sz="900" spc="-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endParaRPr lang="ko-KR" altLang="en-US" sz="900" spc="-1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126288"/>
              </p:ext>
            </p:extLst>
          </p:nvPr>
        </p:nvGraphicFramePr>
        <p:xfrm>
          <a:off x="276228" y="1119413"/>
          <a:ext cx="3931171" cy="52619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0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01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500">
                <a:tc gridSpan="2">
                  <a:txBody>
                    <a:bodyPr/>
                    <a:lstStyle/>
                    <a:p>
                      <a:pPr marL="0" marR="0" lvl="1" indent="0" algn="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ko-KR" altLang="en-US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 개월  </a:t>
                      </a:r>
                    </a:p>
                    <a:p>
                      <a:pPr marL="0" marR="0" lvl="1" indent="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ko-KR" altLang="en-US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공 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5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4F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124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0" spc="-10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ysClr val="window" lastClr="FFFFFF"/>
                          </a:solidFill>
                          <a:latin typeface="KoPub돋움체 Bold"/>
                          <a:ea typeface="KoPub돋움체 Bold"/>
                          <a:cs typeface="+mn-cs"/>
                        </a:rPr>
                        <a:t>지자기 관측망 확대 방안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관측망 확대 및 유지관리 방안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9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관측망 확대 입지 분석 및 </a:t>
                      </a:r>
                      <a:r>
                        <a:rPr lang="ko-KR" altLang="en-US" sz="1100" b="0" kern="1200" spc="-10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표지설치</a:t>
                      </a:r>
                      <a:endParaRPr lang="ko-KR" altLang="en-US" sz="11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6678849"/>
                  </a:ext>
                </a:extLst>
              </a:tr>
              <a:tr h="3249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지자기 측량 장비 검 </a:t>
                      </a:r>
                      <a:r>
                        <a:rPr lang="en-US" altLang="ko-KR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교정 방안 마련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9913">
                <a:tc rowSpan="3"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0" spc="-100" noProof="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ysClr val="window" lastClr="FFFFFF"/>
                          </a:solidFill>
                          <a:latin typeface="KoPub돋움체 Bold"/>
                          <a:ea typeface="KoPub돋움체 Bold"/>
                          <a:cs typeface="+mn-cs"/>
                        </a:rPr>
                        <a:t>지자기 모델</a:t>
                      </a:r>
                      <a:endParaRPr lang="en-US" altLang="ko-KR" sz="1400" kern="0" spc="-100" noProof="0" dirty="0">
                        <a:ln>
                          <a:solidFill>
                            <a:srgbClr val="5B9BD5">
                              <a:alpha val="0"/>
                            </a:srgbClr>
                          </a:solidFill>
                        </a:ln>
                        <a:solidFill>
                          <a:sysClr val="window" lastClr="FFFFFF"/>
                        </a:solidFill>
                        <a:latin typeface="KoPub돋움체 Bold"/>
                        <a:ea typeface="KoPub돋움체 Bold"/>
                        <a:cs typeface="+mn-cs"/>
                      </a:endParaRPr>
                    </a:p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0" spc="-100" noProof="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ysClr val="window" lastClr="FFFFFF"/>
                          </a:solidFill>
                          <a:latin typeface="KoPub돋움체 Bold"/>
                          <a:ea typeface="KoPub돋움체 Bold"/>
                          <a:cs typeface="+mn-cs"/>
                        </a:rPr>
                        <a:t> 구축 방안</a:t>
                      </a:r>
                      <a:endParaRPr lang="en-US" altLang="ko-KR" sz="1400" kern="0" spc="-100" noProof="0" dirty="0">
                        <a:ln>
                          <a:solidFill>
                            <a:srgbClr val="5B9BD5">
                              <a:alpha val="0"/>
                            </a:srgbClr>
                          </a:solidFill>
                        </a:ln>
                        <a:solidFill>
                          <a:sysClr val="window" lastClr="FFFFFF"/>
                        </a:solidFill>
                        <a:latin typeface="KoPub돋움체 Bold"/>
                        <a:ea typeface="KoPub돋움체 Bold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지자기 모델 구축 유지관리 방안 마련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99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지자기 모델 </a:t>
                      </a:r>
                      <a:r>
                        <a:rPr lang="ko-KR" altLang="en-US" sz="1100" b="0" kern="1200" spc="-10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시범구축</a:t>
                      </a: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 최적 계산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760232"/>
                  </a:ext>
                </a:extLst>
              </a:tr>
              <a:tr h="389913">
                <a:tc vMerge="1">
                  <a:txBody>
                    <a:bodyPr/>
                    <a:lstStyle/>
                    <a:p>
                      <a:pPr marL="0" marR="0" lvl="0" indent="0" algn="ctr" defTabSz="99569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21212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5DBE7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1" spc="-10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anose="020B0600000101010101" pitchFamily="50" charset="-127"/>
                        </a:rPr>
                        <a:t>알고리즘 분석</a:t>
                      </a:r>
                      <a:r>
                        <a:rPr lang="en-US" altLang="ko-KR" sz="1100" b="1" spc="-10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anose="020B0600000101010101" pitchFamily="50" charset="-127"/>
                        </a:rPr>
                        <a:t>, </a:t>
                      </a:r>
                      <a:r>
                        <a:rPr lang="ko-KR" altLang="en-US" sz="1100" b="1" spc="-10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anose="020B0600000101010101" pitchFamily="50" charset="-127"/>
                        </a:rPr>
                        <a:t>갱신 주기</a:t>
                      </a:r>
                      <a:r>
                        <a:rPr lang="en-US" altLang="ko-KR" sz="1100" b="1" spc="-10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anose="020B0600000101010101" pitchFamily="50" charset="-127"/>
                        </a:rPr>
                        <a:t>·</a:t>
                      </a:r>
                      <a:r>
                        <a:rPr lang="ko-KR" altLang="en-US" sz="1100" b="1" spc="-10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anose="020B0600000101010101" pitchFamily="50" charset="-127"/>
                        </a:rPr>
                        <a:t>절차 마련</a:t>
                      </a:r>
                      <a:endParaRPr lang="ko-KR" altLang="en-US" sz="11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928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0" spc="-10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ysClr val="window" lastClr="FFFFFF"/>
                          </a:solidFill>
                          <a:latin typeface="KoPub돋움체 Bold"/>
                          <a:ea typeface="KoPub돋움체 Bold"/>
                          <a:cs typeface="+mn-cs"/>
                        </a:rPr>
                        <a:t>사용자 </a:t>
                      </a:r>
                      <a:endParaRPr lang="en-US" altLang="ko-KR" sz="1400" kern="0" spc="-100" dirty="0">
                        <a:ln>
                          <a:solidFill>
                            <a:srgbClr val="5B9BD5">
                              <a:alpha val="0"/>
                            </a:srgbClr>
                          </a:solidFill>
                        </a:ln>
                        <a:solidFill>
                          <a:sysClr val="window" lastClr="FFFFFF"/>
                        </a:solidFill>
                        <a:latin typeface="KoPub돋움체 Bold"/>
                        <a:ea typeface="KoPub돋움체 Bold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0" spc="-10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ysClr val="window" lastClr="FFFFFF"/>
                          </a:solidFill>
                          <a:latin typeface="KoPub돋움체 Bold"/>
                          <a:ea typeface="KoPub돋움체 Bold"/>
                          <a:cs typeface="+mn-cs"/>
                        </a:rPr>
                        <a:t>서비스 방안</a:t>
                      </a:r>
                      <a:endParaRPr lang="en-US" altLang="ko-KR" sz="1400" kern="0" spc="-100" dirty="0">
                        <a:ln>
                          <a:solidFill>
                            <a:srgbClr val="5B9BD5">
                              <a:alpha val="0"/>
                            </a:srgbClr>
                          </a:solidFill>
                        </a:ln>
                        <a:solidFill>
                          <a:sysClr val="window" lastClr="FFFFFF"/>
                        </a:solidFill>
                        <a:latin typeface="KoPub돋움체 Bold"/>
                        <a:ea typeface="KoPub돋움체 Bold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국가 지자기 모델 활용 확대 방안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664516"/>
                  </a:ext>
                </a:extLst>
              </a:tr>
              <a:tr h="3249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지구 지자기 모델과 시사점 도출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354218"/>
                  </a:ext>
                </a:extLst>
              </a:tr>
              <a:tr h="324928">
                <a:tc vMerge="1"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100" b="0" u="none" strike="noStrike" kern="1200" spc="-10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273E76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5DBE7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자침 </a:t>
                      </a:r>
                      <a:r>
                        <a:rPr lang="ko-KR" altLang="en-US" sz="1100" b="0" kern="1200" spc="-10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편차량</a:t>
                      </a: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 계산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99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자침 </a:t>
                      </a:r>
                      <a:r>
                        <a:rPr lang="ko-KR" altLang="en-US" sz="1100" b="0" kern="1200" spc="-10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편차량</a:t>
                      </a: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 계산 서비스 방안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559125"/>
                  </a:ext>
                </a:extLst>
              </a:tr>
              <a:tr h="389913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0" spc="-10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ysClr val="window" lastClr="FFFFFF"/>
                          </a:solidFill>
                          <a:latin typeface="KoPub돋움체 Bold"/>
                          <a:ea typeface="KoPub돋움체 Bold"/>
                          <a:cs typeface="+mn-cs"/>
                        </a:rPr>
                        <a:t>사업관리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자문회의 및 </a:t>
                      </a:r>
                      <a:r>
                        <a:rPr lang="ko-KR" altLang="en-US" sz="1100" b="0" kern="1200" spc="-10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연구진회의</a:t>
                      </a:r>
                      <a:endParaRPr lang="ko-KR" altLang="en-US" sz="11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661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보고회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6454943"/>
                  </a:ext>
                </a:extLst>
              </a:tr>
              <a:tr h="471980">
                <a:tc vMerge="1">
                  <a:txBody>
                    <a:bodyPr/>
                    <a:lstStyle/>
                    <a:p>
                      <a:pPr marL="0" marR="0" lvl="0" indent="0" algn="ctr" defTabSz="963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5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21212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659" marR="36659" marT="36659" marB="3665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7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7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성과품</a:t>
                      </a: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 제출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pSp>
        <p:nvGrpSpPr>
          <p:cNvPr id="7" name="그룹 6"/>
          <p:cNvGrpSpPr/>
          <p:nvPr/>
        </p:nvGrpSpPr>
        <p:grpSpPr>
          <a:xfrm>
            <a:off x="4239245" y="5413697"/>
            <a:ext cx="5483071" cy="84923"/>
            <a:chOff x="-130297" y="1896609"/>
            <a:chExt cx="5483070" cy="84922"/>
          </a:xfrm>
        </p:grpSpPr>
        <p:sp>
          <p:nvSpPr>
            <p:cNvPr id="8" name="Line 2124"/>
            <p:cNvSpPr>
              <a:spLocks noChangeShapeType="1"/>
            </p:cNvSpPr>
            <p:nvPr/>
          </p:nvSpPr>
          <p:spPr bwMode="auto">
            <a:xfrm flipV="1">
              <a:off x="-47239" y="1939071"/>
              <a:ext cx="5320963" cy="0"/>
            </a:xfrm>
            <a:prstGeom prst="line">
              <a:avLst/>
            </a:prstGeom>
            <a:noFill/>
            <a:ln w="25400" cap="rnd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0" tIns="0" rIns="0" bIns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endParaRPr lang="ko-KR" altLang="en-US" sz="900" spc="-1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ea typeface="+mn-ea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595C20FC-7BBD-47EA-90FE-26D2E77F5A8D}"/>
                </a:ext>
              </a:extLst>
            </p:cNvPr>
            <p:cNvSpPr/>
            <p:nvPr/>
          </p:nvSpPr>
          <p:spPr>
            <a:xfrm>
              <a:off x="-130297" y="1896609"/>
              <a:ext cx="94426" cy="84922"/>
            </a:xfrm>
            <a:prstGeom prst="ellipse">
              <a:avLst/>
            </a:prstGeom>
            <a:solidFill>
              <a:srgbClr val="FF9900"/>
            </a:solidFill>
            <a:ln w="1587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8856" rIns="0" bIns="38856" rtlCol="0" anchor="ctr"/>
            <a:lstStyle/>
            <a:p>
              <a:pPr algn="ctr" latinLnBrk="0"/>
              <a:endParaRPr lang="ko-KR" altLang="en-US" sz="1079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A6985E94-DE02-4410-9312-5D56D57F26BC}"/>
                </a:ext>
              </a:extLst>
            </p:cNvPr>
            <p:cNvSpPr/>
            <p:nvPr/>
          </p:nvSpPr>
          <p:spPr>
            <a:xfrm>
              <a:off x="5258347" y="1896609"/>
              <a:ext cx="94426" cy="84922"/>
            </a:xfrm>
            <a:prstGeom prst="ellipse">
              <a:avLst/>
            </a:prstGeom>
            <a:solidFill>
              <a:srgbClr val="FF9900"/>
            </a:solidFill>
            <a:ln w="1587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8856" rIns="0" bIns="38856" rtlCol="0" anchor="ctr"/>
            <a:lstStyle/>
            <a:p>
              <a:pPr algn="ctr" latinLnBrk="0"/>
              <a:endParaRPr lang="ko-KR" altLang="en-US" sz="1079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11" name="Text Box 150"/>
          <p:cNvSpPr txBox="1">
            <a:spLocks noChangeArrowheads="1"/>
          </p:cNvSpPr>
          <p:nvPr/>
        </p:nvSpPr>
        <p:spPr bwMode="auto">
          <a:xfrm>
            <a:off x="7839918" y="6553205"/>
            <a:ext cx="1759172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9pPr>
          </a:lstStyle>
          <a:p>
            <a:pPr algn="l" defTabSz="1053657" eaLnBrk="1" hangingPunct="1">
              <a:spcBef>
                <a:spcPct val="0"/>
              </a:spcBef>
              <a:defRPr/>
            </a:pPr>
            <a:r>
              <a:rPr lang="en-US" altLang="ko-KR" sz="900" spc="-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※ </a:t>
            </a:r>
            <a:r>
              <a:rPr lang="ko-KR" altLang="en-US" sz="900" spc="-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추진일정은 과업 진행 시 변경될 수 있음</a:t>
            </a:r>
            <a:r>
              <a:rPr lang="en-US" altLang="ko-KR" sz="900" spc="-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endParaRPr lang="ko-KR" altLang="en-US" sz="900" spc="-1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2" name="Rectangle 2064"/>
          <p:cNvSpPr>
            <a:spLocks noChangeArrowheads="1"/>
          </p:cNvSpPr>
          <p:nvPr/>
        </p:nvSpPr>
        <p:spPr bwMode="auto">
          <a:xfrm>
            <a:off x="4336068" y="5733256"/>
            <a:ext cx="620193" cy="184638"/>
          </a:xfrm>
          <a:prstGeom prst="rect">
            <a:avLst/>
          </a:prstGeom>
          <a:solidFill>
            <a:srgbClr val="91A5D3">
              <a:alpha val="4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defTabSz="497736" latinLnBrk="0">
              <a:lnSpc>
                <a:spcPct val="90000"/>
              </a:lnSpc>
            </a:pPr>
            <a:r>
              <a:rPr lang="ko-KR" altLang="en-US" sz="1100" spc="-1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1409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착수보고</a:t>
            </a:r>
          </a:p>
        </p:txBody>
      </p:sp>
      <p:sp>
        <p:nvSpPr>
          <p:cNvPr id="13" name="Rectangle 2064"/>
          <p:cNvSpPr>
            <a:spLocks noChangeArrowheads="1"/>
          </p:cNvSpPr>
          <p:nvPr/>
        </p:nvSpPr>
        <p:spPr bwMode="auto">
          <a:xfrm>
            <a:off x="6762749" y="5733256"/>
            <a:ext cx="577699" cy="184638"/>
          </a:xfrm>
          <a:prstGeom prst="rect">
            <a:avLst/>
          </a:prstGeom>
          <a:solidFill>
            <a:srgbClr val="91A5D3">
              <a:alpha val="4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defTabSz="497736" latinLnBrk="0">
              <a:lnSpc>
                <a:spcPct val="90000"/>
              </a:lnSpc>
            </a:pPr>
            <a:r>
              <a:rPr lang="ko-KR" altLang="en-US" sz="1100" spc="-1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1409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중간보고</a:t>
            </a:r>
          </a:p>
        </p:txBody>
      </p:sp>
      <p:sp>
        <p:nvSpPr>
          <p:cNvPr id="14" name="Rectangle 2064"/>
          <p:cNvSpPr>
            <a:spLocks noChangeArrowheads="1"/>
          </p:cNvSpPr>
          <p:nvPr/>
        </p:nvSpPr>
        <p:spPr bwMode="auto">
          <a:xfrm>
            <a:off x="8975857" y="5733256"/>
            <a:ext cx="588732" cy="184638"/>
          </a:xfrm>
          <a:prstGeom prst="rect">
            <a:avLst/>
          </a:prstGeom>
          <a:solidFill>
            <a:srgbClr val="91A5D3">
              <a:alpha val="4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defTabSz="497736" latinLnBrk="0">
              <a:lnSpc>
                <a:spcPct val="90000"/>
              </a:lnSpc>
            </a:pPr>
            <a:r>
              <a:rPr lang="ko-KR" altLang="en-US" sz="1100" spc="-1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1409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완료보고</a:t>
            </a:r>
          </a:p>
        </p:txBody>
      </p:sp>
      <p:sp>
        <p:nvSpPr>
          <p:cNvPr id="15" name="Text Box 2074"/>
          <p:cNvSpPr txBox="1">
            <a:spLocks noChangeArrowheads="1"/>
          </p:cNvSpPr>
          <p:nvPr/>
        </p:nvSpPr>
        <p:spPr bwMode="auto">
          <a:xfrm>
            <a:off x="6693326" y="5258294"/>
            <a:ext cx="831530" cy="15388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lvl1pPr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0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수시개최</a:t>
            </a:r>
            <a:endParaRPr lang="ko-KR" altLang="en-US" sz="1000" kern="0" spc="-149" dirty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6" name="Text Box 2144"/>
          <p:cNvSpPr txBox="1">
            <a:spLocks noChangeArrowheads="1"/>
          </p:cNvSpPr>
          <p:nvPr/>
        </p:nvSpPr>
        <p:spPr bwMode="auto">
          <a:xfrm>
            <a:off x="8626483" y="6098814"/>
            <a:ext cx="691706" cy="13849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lvl1pPr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900" spc="-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  <a:ea typeface="+mn-ea"/>
              </a:rPr>
              <a:t>완료보고서 및</a:t>
            </a:r>
          </a:p>
        </p:txBody>
      </p:sp>
      <p:pic>
        <p:nvPicPr>
          <p:cNvPr id="17" name="Picture 41" descr="accep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387568" y="6134999"/>
            <a:ext cx="216866" cy="1796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Text Box 2144"/>
          <p:cNvSpPr txBox="1">
            <a:spLocks noChangeArrowheads="1"/>
          </p:cNvSpPr>
          <p:nvPr/>
        </p:nvSpPr>
        <p:spPr bwMode="auto">
          <a:xfrm>
            <a:off x="8625409" y="6242830"/>
            <a:ext cx="977997" cy="13849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lvl1pPr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900" spc="-1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  <a:ea typeface="+mn-ea"/>
              </a:rPr>
              <a:t>성과품</a:t>
            </a:r>
            <a:r>
              <a:rPr lang="ko-KR" altLang="en-US" sz="900" spc="-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  <a:ea typeface="+mn-ea"/>
              </a:rPr>
              <a:t> 제출</a:t>
            </a:r>
          </a:p>
        </p:txBody>
      </p:sp>
      <p:grpSp>
        <p:nvGrpSpPr>
          <p:cNvPr id="19" name="그룹 18"/>
          <p:cNvGrpSpPr/>
          <p:nvPr/>
        </p:nvGrpSpPr>
        <p:grpSpPr>
          <a:xfrm>
            <a:off x="6370230" y="3318762"/>
            <a:ext cx="2656645" cy="110238"/>
            <a:chOff x="4177078" y="1822301"/>
            <a:chExt cx="3173011" cy="84923"/>
          </a:xfrm>
        </p:grpSpPr>
        <p:sp>
          <p:nvSpPr>
            <p:cNvPr id="20" name="Line 2124"/>
            <p:cNvSpPr>
              <a:spLocks noChangeShapeType="1"/>
            </p:cNvSpPr>
            <p:nvPr/>
          </p:nvSpPr>
          <p:spPr bwMode="auto">
            <a:xfrm>
              <a:off x="4271504" y="1864763"/>
              <a:ext cx="3017651" cy="4411"/>
            </a:xfrm>
            <a:prstGeom prst="line">
              <a:avLst/>
            </a:prstGeom>
            <a:noFill/>
            <a:ln w="25400" cap="rnd" cmpd="sng">
              <a:solidFill>
                <a:srgbClr val="014099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0" tIns="0" rIns="0" bIns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endParaRPr lang="ko-KR" altLang="en-US" sz="900" spc="-1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ea typeface="+mn-ea"/>
              </a:endParaRPr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595C20FC-7BBD-47EA-90FE-26D2E77F5A8D}"/>
                </a:ext>
              </a:extLst>
            </p:cNvPr>
            <p:cNvSpPr/>
            <p:nvPr/>
          </p:nvSpPr>
          <p:spPr>
            <a:xfrm>
              <a:off x="4177078" y="1822302"/>
              <a:ext cx="94426" cy="84922"/>
            </a:xfrm>
            <a:prstGeom prst="ellipse">
              <a:avLst/>
            </a:prstGeom>
            <a:solidFill>
              <a:srgbClr val="014099"/>
            </a:solidFill>
            <a:ln w="1587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8856" rIns="0" bIns="38856" rtlCol="0" anchor="ctr"/>
            <a:lstStyle/>
            <a:p>
              <a:pPr algn="ctr" latinLnBrk="0"/>
              <a:endParaRPr lang="ko-KR" altLang="en-US" sz="1079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A6985E94-DE02-4410-9312-5D56D57F26BC}"/>
                </a:ext>
              </a:extLst>
            </p:cNvPr>
            <p:cNvSpPr/>
            <p:nvPr/>
          </p:nvSpPr>
          <p:spPr>
            <a:xfrm>
              <a:off x="7255663" y="1822301"/>
              <a:ext cx="94426" cy="84922"/>
            </a:xfrm>
            <a:prstGeom prst="ellipse">
              <a:avLst/>
            </a:prstGeom>
            <a:solidFill>
              <a:srgbClr val="014099"/>
            </a:solidFill>
            <a:ln w="1587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8856" rIns="0" bIns="38856" rtlCol="0" anchor="ctr"/>
            <a:lstStyle/>
            <a:p>
              <a:pPr algn="ctr" latinLnBrk="0"/>
              <a:endParaRPr lang="ko-KR" altLang="en-US" sz="1079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23" name="Line 2124"/>
          <p:cNvSpPr>
            <a:spLocks noChangeShapeType="1"/>
          </p:cNvSpPr>
          <p:nvPr/>
        </p:nvSpPr>
        <p:spPr bwMode="auto">
          <a:xfrm flipV="1">
            <a:off x="4325988" y="1844823"/>
            <a:ext cx="5351096" cy="19303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4246928" y="1806595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9625760" y="1806595"/>
            <a:ext cx="86965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6" name="Line 2124"/>
          <p:cNvSpPr>
            <a:spLocks noChangeShapeType="1"/>
          </p:cNvSpPr>
          <p:nvPr/>
        </p:nvSpPr>
        <p:spPr bwMode="auto">
          <a:xfrm flipV="1">
            <a:off x="4649900" y="2192802"/>
            <a:ext cx="651047" cy="0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4584339" y="2137684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5288674" y="2130334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9" name="Line 2124"/>
          <p:cNvSpPr>
            <a:spLocks noChangeShapeType="1"/>
          </p:cNvSpPr>
          <p:nvPr/>
        </p:nvSpPr>
        <p:spPr bwMode="auto">
          <a:xfrm>
            <a:off x="7412419" y="2193385"/>
            <a:ext cx="1078556" cy="0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7388477" y="2132933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8423392" y="2141764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6379933" y="2513545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5" name="Line 2124"/>
          <p:cNvSpPr>
            <a:spLocks noChangeShapeType="1"/>
          </p:cNvSpPr>
          <p:nvPr/>
        </p:nvSpPr>
        <p:spPr bwMode="auto">
          <a:xfrm flipV="1">
            <a:off x="4310622" y="2912049"/>
            <a:ext cx="5351096" cy="19303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4231562" y="2874415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9610394" y="2856931"/>
            <a:ext cx="86965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8" name="Text Box 2074"/>
          <p:cNvSpPr txBox="1">
            <a:spLocks noChangeArrowheads="1"/>
          </p:cNvSpPr>
          <p:nvPr/>
        </p:nvSpPr>
        <p:spPr bwMode="auto">
          <a:xfrm>
            <a:off x="6698807" y="3165272"/>
            <a:ext cx="2079149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지자기 모델 </a:t>
            </a:r>
            <a:r>
              <a:rPr lang="ko-KR" altLang="en-US" sz="11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시범구축</a:t>
            </a: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최적 계산</a:t>
            </a:r>
          </a:p>
        </p:txBody>
      </p:sp>
      <p:sp>
        <p:nvSpPr>
          <p:cNvPr id="39" name="Text Box 2074"/>
          <p:cNvSpPr txBox="1">
            <a:spLocks noChangeArrowheads="1"/>
          </p:cNvSpPr>
          <p:nvPr/>
        </p:nvSpPr>
        <p:spPr bwMode="auto">
          <a:xfrm>
            <a:off x="5745088" y="1632609"/>
            <a:ext cx="2387602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관측망 확대 및 유지관리 방안</a:t>
            </a:r>
          </a:p>
        </p:txBody>
      </p:sp>
      <p:sp>
        <p:nvSpPr>
          <p:cNvPr id="40" name="Text Box 2074"/>
          <p:cNvSpPr txBox="1">
            <a:spLocks noChangeArrowheads="1"/>
          </p:cNvSpPr>
          <p:nvPr/>
        </p:nvSpPr>
        <p:spPr bwMode="auto">
          <a:xfrm>
            <a:off x="4371554" y="1995201"/>
            <a:ext cx="1283794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관측망 입지분석</a:t>
            </a:r>
          </a:p>
        </p:txBody>
      </p:sp>
      <p:sp>
        <p:nvSpPr>
          <p:cNvPr id="41" name="Text Box 2074"/>
          <p:cNvSpPr txBox="1">
            <a:spLocks noChangeArrowheads="1"/>
          </p:cNvSpPr>
          <p:nvPr/>
        </p:nvSpPr>
        <p:spPr bwMode="auto">
          <a:xfrm>
            <a:off x="7330424" y="1996982"/>
            <a:ext cx="1283794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표지 설치 및 관측</a:t>
            </a:r>
          </a:p>
        </p:txBody>
      </p:sp>
      <p:sp>
        <p:nvSpPr>
          <p:cNvPr id="42" name="Text Box 2074"/>
          <p:cNvSpPr txBox="1">
            <a:spLocks noChangeArrowheads="1"/>
          </p:cNvSpPr>
          <p:nvPr/>
        </p:nvSpPr>
        <p:spPr bwMode="auto">
          <a:xfrm>
            <a:off x="6401823" y="2287997"/>
            <a:ext cx="1077952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en-US" altLang="ko-KR" sz="1100" kern="0" spc="-149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GSM  </a:t>
            </a:r>
            <a:endParaRPr lang="ko-KR" altLang="en-US" sz="1100" kern="0" spc="-149" dirty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43" name="Text Box 2074"/>
          <p:cNvSpPr txBox="1">
            <a:spLocks noChangeArrowheads="1"/>
          </p:cNvSpPr>
          <p:nvPr/>
        </p:nvSpPr>
        <p:spPr bwMode="auto">
          <a:xfrm>
            <a:off x="5877476" y="2724944"/>
            <a:ext cx="2015849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지자기 모델 </a:t>
            </a:r>
            <a:r>
              <a:rPr lang="ko-KR" altLang="en-US" sz="11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구축</a:t>
            </a:r>
            <a:r>
              <a:rPr lang="ko-KR" altLang="en-US" sz="11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〮</a:t>
            </a:r>
            <a:r>
              <a:rPr lang="ko-KR" altLang="en-US" sz="11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유지관리</a:t>
            </a: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방안 마련</a:t>
            </a:r>
          </a:p>
        </p:txBody>
      </p:sp>
      <p:grpSp>
        <p:nvGrpSpPr>
          <p:cNvPr id="44" name="그룹 43"/>
          <p:cNvGrpSpPr/>
          <p:nvPr/>
        </p:nvGrpSpPr>
        <p:grpSpPr>
          <a:xfrm>
            <a:off x="7193420" y="3643958"/>
            <a:ext cx="1831663" cy="116287"/>
            <a:chOff x="4177078" y="1822302"/>
            <a:chExt cx="2187679" cy="89583"/>
          </a:xfrm>
        </p:grpSpPr>
        <p:sp>
          <p:nvSpPr>
            <p:cNvPr id="45" name="Line 2124"/>
            <p:cNvSpPr>
              <a:spLocks noChangeShapeType="1"/>
            </p:cNvSpPr>
            <p:nvPr/>
          </p:nvSpPr>
          <p:spPr bwMode="auto">
            <a:xfrm flipV="1">
              <a:off x="4271504" y="1864763"/>
              <a:ext cx="2029431" cy="0"/>
            </a:xfrm>
            <a:prstGeom prst="line">
              <a:avLst/>
            </a:prstGeom>
            <a:noFill/>
            <a:ln w="25400" cap="rnd" cmpd="sng">
              <a:solidFill>
                <a:srgbClr val="014099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0" tIns="0" rIns="0" bIns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endParaRPr lang="ko-KR" altLang="en-US" sz="900" spc="-1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ea typeface="+mn-ea"/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595C20FC-7BBD-47EA-90FE-26D2E77F5A8D}"/>
                </a:ext>
              </a:extLst>
            </p:cNvPr>
            <p:cNvSpPr/>
            <p:nvPr/>
          </p:nvSpPr>
          <p:spPr>
            <a:xfrm>
              <a:off x="4177078" y="1822302"/>
              <a:ext cx="94426" cy="84922"/>
            </a:xfrm>
            <a:prstGeom prst="ellipse">
              <a:avLst/>
            </a:prstGeom>
            <a:solidFill>
              <a:srgbClr val="014099"/>
            </a:solidFill>
            <a:ln w="1587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8856" rIns="0" bIns="38856" rtlCol="0" anchor="ctr"/>
            <a:lstStyle/>
            <a:p>
              <a:pPr algn="ctr" latinLnBrk="0"/>
              <a:endParaRPr lang="ko-KR" altLang="en-US" sz="1079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A6985E94-DE02-4410-9312-5D56D57F26BC}"/>
                </a:ext>
              </a:extLst>
            </p:cNvPr>
            <p:cNvSpPr/>
            <p:nvPr/>
          </p:nvSpPr>
          <p:spPr>
            <a:xfrm>
              <a:off x="6270331" y="1826963"/>
              <a:ext cx="94426" cy="84922"/>
            </a:xfrm>
            <a:prstGeom prst="ellipse">
              <a:avLst/>
            </a:prstGeom>
            <a:solidFill>
              <a:srgbClr val="014099"/>
            </a:solidFill>
            <a:ln w="1587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8856" rIns="0" bIns="38856" rtlCol="0" anchor="ctr"/>
            <a:lstStyle/>
            <a:p>
              <a:pPr algn="ctr" latinLnBrk="0"/>
              <a:endParaRPr lang="ko-KR" altLang="en-US" sz="1079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8" name="Text Box 2074"/>
          <p:cNvSpPr txBox="1">
            <a:spLocks noChangeArrowheads="1"/>
          </p:cNvSpPr>
          <p:nvPr/>
        </p:nvSpPr>
        <p:spPr bwMode="auto">
          <a:xfrm>
            <a:off x="7333359" y="3506710"/>
            <a:ext cx="1576070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알고리즘 분석 </a:t>
            </a:r>
            <a:r>
              <a:rPr lang="ko-KR" altLang="en-US" sz="11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갱신주기</a:t>
            </a: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절차 마련</a:t>
            </a:r>
          </a:p>
        </p:txBody>
      </p:sp>
      <p:sp>
        <p:nvSpPr>
          <p:cNvPr id="49" name="Line 2124"/>
          <p:cNvSpPr>
            <a:spLocks noChangeShapeType="1"/>
          </p:cNvSpPr>
          <p:nvPr/>
        </p:nvSpPr>
        <p:spPr bwMode="auto">
          <a:xfrm flipV="1">
            <a:off x="5318672" y="4753489"/>
            <a:ext cx="3085337" cy="1154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5262450" y="4688528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8404010" y="4688528"/>
            <a:ext cx="86965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2" name="Text Box 2074"/>
          <p:cNvSpPr txBox="1">
            <a:spLocks noChangeArrowheads="1"/>
          </p:cNvSpPr>
          <p:nvPr/>
        </p:nvSpPr>
        <p:spPr bwMode="auto">
          <a:xfrm>
            <a:off x="6147324" y="4581236"/>
            <a:ext cx="1591057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자침 </a:t>
            </a:r>
            <a:r>
              <a:rPr lang="ko-KR" altLang="en-US" sz="11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편차량</a:t>
            </a: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계산</a:t>
            </a:r>
          </a:p>
        </p:txBody>
      </p:sp>
      <p:sp>
        <p:nvSpPr>
          <p:cNvPr id="53" name="Line 2124"/>
          <p:cNvSpPr>
            <a:spLocks noChangeShapeType="1"/>
          </p:cNvSpPr>
          <p:nvPr/>
        </p:nvSpPr>
        <p:spPr bwMode="auto">
          <a:xfrm flipV="1">
            <a:off x="5817096" y="5098285"/>
            <a:ext cx="3128928" cy="7578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5777565" y="5046955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8916358" y="5031545"/>
            <a:ext cx="86965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6" name="Text Box 2074"/>
          <p:cNvSpPr txBox="1">
            <a:spLocks noChangeArrowheads="1"/>
          </p:cNvSpPr>
          <p:nvPr/>
        </p:nvSpPr>
        <p:spPr bwMode="auto">
          <a:xfrm>
            <a:off x="6506941" y="4913315"/>
            <a:ext cx="1591057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자침편차량</a:t>
            </a: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계산 서비스 방안</a:t>
            </a:r>
          </a:p>
        </p:txBody>
      </p:sp>
      <p:sp>
        <p:nvSpPr>
          <p:cNvPr id="57" name="Line 2124"/>
          <p:cNvSpPr>
            <a:spLocks noChangeShapeType="1"/>
          </p:cNvSpPr>
          <p:nvPr/>
        </p:nvSpPr>
        <p:spPr bwMode="auto">
          <a:xfrm>
            <a:off x="4853918" y="4389183"/>
            <a:ext cx="2277792" cy="6679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4774859" y="4334066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7167350" y="4327481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0" name="Text Box 2074"/>
          <p:cNvSpPr txBox="1">
            <a:spLocks noChangeArrowheads="1"/>
          </p:cNvSpPr>
          <p:nvPr/>
        </p:nvSpPr>
        <p:spPr bwMode="auto">
          <a:xfrm>
            <a:off x="5300947" y="4206028"/>
            <a:ext cx="1452253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지구 지자기 모델과 시사점 도출</a:t>
            </a:r>
            <a:endParaRPr lang="ko-KR" altLang="en-US" sz="1100" kern="0" spc="-149" dirty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61" name="Line 2124"/>
          <p:cNvSpPr>
            <a:spLocks noChangeShapeType="1"/>
          </p:cNvSpPr>
          <p:nvPr/>
        </p:nvSpPr>
        <p:spPr bwMode="auto">
          <a:xfrm flipV="1">
            <a:off x="4310622" y="4086252"/>
            <a:ext cx="5351096" cy="19303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4231562" y="4048618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9610394" y="4031134"/>
            <a:ext cx="86965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5" name="Text Box 2074"/>
          <p:cNvSpPr txBox="1">
            <a:spLocks noChangeArrowheads="1"/>
          </p:cNvSpPr>
          <p:nvPr/>
        </p:nvSpPr>
        <p:spPr bwMode="auto">
          <a:xfrm>
            <a:off x="5877476" y="3899147"/>
            <a:ext cx="2015849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국가 지자기 모델 활용 확대 방안</a:t>
            </a:r>
          </a:p>
        </p:txBody>
      </p:sp>
      <p:sp>
        <p:nvSpPr>
          <p:cNvPr id="66" name="Line 2124"/>
          <p:cNvSpPr>
            <a:spLocks noChangeShapeType="1"/>
          </p:cNvSpPr>
          <p:nvPr/>
        </p:nvSpPr>
        <p:spPr bwMode="auto">
          <a:xfrm>
            <a:off x="5370669" y="2193385"/>
            <a:ext cx="1078556" cy="0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5346727" y="2132933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6381642" y="2141764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9" name="Text Box 2074"/>
          <p:cNvSpPr txBox="1">
            <a:spLocks noChangeArrowheads="1"/>
          </p:cNvSpPr>
          <p:nvPr/>
        </p:nvSpPr>
        <p:spPr bwMode="auto">
          <a:xfrm>
            <a:off x="5288674" y="1996982"/>
            <a:ext cx="1283794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지자기점 선점</a:t>
            </a:r>
            <a:endParaRPr lang="ko-KR" altLang="en-US" sz="1100" kern="0" spc="-149" dirty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7388477" y="2510163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82" name="Line 2124"/>
          <p:cNvSpPr>
            <a:spLocks noChangeShapeType="1"/>
          </p:cNvSpPr>
          <p:nvPr/>
        </p:nvSpPr>
        <p:spPr bwMode="auto">
          <a:xfrm>
            <a:off x="6388981" y="2570615"/>
            <a:ext cx="1078556" cy="0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6365039" y="2510163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7399954" y="2518994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85" name="Text Box 2074"/>
          <p:cNvSpPr txBox="1">
            <a:spLocks noChangeArrowheads="1"/>
          </p:cNvSpPr>
          <p:nvPr/>
        </p:nvSpPr>
        <p:spPr bwMode="auto">
          <a:xfrm>
            <a:off x="6296992" y="2407608"/>
            <a:ext cx="1283794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en-US" altLang="ko-KR" sz="1100" kern="0" spc="-149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MinGeo</a:t>
            </a:r>
            <a:endParaRPr lang="ko-KR" altLang="en-US" sz="1100" kern="0" spc="-149" dirty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4207399" y="2247921"/>
            <a:ext cx="5282105" cy="4770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l"/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779043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E0FA13FB-E74A-588D-C346-FF3F300A44E7}"/>
              </a:ext>
            </a:extLst>
          </p:cNvPr>
          <p:cNvSpPr/>
          <p:nvPr/>
        </p:nvSpPr>
        <p:spPr>
          <a:xfrm>
            <a:off x="310951" y="1084577"/>
            <a:ext cx="5147747" cy="43738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803546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6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C8DCFFB-03DC-4CFF-2C0B-CF0927FB02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  <a:lum bright="-40000" contrast="-40000"/>
          </a:blip>
          <a:stretch>
            <a:fillRect/>
          </a:stretch>
        </p:blipFill>
        <p:spPr>
          <a:xfrm>
            <a:off x="483021" y="1144975"/>
            <a:ext cx="344939" cy="3331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3D1C21-414F-0E6B-6F3D-EC6FE008943D}"/>
              </a:ext>
            </a:extLst>
          </p:cNvPr>
          <p:cNvSpPr txBox="1"/>
          <p:nvPr/>
        </p:nvSpPr>
        <p:spPr>
          <a:xfrm>
            <a:off x="816801" y="1090008"/>
            <a:ext cx="5432343" cy="40011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1pPr marL="92075" indent="-92075" defTabSz="1043056" latinLnBrk="0">
              <a:spcBef>
                <a:spcPts val="200"/>
              </a:spcBef>
              <a:buFont typeface="Arial" panose="020B0604020202020204" pitchFamily="34" charset="0"/>
              <a:buChar char="•"/>
              <a:defRPr sz="800" kern="0" spc="-10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</a:lstStyle>
          <a:p>
            <a:pPr marL="0" lvl="1" algn="l" defTabSz="1043056">
              <a:spcBef>
                <a:spcPts val="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Pct val="100000"/>
              <a:tabLst>
                <a:tab pos="5645270" algn="l"/>
              </a:tabLst>
              <a:defRPr/>
            </a:pPr>
            <a:r>
              <a:rPr lang="ko-KR" altLang="en-US" sz="2000" b="1" kern="0" spc="-100" dirty="0"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모델 갱신 주기 및 방안 도출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3F9181E-F760-EC42-F549-976A69C2B870}"/>
              </a:ext>
            </a:extLst>
          </p:cNvPr>
          <p:cNvSpPr/>
          <p:nvPr/>
        </p:nvSpPr>
        <p:spPr>
          <a:xfrm>
            <a:off x="415925" y="335141"/>
            <a:ext cx="7777436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70" algn="l"/>
              </a:tabLst>
              <a:defRPr/>
            </a:pP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1.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국가기준점 지자기측량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발전방안</a:t>
            </a:r>
            <a:endParaRPr lang="ko-KR" altLang="en-US" sz="2800" spc="-150" dirty="0"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sym typeface="Monotype Sort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1480" y="1828800"/>
            <a:ext cx="9079992" cy="603504"/>
          </a:xfrm>
          <a:prstGeom prst="rect">
            <a:avLst/>
          </a:prstGeom>
          <a:solidFill>
            <a:srgbClr val="FD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1883664"/>
            <a:ext cx="8823960" cy="20116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95959"/>
                </a:solidFill>
                <a:latin typeface="KoPub돋움체 Medium"/>
              </a:rPr>
              <a:t>국가 지자기모델 갱신 주기 및 절차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" y="2084832"/>
            <a:ext cx="8823960" cy="347472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A1A1A"/>
                </a:solidFill>
                <a:latin typeface="KoPub돋움체 Bold"/>
              </a:rPr>
              <a:t>관측망 재관측 주기(5년)에 맞춰 모델을 재계산하고, 기준시점 변경 시 수시 갱신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633472"/>
            <a:ext cx="2036826" cy="10607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2633472"/>
            <a:ext cx="2036826" cy="329184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816352"/>
            <a:ext cx="2036826" cy="146304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660904"/>
            <a:ext cx="2036826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KoPub돋움체 Bold"/>
              </a:rPr>
              <a:t>재관측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" y="3072384"/>
            <a:ext cx="1780794" cy="54864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5년 주기 반복관측</a:t>
            </a:r>
          </a:p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(관측시각·Kp 기록)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4882" y="3017520"/>
            <a:ext cx="237744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2F5497"/>
                </a:solidFill>
                <a:latin typeface="KoPub돋움체 Bold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59202" y="2633472"/>
            <a:ext cx="2036826" cy="10607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59202" y="2633472"/>
            <a:ext cx="2036826" cy="329184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59202" y="2816352"/>
            <a:ext cx="2036826" cy="146304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59202" y="2660904"/>
            <a:ext cx="2036826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KoPub돋움체 Bold"/>
              </a:rPr>
              <a:t>재적합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7218" y="3072384"/>
            <a:ext cx="1780794" cy="54864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4축 재계산 · 교차검증</a:t>
            </a:r>
          </a:p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(순차 튜닝 금지)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32604" y="3017520"/>
            <a:ext cx="237744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2F5497"/>
                </a:solidFill>
                <a:latin typeface="KoPub돋움체 Bold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06924" y="2633472"/>
            <a:ext cx="2036826" cy="10607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106924" y="2633472"/>
            <a:ext cx="2036826" cy="329184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06924" y="2816352"/>
            <a:ext cx="2036826" cy="146304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06924" y="2660904"/>
            <a:ext cx="2036826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KoPub돋움체 Bold"/>
              </a:rPr>
              <a:t>검증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4940" y="3072384"/>
            <a:ext cx="1780794" cy="54864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독립 측점 검증</a:t>
            </a:r>
          </a:p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판정기준 충족 확인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80326" y="3017520"/>
            <a:ext cx="237744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2F5497"/>
                </a:solidFill>
                <a:latin typeface="KoPub돋움체 Bold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54646" y="2633472"/>
            <a:ext cx="2036826" cy="10607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54646" y="2633472"/>
            <a:ext cx="2036826" cy="329184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54646" y="2816352"/>
            <a:ext cx="2036826" cy="146304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54646" y="2660904"/>
            <a:ext cx="2036826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KoPub돋움체 Bold"/>
              </a:rPr>
              <a:t>배포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2662" y="3072384"/>
            <a:ext cx="1780794" cy="54864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도엽별 자침편차 산출</a:t>
            </a:r>
          </a:p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계산기·조회 서비스 갱신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3913632"/>
            <a:ext cx="9079992" cy="310896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931920"/>
            <a:ext cx="132478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구분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55718" y="3931920"/>
            <a:ext cx="186958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시점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53316" y="3931920"/>
            <a:ext cx="5501579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내용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4224528"/>
            <a:ext cx="9079992" cy="38404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251960"/>
            <a:ext cx="132478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정기 갱신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55718" y="4251960"/>
            <a:ext cx="186958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5년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53316" y="4251960"/>
            <a:ext cx="5501579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재관측 성과 반영 · 전 층 재적합 · 기준시점 환산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4636008"/>
            <a:ext cx="132478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수시 갱신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55718" y="4636008"/>
            <a:ext cx="186958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IGRF 갱신 시(5년)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53316" y="4636008"/>
            <a:ext cx="5501579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① Core 계수 교체 후 재계산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4992624"/>
            <a:ext cx="9079992" cy="38404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5020056"/>
            <a:ext cx="132478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수시 갱신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55718" y="5020056"/>
            <a:ext cx="186958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측점·자료 추가 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53316" y="5020056"/>
            <a:ext cx="5501579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신규 관측성과 투입 후 교차검증 재수행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3913632"/>
            <a:ext cx="9079992" cy="1463039"/>
          </a:xfrm>
          <a:prstGeom prst="rect">
            <a:avLst/>
          </a:prstGeom>
          <a:noFill/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5522976"/>
            <a:ext cx="9079992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95959"/>
                </a:solidFill>
                <a:latin typeface="KoPub돋움체 Medium"/>
              </a:rPr>
              <a:t>※ 층이 서로 결합되어 있어 한 층만 고쳐 끼우는 순차 갱신은 성립하지 않으며, 갱신 시에는 전 층을 다시 적합해야 함</a:t>
            </a:r>
          </a:p>
        </p:txBody>
      </p:sp>
    </p:spTree>
    <p:extLst>
      <p:ext uri="{BB962C8B-B14F-4D97-AF65-F5344CB8AC3E}">
        <p14:creationId xmlns:p14="http://schemas.microsoft.com/office/powerpoint/2010/main" val="2270532255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E:\진행중작업\20140409기획재정부PT\간지07.jpg"/>
          <p:cNvPicPr>
            <a:picLocks noChangeAspect="1" noChangeArrowheads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3176" y="-1"/>
            <a:ext cx="9902825" cy="6858001"/>
          </a:xfrm>
          <a:prstGeom prst="rect">
            <a:avLst/>
          </a:prstGeom>
          <a:noFill/>
        </p:spPr>
      </p:pic>
      <p:sp>
        <p:nvSpPr>
          <p:cNvPr id="3" name="직사각형 2"/>
          <p:cNvSpPr/>
          <p:nvPr/>
        </p:nvSpPr>
        <p:spPr>
          <a:xfrm>
            <a:off x="3176" y="3212976"/>
            <a:ext cx="9902824" cy="1323439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ko-KR" altLang="en-US" sz="4000" spc="-149" dirty="0"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감사합니다</a:t>
            </a:r>
            <a:endParaRPr lang="en-US" altLang="ko-KR" sz="4000" spc="-149" dirty="0">
              <a:latin typeface="KoPub돋움체 Bold" panose="02020603020101020101" pitchFamily="18" charset="-127"/>
              <a:ea typeface="KoPub돋움체 Bold" panose="02020603020101020101" pitchFamily="18" charset="-127"/>
              <a:sym typeface="Monotype Sorts"/>
            </a:endParaRPr>
          </a:p>
          <a:p>
            <a:pPr marL="0" lvl="1" indent="-85725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endParaRPr lang="ko-KR" altLang="en-US" sz="4000" spc="-149" dirty="0">
              <a:latin typeface="KoPub돋움체 Bold" panose="02020603020101020101" pitchFamily="18" charset="-127"/>
              <a:ea typeface="KoPub돋움체 Bold" panose="02020603020101020101" pitchFamily="18" charset="-127"/>
              <a:sym typeface="Monotype Sorts"/>
            </a:endParaRPr>
          </a:p>
        </p:txBody>
      </p:sp>
    </p:spTree>
    <p:extLst>
      <p:ext uri="{BB962C8B-B14F-4D97-AF65-F5344CB8AC3E}">
        <p14:creationId xmlns:p14="http://schemas.microsoft.com/office/powerpoint/2010/main" val="4194929527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" name="사각형: 둥근 모서리 5">
            <a:extLst>
              <a:ext uri="{FF2B5EF4-FFF2-40B4-BE49-F238E27FC236}">
                <a16:creationId xmlns:a16="http://schemas.microsoft.com/office/drawing/2014/main" id="{BF1C4B7C-2107-7718-4360-742351117A61}"/>
              </a:ext>
            </a:extLst>
          </p:cNvPr>
          <p:cNvSpPr/>
          <p:nvPr/>
        </p:nvSpPr>
        <p:spPr>
          <a:xfrm>
            <a:off x="292100" y="1222272"/>
            <a:ext cx="6677124" cy="43738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355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42D0B8-4CDB-74C8-FB7D-5684DB66BC4D}"/>
              </a:ext>
            </a:extLst>
          </p:cNvPr>
          <p:cNvSpPr txBox="1"/>
          <p:nvPr/>
        </p:nvSpPr>
        <p:spPr>
          <a:xfrm>
            <a:off x="957098" y="1194293"/>
            <a:ext cx="6228150" cy="4616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1pPr marL="92075" indent="-92075" defTabSz="1043056" latinLnBrk="0">
              <a:spcBef>
                <a:spcPts val="200"/>
              </a:spcBef>
              <a:buFont typeface="Arial" panose="020B0604020202020204" pitchFamily="34" charset="0"/>
              <a:buChar char="•"/>
              <a:defRPr sz="800" kern="0" spc="-10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</a:lstStyle>
          <a:p>
            <a:pPr marL="0" indent="0" algn="l">
              <a:spcBef>
                <a:spcPts val="0"/>
              </a:spcBef>
              <a:buClr>
                <a:prstClr val="white"/>
              </a:buClr>
              <a:buNone/>
              <a:defRPr/>
            </a:pP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도엽별 자침편차 제공을 위한 정확도 요건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BA6D15D-AD0B-E851-905B-B2F49AA0522D}"/>
              </a:ext>
            </a:extLst>
          </p:cNvPr>
          <p:cNvSpPr/>
          <p:nvPr/>
        </p:nvSpPr>
        <p:spPr>
          <a:xfrm>
            <a:off x="415924" y="335141"/>
            <a:ext cx="7561412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70" algn="l"/>
              </a:tabLst>
              <a:defRPr/>
            </a:pP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1.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기존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성과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기반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’25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년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지자기모델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시범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구축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5DF71A1-B3EA-C8D9-7F19-979489CDA75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grayscl/>
            <a:lum bright="-40000" contrast="-40000"/>
          </a:blip>
          <a:stretch>
            <a:fillRect/>
          </a:stretch>
        </p:blipFill>
        <p:spPr>
          <a:xfrm>
            <a:off x="473403" y="1236838"/>
            <a:ext cx="432048" cy="417271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411480" y="1828800"/>
            <a:ext cx="9079992" cy="658368"/>
          </a:xfrm>
          <a:prstGeom prst="rect">
            <a:avLst/>
          </a:prstGeom>
          <a:solidFill>
            <a:srgbClr val="FD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" y="1883664"/>
            <a:ext cx="8823960" cy="20116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95959"/>
                </a:solidFill>
                <a:latin typeface="KoPub돋움체 Medium"/>
              </a:rPr>
              <a:t>규정 제12조 — 1등 지자기점은 국가기본도의 자편각 표기를 위한 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" y="2084832"/>
            <a:ext cx="8823960" cy="347472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A1A1A"/>
                </a:solidFill>
                <a:latin typeface="KoPub돋움체 Bold"/>
              </a:rPr>
              <a:t>도엽 단위로 자침편차를 표기하려면 도폭 내 편각 변화가 표기 정밀도보다 작아야 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2651760"/>
            <a:ext cx="5447995" cy="310896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2670048"/>
            <a:ext cx="107054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축척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01478" y="2670048"/>
            <a:ext cx="961583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도폭 크기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91077" y="2670048"/>
            <a:ext cx="145190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도폭 내 편각 변화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70996" y="2670048"/>
            <a:ext cx="145190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목표(0.1°) 대비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2962656"/>
            <a:ext cx="5447995" cy="38404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2990087"/>
            <a:ext cx="107054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1:50,000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01478" y="2990087"/>
            <a:ext cx="961583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15′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91077" y="2990087"/>
            <a:ext cx="145190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0.0905°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70996" y="2990087"/>
            <a:ext cx="145190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C00000"/>
                </a:solidFill>
                <a:latin typeface="KoPub돋움체 Medium"/>
              </a:rPr>
              <a:t>91% — 여유 없음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3374135"/>
            <a:ext cx="107054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1:25,000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01478" y="3374135"/>
            <a:ext cx="961583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7′30″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91077" y="3374135"/>
            <a:ext cx="145190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0.0453°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70996" y="3374135"/>
            <a:ext cx="145190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F6B4A"/>
                </a:solidFill>
                <a:latin typeface="KoPub돋움체 Medium"/>
              </a:rPr>
              <a:t>45% — 적정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3730752"/>
            <a:ext cx="5447995" cy="38404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3758184"/>
            <a:ext cx="107054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1:5,000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01478" y="3758184"/>
            <a:ext cx="961583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1′30″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91077" y="3758184"/>
            <a:ext cx="145190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0.0091°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70996" y="3758184"/>
            <a:ext cx="145190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9%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" y="2651760"/>
            <a:ext cx="5447995" cy="1463040"/>
          </a:xfrm>
          <a:prstGeom prst="rect">
            <a:avLst/>
          </a:prstGeom>
          <a:noFill/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041075" y="2651760"/>
            <a:ext cx="3450396" cy="177393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2F54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205667" y="2514600"/>
            <a:ext cx="2011680" cy="274320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05667" y="2532888"/>
            <a:ext cx="2011680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KoPub돋움체 Bold"/>
              </a:rPr>
              <a:t>현재 모델 정확도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78819" y="2944368"/>
            <a:ext cx="2974908" cy="310896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C00000"/>
                </a:solidFill>
                <a:latin typeface="KoPub돋움체 Bold"/>
              </a:rPr>
              <a:t>편각 0.32°  (목표 0.1°)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78819" y="3273552"/>
            <a:ext cx="2974908" cy="100584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총자력 58 nT (목표 50 nT)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편각 잔차 13.8′ — 착수 시점 35.0′ 에서 감소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현 단계는 참고값이며 정식 표기는 목표 달성 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480" y="4389120"/>
            <a:ext cx="9079992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F5497"/>
                </a:solidFill>
                <a:latin typeface="KoPub돋움체 Bold"/>
              </a:rPr>
              <a:t>제공 방식(안)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" y="4700016"/>
            <a:ext cx="9079992" cy="310896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" y="4718303"/>
            <a:ext cx="870783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단계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501719" y="4718303"/>
            <a:ext cx="205118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제공 형태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80917" y="4718303"/>
            <a:ext cx="5773978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내용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" y="5010912"/>
            <a:ext cx="9079992" cy="3657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920" y="5038344"/>
            <a:ext cx="870783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1단계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501719" y="5038344"/>
            <a:ext cx="2051182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도엽별 수치자료(엑셀)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80917" y="5038344"/>
            <a:ext cx="5773978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1:25,000 도엽 단위 자침편차 · 기준시점 · 연변화율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2920" y="5404104"/>
            <a:ext cx="870783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2단계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501719" y="5404104"/>
            <a:ext cx="2051182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조회 서비스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80917" y="5404104"/>
            <a:ext cx="5773978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국토정보플랫폼에서 위치·도엽 검색 시 자침편차 표시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11480" y="5742432"/>
            <a:ext cx="9079992" cy="3657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2920" y="5769864"/>
            <a:ext cx="870783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3단계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501719" y="5769864"/>
            <a:ext cx="2051182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지형도 표기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80917" y="5769864"/>
            <a:ext cx="5773978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도곽 밖 자침편차 도표 반영(정확도 목표 달성 후)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1480" y="4700016"/>
            <a:ext cx="9079992" cy="1408176"/>
          </a:xfrm>
          <a:prstGeom prst="rect">
            <a:avLst/>
          </a:prstGeom>
          <a:noFill/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11480" y="6217920"/>
            <a:ext cx="9079992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95959"/>
                </a:solidFill>
                <a:latin typeface="KoPub돋움체 Medium"/>
              </a:rPr>
              <a:t>※ 도폭 내 편각 변화는 IGRF-14 로 산출한 값이며, 1:25,000 은 모델 오차분을 남길 수 있는 가장 성긴 축척임 / 도폭 규격은 지도도식적용규정 제4조·제211조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>
        <a:noAutofit/>
      </a:bodyPr>
      <a:lstStyle>
        <a:defPPr algn="l">
          <a:defRPr smtClean="0">
            <a:latin typeface="나눔고딕" panose="020D0604000000000000" pitchFamily="50" charset="-127"/>
            <a:ea typeface="나눔고딕" panose="020D0604000000000000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smtClean="0">
            <a:latin typeface="나눔고딕" panose="020D0604000000000000" pitchFamily="50" charset="-127"/>
            <a:ea typeface="나눔고딕" panose="020D0604000000000000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81712</TotalTime>
  <Words>356</Words>
  <Application>Microsoft Office PowerPoint</Application>
  <PresentationFormat>A4 용지(210x297mm)</PresentationFormat>
  <Paragraphs>87</Paragraphs>
  <Slides>10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21" baseType="lpstr">
      <vt:lpstr>KoPub돋움체 Light</vt:lpstr>
      <vt:lpstr>산돌고딕B</vt:lpstr>
      <vt:lpstr>Wingdings</vt:lpstr>
      <vt:lpstr>나눔고딕</vt:lpstr>
      <vt:lpstr>KoPub돋움체 Bold</vt:lpstr>
      <vt:lpstr>KoPub바탕체 Bold</vt:lpstr>
      <vt:lpstr>KoPub돋움체 Medium</vt:lpstr>
      <vt:lpstr>Arial</vt:lpstr>
      <vt:lpstr>나눔스퀘어라운드 Bold</vt:lpstr>
      <vt:lpstr>맑은 고딕</vt:lpstr>
      <vt:lpstr>4_디자인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최일훈</dc:creator>
  <cp:lastModifiedBy>YOONS</cp:lastModifiedBy>
  <cp:revision>3764</cp:revision>
  <cp:lastPrinted>2026-03-20T04:25:28Z</cp:lastPrinted>
  <dcterms:created xsi:type="dcterms:W3CDTF">2011-03-02T01:31:16Z</dcterms:created>
  <dcterms:modified xsi:type="dcterms:W3CDTF">2026-08-18T04:30:10Z</dcterms:modified>
</cp:coreProperties>
</file>