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추가 작성분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109468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Pretendard"/>
              </a:rPr>
              <a:t>국가 지자기모델(LMM) 중간결과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8778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4층 결합 구조의 시범 구축 결과와 확인·추가 자료, 검증 계획,</a:t>
            </a:r>
          </a:p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C9D8E8"/>
                </a:solidFill>
                <a:latin typeface="Pretendard"/>
              </a:rPr>
              <a:t>그리고 2020년 지자기도 연구와의 관계를 정리한다.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8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중간결과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47872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확인·추가 자료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45936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검증·보완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892040"/>
            <a:ext cx="2615184" cy="78638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502920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0E4"/>
                </a:solidFill>
                <a:latin typeface="Pretendard"/>
              </a:rPr>
              <a:t>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3218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FFFFFF"/>
                </a:solidFill>
                <a:latin typeface="Pretendard"/>
              </a:rPr>
              <a:t>2020 연구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IGRF만으로는 도폭 편각 정밀도에 닿지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전지구 모델은 차단차수 13에서 끊기므로, 한반도 규모의 지역장·지각장은 구조적으로 담기지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02</a:t>
            </a:r>
          </a:p>
        </p:txBody>
      </p:sp>
      <p:pic>
        <p:nvPicPr>
          <p:cNvPr id="8" name="Picture 7" descr="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7672"/>
            <a:ext cx="6720840" cy="23370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901952"/>
            <a:ext cx="4145249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16952" y="2048256"/>
            <a:ext cx="390750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≈ 3,000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670048"/>
            <a:ext cx="3907505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IGRF 공간 분해능 — 이보다 짧은 파장은 미포함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16952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0.1°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편각 정확도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34712" y="3145536"/>
            <a:ext cx="2008616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753584" y="3291840"/>
            <a:ext cx="1770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50 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53584" y="3913632"/>
            <a:ext cx="177087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목표 총자력 정확도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86384" y="4535423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전지구 평균의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75487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한반도 전역에 동일한 보정이 적용된다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84064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6384" y="5102351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 자기이상 누락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321807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차수 14 이상 단파장 신호가 빠진다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50992"/>
            <a:ext cx="91440" cy="457200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6384" y="5669279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시간 변동 미분리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일변화·자기폭풍이 관측값에 남는다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4608575"/>
            <a:ext cx="414524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62671" y="4626863"/>
            <a:ext cx="381606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IGRF는 버리는 것이 아니라 출발점으로 두고,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한반도 고유 성분을 분리해 더한다.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개 층을 한 좌표·한 시점에서 결합한다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층마다 물리적 기원·공간 스케일·시간 상수가 달라, 분리해야 오차의 원인도 분리된다.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ED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82638"/>
                </a:solidFill>
                <a:latin typeface="Pretendard"/>
              </a:rPr>
              <a:t>B_LMM (r, t)  =  B_IGRF  +  B_Regional  +  B_Crustal  +  B_External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11094689" cy="4572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6700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0677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3403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공간 / 시간 스케일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6128" y="26700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854" y="26700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0677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3403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≳ 3,000 km / 5년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6128" y="31272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전지구 기준장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88854" y="31272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844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0677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16점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3403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50~3,000 km / 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6128" y="35844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절대 기준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854" y="35844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확충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11094689" cy="4572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40416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0677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항공자력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3403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0.05~50 km / 정적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6128" y="40416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지각 자기이상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8854" y="40416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보완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98848"/>
            <a:ext cx="12594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0677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3403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한반도 / 일·시·분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6128" y="4498848"/>
            <a:ext cx="2479845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시간변동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88854" y="4498848"/>
            <a:ext cx="148132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212080"/>
            <a:ext cx="11094689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13232" y="5230368"/>
            <a:ext cx="10765505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각 층은 서로 다른 자료에서 나온다 — 하나라도 빠지면 그 파장대의 신호를 메울 방법이 없다.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그래서 층을 나눈 구조 자체가, 오차가 생겼을 때 어느 자료를 보강해야 하는지 가리키는 진단 장치가 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측정점을 내삽하는 것만으로는 모델이 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「30점을 크리깅하면 되지 않는가」에 대한 답 — 네 가지 이유로 성립하지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물리적 기원이 다르다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Core·Regional·Crustal·External은 기원·시간상수·공간스케일이 모두 다르다.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한 측정값에 섞인 신호를 내삽으로는 분리할 수 없다.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424" y="1901952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87424" y="1901952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87424" y="1938528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0656" y="2011680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시간 의존성을 무시한다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04" y="2450592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매일 수십 nT 변동한다. 측정 시각이 다른 점을 그대로 평균하면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잡음이 공간 분포로 둔갑한다.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공간 외삽이 위험하다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16점은 평균 간격이 수십 km다. 50 km 미만 단파장 지각이상을 담지 못하고,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도서·경계 부근에서 외삽이 불안정해진다.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424" y="3474720"/>
            <a:ext cx="5455904" cy="13898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87424" y="3474720"/>
            <a:ext cx="566928" cy="475488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87424" y="3511296"/>
            <a:ext cx="56692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0656" y="3584448"/>
            <a:ext cx="4587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물리 제약을 반영하지 못한다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04" y="4023359"/>
            <a:ext cx="50901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지자기장은 발산이 0인 벡터장이다. D·I·F를 각각 내삽하면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성분 간 물리적 일관성이 깨진다.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11094689" cy="56692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13232" y="5120640"/>
            <a:ext cx="1076550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일본 국토지리원·미국 NOAA·영국 BGS 모두 층 분리 구조를 채택하고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분석은 하나의 모델 JSON을 공유하는 파이프라인으로 돌린다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적합 → 진단 → 계산기 → 보고서가 같은 원천을 읽으므로, 자료가 바뀌면 수치와 문서가 함께 갱신된다.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성과표·야장 판독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좌표·표고 통일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0218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9090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19090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19090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8818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기준시점 환산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530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영년변화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관측시각 확보분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70669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9541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89541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89541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9269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층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0981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IGRF 잔차 산출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이상치 배제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41120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9992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59992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59992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9720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지역장 적합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1432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로버스트 최소제곱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1571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0443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0443" y="1901952"/>
            <a:ext cx="1742434" cy="31089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030443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0171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교차검증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1883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LOO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잔차 진단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2022" y="2468880"/>
            <a:ext cx="109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00894" y="1901952"/>
            <a:ext cx="1742434" cy="14813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900894" y="1901952"/>
            <a:ext cx="1742434" cy="3108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900894" y="1929384"/>
            <a:ext cx="174243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Pretendard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0622" y="2322576"/>
            <a:ext cx="15229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산출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2334" y="2651760"/>
            <a:ext cx="155955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웹·Excel 계산기</a:t>
            </a:r>
          </a:p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보고서 자동 갱신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639312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3657600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스크립트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21093" y="3657600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역할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1278" y="3657600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산출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023360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041648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lmm_build.py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1093" y="4041648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층 적합 · LOO 교차검증 · 모델 JSON 생성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1278" y="4041648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lmm_model.json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4425696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lmm_diagnose.py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21093" y="4425696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원인 가설 검정 · 민감도 · 반복성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01278" y="4425696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lmm_diagnosis.json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91456"/>
            <a:ext cx="11094689" cy="38404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58368" y="4809744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lmm_web.py / lmm_excel.py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1093" y="4809744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웹·Excel 계산기(오프라인 단일 파일)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1278" y="4809744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lmm.html / xlsx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5193792"/>
            <a:ext cx="247984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create_lmm_*.py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21093" y="5193792"/>
            <a:ext cx="56973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구축현황·검증연구 기록 문서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01278" y="5193792"/>
            <a:ext cx="236889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docx / pptx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724144"/>
            <a:ext cx="11094689" cy="51206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13232" y="5742431"/>
            <a:ext cx="1076550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수치를 문서에 하드코딩하지 않는다 — 재적합하면 보고서 수치가 자동으로 따라간다.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현재까지 확보한 자료 — 남은 병목은 측점과 지각층이다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Core·External 은 확보됐다. Crustal 은 원측선이 존재하지 않아 현 격자가 상한이고, Regional 은 측점이 모자란다.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8783" y="1920240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보유 자료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190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9500" y="1920240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8783" y="2340864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(13차) 계수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7190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완비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9500" y="2340864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재현성 검증 통과 (ppigrf 대조)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61488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8783" y="2761488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절대측정 16점 (2019, 2022-2025)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190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9500" y="2761488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권고 30점 대비 미달 · 편각 품질 불량점 배제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82112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8783" y="3182112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KIGAM 자력이상 2.8 km 격자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7190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해상도 상한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9500" y="3182112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 공백 39% · 원측선 자료가 존재하지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02736"/>
            <a:ext cx="1037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783" y="3602736"/>
            <a:ext cx="314552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1분 자료 (관측소 4소)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190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편각 적용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9500" y="3602736"/>
            <a:ext cx="492067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관측시각 복원 · 보정량 167세션 (정온·편각 전용)</a:t>
            </a:r>
          </a:p>
        </p:txBody>
      </p:sp>
      <p:pic>
        <p:nvPicPr>
          <p:cNvPr id="31" name="Picture 30" descr="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4169663"/>
            <a:ext cx="1924131" cy="21031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548640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16점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99232" y="4224528"/>
            <a:ext cx="233172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118104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30회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18104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관측 · 방문 (2019~2025)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49824" y="4224528"/>
            <a:ext cx="2331720" cy="96926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68696" y="4370832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282 km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68696" y="4992624"/>
            <a:ext cx="2093976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최북단 측점 위 공백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340096"/>
            <a:ext cx="7498079" cy="78638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358383"/>
            <a:ext cx="7168895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성과표에는 연도만 있으나 지리원 야장에서 2019~2025 분 단위 관측시각을 복원했다 (2021년 야장은 없다).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관측소 4소 공간보간으로 167세션에 보정량을 산출해 편각에 적용 중이다 — 병목은 측점 수와 지각층으로 옮겨갔다.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교차검증 결과 — 구조는 섰고, 목표치는 아직이다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16측점 LOO 기준 편각 0.512° · 총자력 63.0 nT로 목표를 넘는다. 정식 편각 산출에는 쓰지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07</a:t>
            </a:r>
          </a:p>
        </p:txBody>
      </p:sp>
      <p:pic>
        <p:nvPicPr>
          <p:cNvPr id="8" name="Picture 7" descr="l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947672"/>
            <a:ext cx="4142232" cy="20711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0.512°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편각 D  |  목표 &lt;0.1°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901952"/>
            <a:ext cx="2212848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99232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63.0 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총자력 F  |  목표 &lt;50 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1901952"/>
            <a:ext cx="2212848" cy="122529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30951" y="2048256"/>
            <a:ext cx="1975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F6FB2"/>
                </a:solidFill>
                <a:latin typeface="Pretendard"/>
              </a:rPr>
              <a:t>0.251°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670048"/>
            <a:ext cx="197510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LOO 복각 I  |  별도 목표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83280"/>
            <a:ext cx="681228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성분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833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6420" y="3401568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8262" y="3401568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6350" y="3401568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주된 원인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03904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" y="3822191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833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6420" y="3822191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0.1°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8262" y="3822191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6350" y="3822191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지각장 해상도 · 방위 기준 · 측점 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242816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총자력 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4833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63.0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06420" y="4242816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&lt; 50 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8262" y="4242816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6350" y="4242816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측점 밀도 · 지각장 해상도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681228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663440"/>
            <a:ext cx="9070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Crustal 상관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4833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 = +0.498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06420" y="4663440"/>
            <a:ext cx="83896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8262" y="4663440"/>
            <a:ext cx="97520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n=13 불안정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6350" y="4663440"/>
            <a:ext cx="220141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잔차 RMS 32% 감소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57216"/>
            <a:ext cx="6812280" cy="8412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" y="5175504"/>
            <a:ext cx="6483096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Crustal 상관은 표본이 13개뿐이라 측점 하나에 크게 흔들린다.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개선으로 단정하지 말 것 — 표본 확대 후 재판정이 필요하다.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297680"/>
            <a:ext cx="4142232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662671" y="4315968"/>
            <a:ext cx="3813048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현 단계 사용 범위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연구·시범계산 :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지형도 자침편차 등 정식 편각 산출 : 자료 확충 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기존 성과는 정밀하지만 부정확하다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야장 원시 판독값 197세션을 세 층위로 검정했다. 측정·계산이 아니라 방문마다 달라지는 방위 기준이 문제였다.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① 내부 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0.16″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재계산차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야장 산술은 완전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1733" y="1901952"/>
            <a:ext cx="3588501" cy="122529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4613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② 정밀도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4613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2E7D5B"/>
                </a:solidFill>
                <a:latin typeface="Pretendard"/>
              </a:rPr>
              <a:t>1.41′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4613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같은 날 세션 산포 중앙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목표 6′ 대비 양호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4827" y="1901952"/>
            <a:ext cx="3588501" cy="122529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37707" y="2011680"/>
            <a:ext cx="322274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07184"/>
                </a:solidFill>
                <a:latin typeface="Pretendard"/>
              </a:rPr>
              <a:t>③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7707" y="2286000"/>
            <a:ext cx="322274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C63D3D"/>
                </a:solidFill>
                <a:latin typeface="Pretendard"/>
              </a:rPr>
              <a:t>33.7′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7707" y="2743200"/>
            <a:ext cx="322274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재방문 잔여 RMS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16구간 중 9구간이 6′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재방문 잔여 = 관측 ΔD − IGRF 영년변화   (같은 표석을 다시 재면 0 이어야 한다)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84448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0273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0273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측점별 잔여 (′)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9800" y="360273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5020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96849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정상 (&lt;6′)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5412" y="396849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미원 2.0 · 상주 −5.2/2.5 · 성산 −0.6 · 순천 −1.5/0.5 · 함양 −5.8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9800" y="396849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7구간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3425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주의 (6~20′)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33425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거제 −19.7 · 여주 11.0 · 이원 −8.3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9800" y="433425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3구간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81728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700016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불일치 (≥20′)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5412" y="4700016"/>
            <a:ext cx="73615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부안 62.2/−70.6 · 함양 76.9 · 포천 −32.2/22.3 · 가야 −35.5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9800" y="4700016"/>
            <a:ext cx="137037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6구간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11094689" cy="113385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230368"/>
            <a:ext cx="1076550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원인 — 마크 참방위각이 재방문마다 바뀐다 (거제 159.9°→330.6° · 포천 33.2°→192.7° · 부안 54.4°→169.6°→177.5°)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마크 교체 자체는 오류가 아니나, 바뀐 마크의 참방위각이 틀리면 그 방문의 편각이 통째로 틀어진다.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→ 신규 선점에서 방위표지를 고정하고 방위각 결정법을 상향해야 하는 근거 (천문·자이로 또는 RTK 장기선)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불일치 방문 2건을 빼자 편각이 26% 좋아졌다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감사가 모델 잔차를 보지 않고 지목한 방문이다. 순환 논증이 아니라는 점이 중요하다.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199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전 (17측점)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(16측점)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7075" y="192024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2860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199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0.7691°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0.5403°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7075" y="22860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65176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총자력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9199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60.26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58.41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7075" y="265176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−1.85 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01752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9199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0.1787°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0.2600°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7075" y="301752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+0.081°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악화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38327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편각 잔차 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99199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35.0′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20.73′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7075" y="338327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−41%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개선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3749039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D / I 비대칭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3.69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37075" y="3749039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자기 원인 예상 1.64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거의 해소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114800"/>
            <a:ext cx="225795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(지각 벡터)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99199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r=+0.244 p=0.40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18137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r=+0.560 p=0.046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7075" y="4114800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기각 → 유의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반전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626864"/>
            <a:ext cx="11094689" cy="13716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4645152"/>
            <a:ext cx="10765505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가장 중요한 것은 마지막 두 줄이다.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D/I 비대칭이 3.69 → 1.95 로 떨어져 자기 원인 예상값(1.64)에 근접했다. 「편각에만 작용하는 초과 오차」의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정체가 바로 그 두 방문이었다는 뜻이다.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규모 미달로 접어 뒀던 「지각 벡터 성분 누락」이 잡음이 걷히자 드러났다(p=0.046).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대가 — 부안이 성과표에 2023 한 건뿐이라 측점이 17→16 으로 줄어 서해안 공간 커버리지를 잃는다. 복각도 악화됐다.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네 가설 중 셋은 기각, 하나는 살아나 모형에 들어갔다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감사로 잡음이 걷히자 「지각 벡터 성분 누락」만 남았다. 그것을 구현한 것이 이번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903720" cy="4754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가설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1409" y="1920240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7930" y="1920240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유의확률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3488" y="1920240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95728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A. 지각 벡터 성분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1409" y="2395728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930" y="2395728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0.084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3488" y="2395728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예상 기여 7.8′ — 주원인은 아니나 KPI 6′ 초과로 무시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71216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B. 측정 정밀도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1409" y="2871216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930" y="2871216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3488" y="2871216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1회 11.4′ vs 2회+ 20.5′ — 차이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28416"/>
            <a:ext cx="6903720" cy="47548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46704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C. 국소 자기 거칠기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1409" y="3346704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r = +0.168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930" y="3346704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p = 0.60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3488" y="3346704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설명력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822191"/>
            <a:ext cx="175016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D. 미적합 지역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1409" y="3822191"/>
            <a:ext cx="7836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930" y="3822191"/>
            <a:ext cx="85267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3488" y="3822191"/>
            <a:ext cx="2785719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공간 상관 확인 안 됨 — 다만 최근거리 측점쌍 5개뿐</a:t>
            </a:r>
          </a:p>
        </p:txBody>
      </p:sp>
      <p:pic>
        <p:nvPicPr>
          <p:cNvPr id="31" name="Picture 30" descr="a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993392"/>
            <a:ext cx="4023360" cy="210142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9520" y="411480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D / I 잔차 비대칭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389120"/>
            <a:ext cx="4023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관측 2.83 대 자기 원인 예상 1.64 — 초과분이 거의 사라졌다.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535424"/>
            <a:ext cx="6903720" cy="109728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3232" y="4553712"/>
            <a:ext cx="657453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가설 A 를 「규모 미달」로 접어서는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현재 잔차(29′)의 주원인은 아니지만, 예상 기여 7.8′ 는 KPI 6′ 를 넘는다.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자료 계통 오차를 걷어낸 뒤 KPI 관점에서 다시 평가해야 하는 2차 오차원이다.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535424"/>
            <a:ext cx="4023360" cy="109728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54112" y="4553712"/>
            <a:ext cx="3694176" cy="1060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계통 오차 (자료만으로 구분 불가)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마크 진북 방위각 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성과표 전사·환산 오류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편각 환산 절차 오류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항공자력의 방향 정보 — 쓸 수 있으나 아직 진단용이다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총자력 이상은 이상벡터를 주자기장 방향으로 투영한 값이라 역산할 수 있다. 다만 격자 결측을 0 으로 채운 역산이라 생산 모형에는 넣지 않는다.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82638"/>
                </a:solidFill>
                <a:latin typeface="Pretendard"/>
              </a:rPr>
              <a:t>ΔF  =  l · b_north  +  m · b_east  +  n · b_down       (l, m, n) = 주자기장 단위벡터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05456"/>
            <a:ext cx="6903720" cy="40233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2523744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9484" y="2523744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F만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6376" y="2523744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지각 벡터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523744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07792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편각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9484" y="2926080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0.5123°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6376" y="2926080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0.5022°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−0.010°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28416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LOO 복각 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9484" y="3328416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0.1972°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376" y="3328416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0.0881°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3328416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−0.109°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12464"/>
            <a:ext cx="6903720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3730752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가설 A 상관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9484" y="3730752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376" y="3730752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r=+0.478 p=0.084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3730752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경계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133088"/>
            <a:ext cx="188823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적용 후 잔여 상관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29484" y="4133088"/>
            <a:ext cx="14740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6376" y="4133088"/>
            <a:ext cx="161208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r=+0.478 p=0.08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4133088"/>
            <a:ext cx="11978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이중계상 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505456"/>
            <a:ext cx="192024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08392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7.8′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8392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복원 벡터의 편각 예측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2505456"/>
            <a:ext cx="192024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838944" y="2651760"/>
            <a:ext cx="1682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86F2A"/>
                </a:solidFill>
                <a:latin typeface="Pretendard"/>
              </a:rPr>
              <a:t>1.80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8944" y="3273552"/>
            <a:ext cx="168249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최적배율 — 진폭이 모자란다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776472"/>
            <a:ext cx="4050791" cy="14813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54112" y="3794759"/>
            <a:ext cx="3721607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탐색적 분석이다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격자 결측 39% 를 0 nT 로 채워 역산했다.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결측과 「이상 0」은 다른 뜻이라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복원 진폭 자체에 불확실성이 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36592"/>
            <a:ext cx="6903720" cy="122529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4754880"/>
            <a:ext cx="6574536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성능만 보면 넣는 쪽이 낫다 — 특히 복각이 0.197 → 0.088° 로 줄어든다.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그럼에도 생산 모형에서 뺀 이유는 신뢰성이다. 격자 결측 39% 를 0 nT 로 채운 역산이라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복원 진폭에 불확실성이 있다. 결측 보간을 개선한 뒤 다시 판정한다.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구현은 세 환경에서 같은 값을 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Python·JavaScript·Excel 세 구현이 동일 좌표에서 일치함을 확인했다 — 계산체계 자체는 재현 가능하다.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8969" y="1920240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차이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340864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JavaScript ↔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340864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웹 계산기 vs 서버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8969" y="2340864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0.21″ · F 0.07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761488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Excel ↔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761488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수식 평가 회귀검증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8969" y="2761488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0.33″ · F 0.12 nT (사전격자 보간오차)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182112"/>
            <a:ext cx="27017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IGRF 엔진 ↔ ppigrf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3182112"/>
            <a:ext cx="403310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층 구현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969" y="3182112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D 0.01″ · F 0.37 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95344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층별 기여 실측 (충북 청주 인근 1점)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42816"/>
            <a:ext cx="2677660" cy="9144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82638"/>
                </a:solidFill>
                <a:latin typeface="Pretendard"/>
              </a:rPr>
              <a:t>50,831 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Core (IGRF)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4316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82332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+8.31 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2332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Regional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9992" y="4242816"/>
            <a:ext cx="2677660" cy="91440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88008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F6FB2"/>
                </a:solidFill>
                <a:latin typeface="Pretendard"/>
              </a:rPr>
              <a:t>-147.76 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8008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5669" y="4242816"/>
            <a:ext cx="2677660" cy="914400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93685" y="4370832"/>
            <a:ext cx="24216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63D3D"/>
                </a:solidFill>
                <a:latin typeface="Pretendard"/>
              </a:rPr>
              <a:t>-139.45 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3685" y="4791456"/>
            <a:ext cx="24216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합계 LMM − IGRF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58383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376671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IGRF 대조는 정확도 검증이 아니다. IGRF는 LMM의 입력이므로 LMM−IGRF는 정의상 보정층의 합이다.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정당한 용도는 Core 구현 검증 하나이며 이미 통과했다 — 정확도는 LOO·독립 표본으로만 말할 수 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F6FB2"/>
                </a:solidFill>
                <a:latin typeface="Pretendard"/>
              </a:rPr>
              <a:t>Ⅰ. LMM 중간결과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웹에서 바로 확인할 수 있게 만들어 두었다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모델·자료 현황·계산기를 각각 한 페이지로 낸다. 모두 정적 파일이라 설치 없이 열린다.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109468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한국 지자기도 — IGRF · LMM · 차이   (lmm_map.html)</a:t>
            </a:r>
          </a:p>
        </p:txBody>
      </p:sp>
      <p:pic>
        <p:nvPicPr>
          <p:cNvPr id="9" name="Picture 8" descr="lmm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96" y="2194560"/>
            <a:ext cx="5391974" cy="2084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352544"/>
            <a:ext cx="1109468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 와 LMM 은 같은 색범위 · 오른쪽이 LMM 이 더하는 양(지각 자기이상 구조)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3D 지구본 — 한국 LMM 패치</a:t>
            </a:r>
          </a:p>
        </p:txBody>
      </p:sp>
      <p:pic>
        <p:nvPicPr>
          <p:cNvPr id="12" name="Picture 11" descr="globe_lmm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151" y="4882896"/>
            <a:ext cx="1357162" cy="859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geomag_globe.html · 커서를 올리면 그 좌표의 LMM D·I·F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44" y="4626864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자료 확보 현황</a:t>
            </a:r>
          </a:p>
        </p:txBody>
      </p:sp>
      <p:pic>
        <p:nvPicPr>
          <p:cNvPr id="15" name="Picture 14" descr="inven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608" y="4882896"/>
            <a:ext cx="1375258" cy="8595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33144" y="5797296"/>
            <a:ext cx="54101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data_inventory.html · 4개 층을 파일에서 직접 세어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071616"/>
            <a:ext cx="11094689" cy="38404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3232" y="6089903"/>
            <a:ext cx="1076550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시연 — ① 지자기도 3면 비교 → ② 지구본에서 위치·규모 확인 → ③ 자료 현황으로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확인할 자료 ① — 한국지질자원연구원 항공자력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현재는 가공된 격자만 쓰고 있다. 원측선 자료를 확인해 Crustal 층의 해상도 한계를 푼다.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14</a:t>
            </a:r>
          </a:p>
        </p:txBody>
      </p:sp>
      <p:pic>
        <p:nvPicPr>
          <p:cNvPr id="8" name="Picture 7" descr="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947672"/>
            <a:ext cx="4690872" cy="23454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2.8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현재 사용 격자 간격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901952"/>
            <a:ext cx="210312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89504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6FB2"/>
                </a:solidFill>
                <a:latin typeface="Pretendard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 간격 (권고)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901952"/>
            <a:ext cx="210312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11496" y="2048256"/>
            <a:ext cx="18653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496" y="2670048"/>
            <a:ext cx="186537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격자 자료 공백 비율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36976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13232" y="32918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무엇을 확인하는가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29584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측선 간격·측고·IGRF 제거 기준·측량 연도 — 격자로 가공되기 전의 원측선 제원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95344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950207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왜 필요한가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87952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현재 격자는 2.8 km 간격이라 50 km 미만 단파장 지각이상을 담지 못한다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53712"/>
            <a:ext cx="6382512" cy="566928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13232" y="460857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6F2A"/>
                </a:solidFill>
                <a:latin typeface="Pretendard"/>
              </a:rPr>
              <a:t>무엇이 풀리는가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6320"/>
            <a:ext cx="6035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총자력 F 목표 미달의 주된 원인 중 하나인 지각장 해상도 한계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21808"/>
            <a:ext cx="11094689" cy="9509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5340096"/>
            <a:ext cx="1076550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선행 검증 근거 — 경상분지 동해안 사례에서 점 측정 잔차와 항공자력 2 km 평균이 5 nT 이내로 일치했다.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즉 항공자력이 점 측정 잔차를 재현한다는 것은 이미 확인됐고, 남은 것은 전국 모자이크 적용이다.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원측선은 존재하지 않고, 있었더라도 개선폭은 제한적이었다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박영수 외(2019) 「한국의 자력이상도」에 37년치 탐사 제원이 정리돼 있다. 측선 간격 자체가 1~2 km 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97480" cy="113385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1 ~ 2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주측선 간격 (연도별)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점간 약 30 m · 고도 100~200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83864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2.3 × 2.8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1.5분 등격자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원측선보다 성기다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901952"/>
            <a:ext cx="2697480" cy="1133856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00216" y="2048256"/>
            <a:ext cx="24597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C63D3D"/>
                </a:solidFill>
                <a:latin typeface="Pretendard"/>
              </a:rPr>
              <a:t>86.4 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70048"/>
            <a:ext cx="2459736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공개본 격자 자체 내삽오차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25.9% 가 목표 50 nT 초과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97696" y="1901952"/>
            <a:ext cx="2645633" cy="113385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6568" y="2048256"/>
            <a:ext cx="24078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2F6FB2"/>
                </a:solidFill>
                <a:latin typeface="Pretendard"/>
              </a:rPr>
              <a:t>364만점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670048"/>
            <a:ext cx="2407889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1982~2017 · 37년 · 도폭 190개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11094689" cy="365760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" y="321868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제원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5412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초기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4350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4234" y="321868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3172" y="321868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최근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6616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58444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주측선 / 맺음측선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 km / 5 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4350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1.5 km / 8~10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4234" y="358444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 km / 6~8 km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3172" y="358444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1~2 km / 4~6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950207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연도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1982~1993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4350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1994~1999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4234" y="3950207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2000~2011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3172" y="3950207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2012~2017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297680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58368" y="4315968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장비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5412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양성자 G-813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4350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G-822A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4234" y="4315968"/>
            <a:ext cx="203605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세슘 + GNSS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3172" y="4315968"/>
            <a:ext cx="21470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3축 경사계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828032"/>
            <a:ext cx="11094689" cy="1517904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13232" y="4846320"/>
            <a:ext cx="10765505" cy="1481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설명자료의 「측선 250 m」는 자체 수치와 맞지 않는다 — 8,600 km²에 213,791점이면 점간 32 m 기준 측선 간격이 1.26 km 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(250 m 였다면 108만점 필요). 사례연구도 표준 측선 자료였고 특별히 조밀한 자료가 아니었다.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원측선은 존재하지 않는다. 설령 받았더라도 측선 직교방향은 2.8 → 1~2 km, 1.4~2.8배 개선에 그쳤을 것이다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편각에도 영향이 있다 — 지각층을 벡터로 복원해 D·I 에 기여시켰으므로, 격자 평활이 진폭을 1.6배 줄이고 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추가할 자료 ② — 국토지리정보원 2021~2025 반복측정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관측시각은 이미 야장에서 복원했다. 남은 것은 Regional 층의 입력 측점을 늘리는 일이다.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16점 → 30점 이상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Regional 입력 측점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F6FB2"/>
                </a:solidFill>
                <a:latin typeface="Pretendard"/>
              </a:rPr>
              <a:t>2021~2025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추가 대상 반복측정 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01952"/>
            <a:ext cx="2487168" cy="1188720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879592" y="2048256"/>
            <a:ext cx="22494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E7D5B"/>
                </a:solidFill>
                <a:latin typeface="Pretendard"/>
              </a:rPr>
              <a:t>167세션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670048"/>
            <a:ext cx="22494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관측시각 복원 완료 · 보정량 산출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735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291840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5412" y="32918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9500" y="3291840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시 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758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3694176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측점 밀도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5412" y="36941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현재 16점 · 권고 30점 이상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9500" y="3694176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1차 다항식의 자유도 확보 · 이상치 배제 작동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96512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5412" y="40965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야장에서 2019~2025 분 단위 복원 (완료)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500" y="4096512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적용 중 — 야장에만 있는 측점 17건이 추가 후보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" y="4498848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5412" y="44988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적합에 쓰지 않는 측점 분리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9500" y="4498848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외에 독립 표본 검증이 가능해진다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901184"/>
            <a:ext cx="18141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시기간 대조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5412" y="49011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겹치는 측점의 IGRF 잔차 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9500" y="4901184"/>
            <a:ext cx="4920677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External 적용 전후로 0에 수렴하는지 정량 판정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86400"/>
            <a:ext cx="11094689" cy="932688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3232" y="5504688"/>
            <a:ext cx="10765505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두 자료는 서로 다른 목표를 푼다 — 섞어 말하면 안 된다.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항공자력(Crustal) → 총자력 F의 지각장 해상도 — 원측선이 없어 현 격자가 상한이다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· 반복측정(Regional) → 편각 D의 측점 밀도. 관측시각(External)은 이미 확보·적용했다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어떤 자료가 어떤 미달을 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현재의 두 미달 항목을 원인별로 나누고, 각 자료가 담당하는 몫을 분명히 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편각 D  0.512°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0.1°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외부장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관측소 4소 적용 완료 — 잔여는 NOC 투영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16점 → 30점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계통 오차 의심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성과표 원본 감사 · 방위 기준 재확인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1901952"/>
            <a:ext cx="5419328" cy="841248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011680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C63D3D"/>
                </a:solidFill>
                <a:latin typeface="Pretendard"/>
              </a:rPr>
              <a:t>총자력 F  63.0 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168" y="237744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목표 50 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4000" y="2889504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5168" y="2980944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지각장 해상도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8048" y="3291840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원측선 없음 — 현 격자가 상한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3822191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3913631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측점 밀도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8048" y="4224528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반복측정 확대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24000" y="4754880"/>
            <a:ext cx="5419328" cy="8229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25168" y="4846320"/>
            <a:ext cx="50169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82638"/>
                </a:solidFill>
                <a:latin typeface="Pretendard"/>
              </a:rPr>
              <a:t>· 자료 공백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8048" y="5157216"/>
            <a:ext cx="48341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→ 격자 공백 39% 보완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705856"/>
            <a:ext cx="11094689" cy="73152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765505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순서가 중요하다 — 상시관측으로 제거할 수 있는 일변동은 편각 기준 수 분(′) 수준인데,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미설명 잔차는 29′다. 잡음이 신호보다 큰 상태에서 보정을 얹으면 개선 여부를 판정할 수 없다.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E86F2A"/>
                </a:solidFill>
                <a:latin typeface="Pretendard"/>
              </a:rPr>
              <a:t>Ⅱ. 확인·추가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앞으로 필요한 자료와 요구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설명자료의 권고 수준과 현재 보유량을 나란히 놓고, 확보 경로까지 적는다.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4465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3403" y="1920240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3287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확보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1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무엇이 풀리나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항공자력 원측선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4465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측선 100~250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3403" y="2340864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존재하지 않음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측량 외 경로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5601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F 목표 (봉쇄)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지표 절대측정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4465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30점 이상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3403" y="2761488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16점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3287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2027 캠페인 · 야장 17건 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01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D·F 목표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관측시각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4465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세션마다 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403" y="3182112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2019~2025 확보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완료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01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External 전제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상시관측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4465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1분 자료 · 다지점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3403" y="3602736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CYG + KASA 3소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3287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확보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01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NOC 투영 입력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독립 검증점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4465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적합 제외 측점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3403" y="4023359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미분리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93287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신규 캠페인 설계에 반영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601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성능 과대평가 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443983"/>
            <a:ext cx="170321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182638"/>
                </a:solidFill>
                <a:latin typeface="Pretendard"/>
              </a:rPr>
              <a:t>관측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44465" y="4443983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≤ 2 · RTK ≤ 1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3403" y="4443983"/>
            <a:ext cx="21470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 미제어(정온 123/196)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3287" y="4443983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작업지침 반영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6013" y="4443983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표본 품질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102352"/>
            <a:ext cx="11094689" cy="131673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3232" y="5120640"/>
            <a:ext cx="107655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우선순위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① 측점 확대 — 야장에만 있는 17건을 검증해 투입하면 가장 값싸게 늘릴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② NOC 공간투영 구현 — 자료는 이미 있다. 관측소 4곳이라 공간 모드를 적합할 수 있다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③ 지각층은 보류 — 원측선이 존재하지 않으므로 F 목표는 현 자료로 열리지 않는다. 신규 자력측량 여부가 갈림길이다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C63D3D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외부장 보정은 구현했으나, 지금 표본으로는 효과가 확인되지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자문 권고대로 대체관측소 공간보간까지 구현했다. 판정은 평가 측점을 고정한 교차검증으로 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20624"/>
          </a:xfrm>
          <a:prstGeom prst="rect">
            <a:avLst/>
          </a:prstGeom>
          <a:solidFill>
            <a:srgbClr val="8C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1093" y="1920240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보정량 자료원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8137" y="1920240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세션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0447" y="1920240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LOO 편각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385" y="1920240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40864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미적용 (채택)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1093" y="2340864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8137" y="2340864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0447" y="2340864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0.5016°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385" y="2340864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기준선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761488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093" y="2761488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18137" y="2761488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0447" y="2761488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0.5098°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385" y="2761488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63824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182112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1093" y="3182112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137" y="3182112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전 세션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0447" y="3182112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0.5177°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385" y="3182112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602736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093" y="3602736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청양 단독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8137" y="3602736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447" y="3602736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0.5189°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385" y="3602736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05072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23359"/>
            <a:ext cx="247984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편각만 차감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21093" y="4023359"/>
            <a:ext cx="18141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관측소 4소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18137" y="4023359"/>
            <a:ext cx="12594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정온만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0447" y="4023359"/>
            <a:ext cx="203605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0.5323°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385" y="4023359"/>
            <a:ext cx="2590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개선 없음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7512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178세션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4소 보간으로 산출한 보정량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59" y="4608576"/>
            <a:ext cx="3566160" cy="9692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370831" y="4754880"/>
            <a:ext cx="3328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F6FB2"/>
                </a:solidFill>
                <a:latin typeface="Pretendard"/>
              </a:rPr>
              <a:t>5.4′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1" y="5376672"/>
            <a:ext cx="3328415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607184"/>
                </a:solidFill>
                <a:latin typeface="Pretendard"/>
              </a:rPr>
              <a:t>세션 평균 편각 보정량 규모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4608576"/>
            <a:ext cx="3688049" cy="969264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9871" y="4626864"/>
            <a:ext cx="3358865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무엇이 부족한가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보정량(5.4′)이 잔차(26′)에 견줘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작아 표본 16점으로는 가려지지 않는다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5669280"/>
            <a:ext cx="11094689" cy="749808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13232" y="5687568"/>
            <a:ext cx="10765505" cy="71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⚠ 오전에는 「4소·정온 적용이 0.365 → 0.323° 로 개선」이라고 판정했으나 그 비교는 순환이었다 — 설정마다 강건 적합이 평가 측점을 다시 골랐다.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   평가 집합을 한 번만 정해 고정하면 어떤 보정도 기준선을 넘지 못한다. 보정량은 유지하므로 측점이 늘면 다시 판정한다.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자문 권고 반영 현황 — 남은 것은 두 가지다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2026-07-29 자문회의 지적 사항을 항목별로 대조했다.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자문 권고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2987" y="1920240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반영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77907" y="1920240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상태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9424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67712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일변화 미보정이 근본 원인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987" y="2267712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야장 직접 대조로 원시값 확정 · 보정량 산출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7907" y="2267712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15184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청양 단독 차감의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2987" y="2615184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관측소 4소 공간보간 구현 — 효과는 미확인(앞 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7907" y="2615184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44368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962656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2020~2025 야장·관측시각 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2987" y="2962656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212세션 복원 · 178세션 보정량 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7907" y="2962656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10127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Kp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2987" y="3310127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정온 판정 · 교란 세션 보정 제외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7907" y="3310127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39311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657599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구배를 필터가 아니라 가중치로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2987" y="3657599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계단 점수 + 800 nT 하드 제외 → 연속 가중치 (250 nT 최고점)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7907" y="3657599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05071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측점 수 대비 자유도 민감도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2987" y="4005071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1차 다항식은 14점까지 유지 · 12점부터 흔들림 · 2차는 사용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7907" y="4005071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반영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34255"/>
            <a:ext cx="11094689" cy="34747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352543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에폭 혼용 금지 (2010 vs 2020~24)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2987" y="4352543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정식 산출 단계에서 2019 제외 채택 · 시범 단계는 표본 유지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7907" y="4352543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700015"/>
            <a:ext cx="27017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82638"/>
                </a:solidFill>
                <a:latin typeface="Pretendard"/>
              </a:rPr>
              <a:t>그레디오미터 도입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2987" y="4700015"/>
            <a:ext cx="625203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장비 사안 — 연구 범위 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700015"/>
            <a:ext cx="159227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607184"/>
                </a:solidFill>
                <a:latin typeface="Pretendard"/>
              </a:rPr>
              <a:t>해당 없음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1"/>
            <a:ext cx="11094689" cy="82296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3232" y="5212079"/>
            <a:ext cx="10765505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남은 두 가지는 자료·장비 사안이다.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신규 측점 확보 — 배치 최적과 자기환경 등급이 어긋나는 구간은 후보 재탐색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지각층 해상도 — 항공자력 원측선이 존재하지 않아 현 격자가 상한이다. 신규 자력측량 여부는 사업 판단 사항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설명자료 대비 — 무엇을 지켰고 무엇이 남았는가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4층 구조와 검증 절차는 그대로 따랐다. 남은 것은 자료 규모와 External 의 공간투영이다.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402336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항목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1624" y="192024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설명자료 요건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5712" y="192024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현재 구현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7907" y="192024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04288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32257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①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1624" y="232257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IGRF-14 (deg ≤ 13), ppigrf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5712" y="232257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동일 구현 · 재현성 검증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77907" y="232257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72491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② Regional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1624" y="272491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지표 절대측정 30점 이상 · D+I+F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5712" y="272491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16점 · 세션 6회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7907" y="272491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12724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③ Crustal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1624" y="312724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측선 100~250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5712" y="312724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2.8 km 가공 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77907" y="312724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529584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④ External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1624" y="3529584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CYG NOC 분해 → 점 위치 공간투영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5712" y="3529584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4소 1차 평면 보간 구현 · 모델 미반영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7907" y="3529584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13632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3931920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Regional 적합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11624" y="3931920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다항식 또는 R-SCHA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712" y="3931920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상수항(0차) — 공간항·시간항 모두 미채택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77907" y="3931920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334256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지각 결합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1624" y="4334256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항공자력 이상을 F 에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5712" y="4334256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1:1 결합(α=1). α 추정은 과적합으로 기각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7907" y="4334256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718304"/>
            <a:ext cx="11094689" cy="40233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4736592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잔차면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11624" y="4736592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Residual = 관측 − LMM 을 공간 모델링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5712" y="4736592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7907" y="4736592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미구현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138928"/>
            <a:ext cx="137037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1624" y="5138928"/>
            <a:ext cx="38112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자기검증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5712" y="5138928"/>
            <a:ext cx="358931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LOO 구현 · 3환경 일치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77907" y="5138928"/>
            <a:ext cx="159227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준수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705856"/>
            <a:ext cx="11094689" cy="10241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13232" y="5724144"/>
            <a:ext cx="10765505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설명자료의 「자료가 하나라도 빠지면 구조적 결함」 진단이 그대로 맞았다.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항공자력 원측선이 존재하지 않아 F 목표는 현 자료로 달성 불가 — 신규 자력측량 없이는 열리지 않는다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외부장 보정은 구현했으나 16측점 표본에서는 효과가 가려진다 → 측점 확충이 선행 조건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검증은 게이트를 두고 단계적으로 진행한다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판정기준을 먼저 정하고 그 기준에 따라 다음 단계로 넘어간다 — 층이 결합돼 있어 순차 튜닝은 금지한다.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0단계  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2022~25 야장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212세션 · 분 단위 시각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72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8888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58888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05192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1단계  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3480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성과표 원본 감사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3480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불일치 방문 2건 특정·제외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1120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9136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69136" y="1901952"/>
            <a:ext cx="2663944" cy="34747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15440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2단계   완료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3728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지각 벡터 · 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3728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end-to-end 재적합으로 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69" y="2505456"/>
            <a:ext cx="1280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9385" y="1901952"/>
            <a:ext cx="2663944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79385" y="1901952"/>
            <a:ext cx="2663944" cy="347472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25689" y="1938528"/>
            <a:ext cx="23713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3단계   진행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3977" y="2395728"/>
            <a:ext cx="2334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재측정 · 신규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77" y="2944368"/>
            <a:ext cx="2334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KPI 미달분 · 독립 표본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1단계 판정기준 — 편각 잔차로 다음 행동을 가른다 (기준은 착수 전에 정했다)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041648"/>
            <a:ext cx="7406640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감사 후 편각 잔차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059935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02351" y="4059935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후속 조치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462272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10′ 이하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4480559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외부장 보정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2351" y="4480559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상시관측 자료 결합 착수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10 ~ 20′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901183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부분 재측정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02351" y="4901183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잔차 큰 측점 현장 재측정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303520"/>
            <a:ext cx="7406640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20′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321807"/>
            <a:ext cx="20391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모형 작업 중단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2351" y="5321807"/>
            <a:ext cx="27797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선행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4041648"/>
            <a:ext cx="3916649" cy="1682496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4059935"/>
            <a:ext cx="358746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현재 29.3′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세 번째 구간.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방위 기준 재결정이 먼저다.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Pretendard"/>
              </a:rPr>
              <a:t>(착수 시점 35.0′)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2E7D5B"/>
                </a:solidFill>
                <a:latin typeface="Pretendard"/>
              </a:rPr>
              <a:t>Ⅲ. 향후 검증·보완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보완 우선순위와 남은 위험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자료 확충만으로 풀리지 않는 항목이 있다 — 그 경우의 대응까지 미리 정해 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88720" cy="493776"/>
          </a:xfrm>
          <a:prstGeom prst="rect">
            <a:avLst/>
          </a:prstGeom>
          <a:solidFill>
            <a:srgbClr val="E86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29384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최우선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6231" y="1901952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029967" y="1920240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1956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잔차 큰 측점 재측정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176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편각 잔차 29.3′ — 방위표지 고정과 함께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05456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532888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2순위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56231" y="2505456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9967" y="2523744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256032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신규 측점 확보 (30점)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277977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자유도·이상치 배제·독립 검증점. 12점 이하에서 무너진다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08960"/>
            <a:ext cx="1188720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3136392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3순위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1" y="3108960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029967" y="3127248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316382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NOC 공간투영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3383280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4소 평면은 근사 — 교란시에 먼저 깨진다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2464"/>
            <a:ext cx="1188720" cy="493776"/>
          </a:xfrm>
          <a:prstGeom prst="rect">
            <a:avLst/>
          </a:prstGeom>
          <a:solidFill>
            <a:srgbClr val="607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739896"/>
            <a:ext cx="1188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retendard"/>
              </a:rPr>
              <a:t>보류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1" y="3712464"/>
            <a:ext cx="55961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29967" y="3730752"/>
            <a:ext cx="5239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2638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3767328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82638"/>
                </a:solidFill>
                <a:latin typeface="Pretendard"/>
              </a:rPr>
              <a:t>지각층 해상도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398678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07184"/>
                </a:solidFill>
                <a:latin typeface="Pretendard"/>
              </a:rPr>
              <a:t>원측선이 없어 현 격자가 상한 — 신규 자력측량은 사업 판단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17136"/>
            <a:ext cx="11094689" cy="420624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" y="4535423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9199" y="4535423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내용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8969" y="4535423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대응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59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956047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계통 오차가 남는 경우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99199" y="4956047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자료를 늘려도 편각 잔차가 줄지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8969" y="4956047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방위 기준 재결정 · 문제 측점 재측정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376671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표본 불안정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9199" y="5376671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Crustal 상관이 n=13로 흔들림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8969" y="5376671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표본 확대 전 결론 유보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779007"/>
            <a:ext cx="11094689" cy="42062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8368" y="5797295"/>
            <a:ext cx="225795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82638"/>
                </a:solidFill>
                <a:latin typeface="Pretendard"/>
              </a:rPr>
              <a:t>공간 공백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9199" y="5797295"/>
            <a:ext cx="44768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최북단 위 282 km 미측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969" y="5797295"/>
            <a:ext cx="381120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신규 캠페인 배치에 반영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26679" y="1901952"/>
            <a:ext cx="3916649" cy="2395728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891271" y="1920240"/>
            <a:ext cx="3587465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지금 말할 수 있는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구조와 계산체계는 재현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오차 원인을 층으로 분리 가능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아직 말할 수 없는 것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목표 정확도 달성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· 정식 편각 산출 적합성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2020년은 «보정된 지자기도», 이번은 «계산되는 지역모델»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같은 IGRF를 쓰지만 IGRF를 다루는 방식이 다르다 — 보정 대상으로 보느냐, 배경장으로 두느냐.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5419328" cy="786384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5B95"/>
                </a:solidFill>
                <a:latin typeface="Pretendard"/>
              </a:rPr>
              <a:t>2020년 지자기도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예측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5424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국내 실측과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5424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차이만큼 보정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5424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980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기준시점 지자기도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1901952"/>
            <a:ext cx="5419328" cy="7863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1993392"/>
            <a:ext cx="5016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F6FB2"/>
                </a:solidFill>
                <a:latin typeface="Pretendard"/>
              </a:rPr>
              <a:t>2026년 LMM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5168" y="2359152"/>
            <a:ext cx="5016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성분 분리 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4000" y="2852928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5168" y="2871216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1.  IGRF 배경장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785" y="336499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511296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3529584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2.  실측 − IGRF = 지역 신호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0785" y="402336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4000" y="4169664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5168" y="4187952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3.  성분별 공간모델링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785" y="468172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9FB4C7"/>
                </a:solidFill>
                <a:latin typeface="Pretendard"/>
              </a:rPr>
              <a:t>▾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000" y="4828032"/>
            <a:ext cx="5419328" cy="51206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5168" y="4846320"/>
            <a:ext cx="501699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82638"/>
                </a:solidFill>
                <a:latin typeface="Pretendard"/>
              </a:rPr>
              <a:t>4.  좌표·시점별 D·I·F 계산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11094689" cy="8778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" y="5522975"/>
            <a:ext cx="10765505" cy="841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핵심 차이는 Regional 층이다. 2020년은 IGRF와 실측의 차이를 «보정량»으로 다뤘고,</a:t>
            </a:r>
          </a:p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이번에는 그 차이를 한반도 고유의 «지역 자기장 신호»로 보아 공간함수로 추정한다.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항목별 비교 — 구조가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배경장은 같지만 국내 관측자료의 지위, 성분 분리 여부, 검증 방식, 갱신 개념이 모두 다르다.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36576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5412" y="192024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2020년 대한민국 지자기도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3287" y="192024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</a:rPr>
              <a:t>2026년 LMM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기본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5412" y="22860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기반 보정 지자기도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3287" y="22860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지역 자기장 성분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국내 반복측량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412" y="26517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IGRF와 비교·보정에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3287" y="26517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Regional 층을 추정하는 핵심자료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9923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30175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지각 자기장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5412" y="30175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명시적 분리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3287" y="30175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항공자력 → Crustal 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38327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외부장·일변화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5412" y="338327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상시관측을 보정·검토에 활용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3287" y="338327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External 층으로 별도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3075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749039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공간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5412" y="3749039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분포 + 국내성과 보정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3287" y="3749039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IGRF + Regional + Crustal + 잔차면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1480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시간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5412" y="411480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기준연도 환산 · IGRF 영년변화 중심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93287" y="411480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기준시점 환산 + 외부장·영년변화 분리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448056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5412" y="448056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관측값·IGRF 비교 중심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93287" y="448056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LOO 교차검증 · 독립 표본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활용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5412" y="484632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지자기도 · 도엽별 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3287" y="484632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좌표 입력 → D·I·F 계산 (웹·Excel·도엽)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193792"/>
            <a:ext cx="11094689" cy="36576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" y="5212080"/>
            <a:ext cx="18141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82638"/>
                </a:solidFill>
                <a:latin typeface="Pretendard"/>
              </a:rPr>
              <a:t>갱신 개념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5412" y="5212080"/>
            <a:ext cx="42549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새 지자기도 재작성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3287" y="5212080"/>
            <a:ext cx="44768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07184"/>
                </a:solidFill>
                <a:latin typeface="Pretendard"/>
              </a:rPr>
              <a:t>신규 관측자료로 모델 재적합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724144"/>
            <a:ext cx="11094689" cy="58521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13232" y="5742432"/>
            <a:ext cx="1076550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연구는 «19년까지 2회 이상 측량된 15점을 기준자료로 활용했다 — 자료의 성격이 아니라 쓰임이 달라진 것이다.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같은 측정값을 넣어도 계산 흐름이 갈린다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한 측점에서 IGRF 편각 −8.00°, 실측 편각 −8.35°인 경우를 예로 든다.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11094689" cy="566928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1109468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5B95"/>
                </a:solidFill>
                <a:latin typeface="Pretendard"/>
              </a:rPr>
              <a:t>예시 측점   IGRF D = −8.00°      실측 D = −8.35°      차이 = −0.35°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5419328" cy="493776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2020년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−0.35°를 «IGRF와 실측의 차이»로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그 지점 주변의 지자기도 값을 보정한다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980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보정된 지자기도를 도엽 단위로 제공한다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230368"/>
            <a:ext cx="5419328" cy="493776"/>
          </a:xfrm>
          <a:prstGeom prst="rect">
            <a:avLst/>
          </a:prstGeom>
          <a:solidFill>
            <a:srgbClr val="F1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5B95"/>
                </a:solidFill>
                <a:latin typeface="Pretendard"/>
              </a:rPr>
              <a:t>→ 지도에 값이 인쇄된다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4000" y="2670048"/>
            <a:ext cx="5419328" cy="493776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168" y="268833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</a:rPr>
              <a:t>LMM 방식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24000" y="331012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5168" y="332841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ΔD_regional = D_obs − D_IGRF = −0.35°  (지역 신호)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4000" y="395020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25168" y="3968496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전국 측점의 ΔD를 모아 ΔD_regional(λ, φ, t) 를 적합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4000" y="4590288"/>
            <a:ext cx="5419328" cy="493776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5168" y="460857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임의 좌표에서  D_LMM = D_IGRF + ΔD_regional + 보정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5230368"/>
            <a:ext cx="5419328" cy="493776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5168" y="5248655"/>
            <a:ext cx="501699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B2"/>
                </a:solidFill>
                <a:latin typeface="Pretendard"/>
              </a:rPr>
              <a:t>→ 좌표를 넣으면 값이 계산된다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870448"/>
            <a:ext cx="11094689" cy="54864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3232" y="5888736"/>
            <a:ext cx="10765505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2020년 결과는 «값이 적힌 지도», LMM은 «값을 만들어내는 함수»다 — 갱신 방식이 달라지는 이유가 여기에 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9468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6B5B95"/>
                </a:solidFill>
                <a:latin typeface="Pretendard"/>
              </a:rPr>
              <a:t>Ⅳ. 2020년 연구와의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9468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1" i="0">
                <a:solidFill>
                  <a:srgbClr val="182638"/>
                </a:solidFill>
                <a:latin typeface="Pretendard"/>
              </a:rPr>
              <a:t>경쟁 모델이 아니라 계보로 놓는 것이 정확하다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61288"/>
            <a:ext cx="1109468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0" i="0">
                <a:solidFill>
                  <a:srgbClr val="607184"/>
                </a:solidFill>
                <a:latin typeface="Pretendard"/>
              </a:rPr>
              <a:t>2020년 성과는 대체 대상이 아니라, 이번 연구가 딛고 서는 단계다.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81912"/>
            <a:ext cx="11094689" cy="27432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607184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07184"/>
                </a:solidFill>
                <a:latin typeface="Pretendard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1901952"/>
            <a:ext cx="3515349" cy="420624"/>
          </a:xfrm>
          <a:prstGeom prst="rect">
            <a:avLst/>
          </a:prstGeom>
          <a:solidFill>
            <a:srgbClr val="8A9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지자기 분포모델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국내 지자기 분포 파악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056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830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309" y="1901952"/>
            <a:ext cx="3515349" cy="420624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33830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8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IGRF + 실측 보정 지자기도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118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지도 제작용 국내 보정장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0235" y="246888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FB4C7"/>
                </a:solidFill>
                <a:latin typeface="Pretendard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7979" y="1901952"/>
            <a:ext cx="3515349" cy="1517904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127979" y="1901952"/>
            <a:ext cx="3515349" cy="420624"/>
          </a:xfrm>
          <a:prstGeom prst="rect">
            <a:avLst/>
          </a:prstGeom>
          <a:solidFill>
            <a:srgbClr val="2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27979" y="1938528"/>
            <a:ext cx="351534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Pretendard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859" y="2487168"/>
            <a:ext cx="314958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2638"/>
                </a:solidFill>
                <a:latin typeface="Pretendard"/>
              </a:rPr>
              <a:t>LMM 지역 지자기모델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859" y="3035808"/>
            <a:ext cx="314958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07184"/>
                </a:solidFill>
                <a:latin typeface="Pretendard"/>
              </a:rPr>
              <a:t>계산 가능한 국가 지역모델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30752"/>
            <a:ext cx="5419328" cy="1700784"/>
          </a:xfrm>
          <a:prstGeom prst="rect">
            <a:avLst/>
          </a:prstGeom>
          <a:solidFill>
            <a:srgbClr val="DC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B2"/>
                </a:solidFill>
                <a:latin typeface="Pretendard"/>
              </a:rPr>
              <a:t>이번 연구가 주장할 수 있는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구조가 고도화됐다 — 오차 원인을 층으로 분리할 수 있다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계산 가능한 형태다 — 좌표·시점을 넣으면 값이 나온다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갱신 가능한 형태다 — 신규 관측으로 재적합한다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4000" y="3730752"/>
            <a:ext cx="5419328" cy="1700784"/>
          </a:xfrm>
          <a:prstGeom prst="rect">
            <a:avLst/>
          </a:prstGeom>
          <a:solidFill>
            <a:srgbClr val="FCE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43456" y="3877056"/>
            <a:ext cx="49804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63D3D"/>
                </a:solidFill>
                <a:latin typeface="Pretendard"/>
              </a:rPr>
              <a:t>아직 주장하면 안 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456" y="4279392"/>
            <a:ext cx="49804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«2020년보다 정확하다» — 목표 정확도를 아직 못 만족한다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현재 LOO 편각 0.512° · 총자력 63.0 nT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82638"/>
                </a:solidFill>
                <a:latin typeface="Pretendard"/>
              </a:rPr>
              <a:t>· 층이 완전히 구현된 상태가 아니다 (Crustal 제한 · External 부분)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650992"/>
            <a:ext cx="11094689" cy="640080"/>
          </a:xfrm>
          <a:prstGeom prst="rect">
            <a:avLst/>
          </a:prstGeom>
          <a:solidFill>
            <a:srgbClr val="6B5B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" y="5669279"/>
            <a:ext cx="1076550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25" b="0" i="0">
                <a:solidFill>
                  <a:srgbClr val="FFFFFF"/>
                </a:solidFill>
                <a:latin typeface="Pretendard"/>
              </a:rPr>
              <a:t>제안요청서의 «국제모델과의 차이 분석» 요구와도 이 정의가 맞는다 — IGRF를 대체하는 것이 아니라 그 차이를 설명하는 모델이다.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7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6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75" b="1" i="0">
                <a:solidFill>
                  <a:srgbClr val="9FC0E4"/>
                </a:solidFill>
                <a:latin typeface="Pretendard"/>
              </a:rPr>
              <a:t>중간보고 · LMM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68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Pretendard"/>
              </a:rPr>
              <a:t>구조는 세웠고, 남은 것은 자료다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구축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4층 결합 구조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3개 계산환경 일치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진단·검증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7176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6632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열리지 않는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6632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항공자력 원측선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존재하지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5712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168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추가할 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168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2021~2025 반복측정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관측시각(야장)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49" y="2926080"/>
            <a:ext cx="2609080" cy="1737360"/>
          </a:xfrm>
          <a:prstGeom prst="rect">
            <a:avLst/>
          </a:prstGeom>
          <a:solidFill>
            <a:srgbClr val="2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53705" y="3127248"/>
            <a:ext cx="2170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FC0E4"/>
                </a:solidFill>
                <a:latin typeface="Pretendard"/>
              </a:rPr>
              <a:t>판정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05" y="3547872"/>
            <a:ext cx="217016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편각 0.1° · 총자력 50 nT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Pretendard"/>
              </a:rPr>
              <a:t>감사 후 재적합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1109468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8E8"/>
                </a:solidFill>
                <a:latin typeface="Pretendard"/>
              </a:rPr>
              <a:t>현재 LOO 편각 0.512° · 총자력 63.0 nT — 연구·시범계산에는 쓰되 정식 편각 산출은 자료 확충 이후로 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8229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 i="0">
                <a:solidFill>
                  <a:srgbClr val="7E93AB"/>
                </a:solidFill>
                <a:latin typeface="Pretendard"/>
              </a:rPr>
              <a:t>국가기준점 지자기측량 발전방안 연구 | 중간보고 작성분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6483096"/>
            <a:ext cx="649224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E93AB"/>
                </a:solidFill>
                <a:latin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