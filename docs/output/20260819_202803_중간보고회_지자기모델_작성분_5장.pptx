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909" r:id="rId1"/>
  </p:sldMasterIdLst>
  <p:notesMasterIdLst>
    <p:notesMasterId r:id="rId12"/>
  </p:notesMasterIdLst>
  <p:handoutMasterIdLst>
    <p:handoutMasterId r:id="rId13"/>
  </p:handoutMasterIdLst>
  <p:sldIdLst>
    <p:sldId id="660" r:id="rId2"/>
    <p:sldId id="1092" r:id="rId3"/>
    <p:sldId id="1052" r:id="rId4"/>
    <p:sldId id="1122" r:id="rId5"/>
    <p:sldId id="1321" r:id="rId6"/>
    <p:sldId id="1322" r:id="rId7"/>
    <p:sldId id="1323" r:id="rId30"/>
    <p:sldId id="1094" r:id="rId8"/>
    <p:sldId id="1163" r:id="rId9"/>
    <p:sldId id="1318" r:id="rId10"/>
    <p:sldId id="1324" r:id="rId31"/>
    <p:sldId id="1084" r:id="rId11"/>
  </p:sldIdLst>
  <p:sldSz cx="9906000" cy="6858000" type="A4"/>
  <p:notesSz cx="7104063" cy="10234613"/>
  <p:embeddedFontLst>
    <p:embeddedFont>
      <p:font typeface="나눔스퀘어라운드 Bold" panose="020B0600000101010101" charset="-127"/>
      <p:bold r:id="rId14"/>
    </p:embeddedFont>
    <p:embeddedFont>
      <p:font typeface="산돌고딕B" panose="020B0600000101010101" charset="-127"/>
      <p:regular r:id="rId15"/>
    </p:embeddedFont>
    <p:embeddedFont>
      <p:font typeface="KoPub돋움체 Bold" panose="02020603020101020101" pitchFamily="18" charset="-127"/>
      <p:regular r:id="rId16"/>
      <p:bold r:id="rId17"/>
    </p:embeddedFont>
    <p:embeddedFont>
      <p:font typeface="KoPub돋움체 Light" panose="02020603020101020101" pitchFamily="18" charset="-127"/>
      <p:regular r:id="rId18"/>
    </p:embeddedFont>
    <p:embeddedFont>
      <p:font typeface="KoPub돋움체 Medium" panose="02020603020101020101" pitchFamily="18" charset="-127"/>
      <p:regular r:id="rId19"/>
    </p:embeddedFont>
    <p:embeddedFont>
      <p:font typeface="KoPub바탕체 Bold" panose="02020603020101020101" pitchFamily="18" charset="-127"/>
      <p:regular r:id="rId20"/>
      <p:bold r:id="rId21"/>
    </p:embeddedFont>
    <p:embeddedFont>
      <p:font typeface="나눔고딕" panose="020D0604000000000000" pitchFamily="50" charset="-127"/>
      <p:regular r:id="rId22"/>
      <p:bold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1pPr>
    <a:lvl2pPr marL="4572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2pPr>
    <a:lvl3pPr marL="9144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3pPr>
    <a:lvl4pPr marL="13716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4pPr>
    <a:lvl5pPr marL="18288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6" pos="6068" userDrawn="1">
          <p15:clr>
            <a:srgbClr val="A4A3A4"/>
          </p15:clr>
        </p15:guide>
        <p15:guide id="7" pos="172" userDrawn="1">
          <p15:clr>
            <a:srgbClr val="A4A3A4"/>
          </p15:clr>
        </p15:guide>
        <p15:guide id="11" pos="3120" userDrawn="1">
          <p15:clr>
            <a:srgbClr val="A4A3A4"/>
          </p15:clr>
        </p15:guide>
        <p15:guide id="12" orient="horz" pos="3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099"/>
    <a:srgbClr val="009900"/>
    <a:srgbClr val="4A7EBB"/>
    <a:srgbClr val="33CC33"/>
    <a:srgbClr val="FF6600"/>
    <a:srgbClr val="006666"/>
    <a:srgbClr val="5EC7D4"/>
    <a:srgbClr val="F6F1F0"/>
    <a:srgbClr val="2F5596"/>
    <a:srgbClr val="00BC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066" autoAdjust="0"/>
  </p:normalViewPr>
  <p:slideViewPr>
    <p:cSldViewPr showGuides="1">
      <p:cViewPr varScale="1">
        <p:scale>
          <a:sx n="103" d="100"/>
          <a:sy n="103" d="100"/>
        </p:scale>
        <p:origin x="1278" y="102"/>
      </p:cViewPr>
      <p:guideLst>
        <p:guide orient="horz" pos="4065"/>
        <p:guide orient="horz" pos="1071"/>
        <p:guide orient="horz"/>
        <p:guide pos="6068"/>
        <p:guide pos="172"/>
        <p:guide pos="3120"/>
        <p:guide orient="horz" pos="3566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876"/>
    </p:cViewPr>
  </p:sorterViewPr>
  <p:notesViewPr>
    <p:cSldViewPr>
      <p:cViewPr varScale="1">
        <p:scale>
          <a:sx n="114" d="100"/>
          <a:sy n="114" d="100"/>
        </p:scale>
        <p:origin x="5196" y="120"/>
      </p:cViewPr>
      <p:guideLst>
        <p:guide orient="horz" pos="3222"/>
        <p:guide pos="223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font" Target="fonts/font11.fntdata"/><Relationship Id="rId25" Type="http://schemas.openxmlformats.org/officeDocument/2006/relationships/font" Target="fonts/font12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1.xml"/><Relationship Id="rId31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647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r">
              <a:defRPr sz="1300"/>
            </a:lvl1pPr>
          </a:lstStyle>
          <a:p>
            <a:fld id="{3E987FDE-81F0-4B47-AB5B-4B096379894B}" type="datetimeFigureOut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2026-08-18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647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r">
              <a:defRPr sz="1300"/>
            </a:lvl1pPr>
          </a:lstStyle>
          <a:p>
            <a:fld id="{FA841F78-DC43-4BD1-833B-B52A54EA3C51}" type="slidenum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‹#›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10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6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fld id="{9B44FAE6-1E84-4284-B90D-5162B3CB7787}" type="datetimeFigureOut">
              <a:rPr lang="ko-KR" altLang="en-US" smtClean="0"/>
              <a:pPr>
                <a:defRPr/>
              </a:pPr>
              <a:t>2026-08-18</a:t>
            </a:fld>
            <a:endParaRPr lang="en-US" altLang="ko-KR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7875" y="766763"/>
            <a:ext cx="5548313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7" y="4861162"/>
            <a:ext cx="5683915" cy="4605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720675"/>
            <a:ext cx="3079203" cy="512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2892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994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213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287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C6E1-EADA-4307-0B4E-F63219FB7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F9B7B4-6AB6-B4D4-65A2-3C815A88E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93FFCB-4CE8-C51B-B2D5-80681581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3915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3663-DEFB-C6FD-7E50-6F69C684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4CA2D7-7C5D-0E85-2898-BDD4A41F0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99E713-D795-3AF4-A884-C20B57652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639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0479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42025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개요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Ⅰ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3370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 userDrawn="1"/>
        </p:nvGrpSpPr>
        <p:grpSpPr>
          <a:xfrm>
            <a:off x="8409385" y="2573372"/>
            <a:ext cx="1248865" cy="697720"/>
            <a:chOff x="387318" y="361291"/>
            <a:chExt cx="1248865" cy="697720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ko-KR" altLang="en-US" sz="1500" spc="-200" baseline="0" dirty="0">
                <a:solidFill>
                  <a:srgbClr val="2F55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8" name="TextBox 27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en-US" altLang="ko-KR" sz="2400" b="1" spc="-149" dirty="0">
                <a:solidFill>
                  <a:srgbClr val="2F5597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endParaRPr>
            </a:p>
          </p:txBody>
        </p: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682332"/>
              <a:chOff x="387318" y="361291"/>
              <a:chExt cx="1248865" cy="682332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4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수행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0379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26" name="그룹 25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27" name="TextBox 26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계획</a:t>
                </a:r>
              </a:p>
            </p:txBody>
          </p:sp>
          <p:sp>
            <p:nvSpPr>
              <p:cNvPr id="28" name="TextBox 27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</p:txBody>
          </p:sp>
        </p:grp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025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일정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Ⅳ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6371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기대 효과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Ⅴ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435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자문 의견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Ⅵ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5287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1222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4774405" y="6662760"/>
            <a:ext cx="357190" cy="180000"/>
          </a:xfrm>
          <a:prstGeom prst="roundRect">
            <a:avLst/>
          </a:prstGeom>
          <a:noFill/>
          <a:ln w="6350"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spcBef>
                <a:spcPts val="0"/>
              </a:spcBef>
            </a:pPr>
            <a:fld id="{0565A694-3509-4BB5-ACAD-3B39F2CDDCBC}" type="slidenum">
              <a:rPr lang="en-US" altLang="ko-KR" sz="799" b="1" smtClean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pPr algn="ctr">
                <a:spcBef>
                  <a:spcPts val="0"/>
                </a:spcBef>
              </a:pPr>
              <a:t>‹#›</a:t>
            </a:fld>
            <a:endParaRPr lang="ko-KR" altLang="en-US" sz="799" b="1" dirty="0"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7" r:id="rId6"/>
    <p:sldLayoutId id="2147483918" r:id="rId7"/>
    <p:sldLayoutId id="2147483916" r:id="rId8"/>
  </p:sldLayoutIdLst>
  <p:transition>
    <p:fade/>
  </p:transition>
  <p:txStyles>
    <p:titleStyle>
      <a:lvl1pPr algn="ctr" defTabSz="914395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395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9" algn="l" defTabSz="914395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" y="-1"/>
            <a:ext cx="9926911" cy="685800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60366" y="1292039"/>
            <a:ext cx="3836989" cy="230832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800" b="1" spc="-300">
                <a:solidFill>
                  <a:srgbClr val="0C4D88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 지자기측량 </a:t>
            </a:r>
            <a:r>
              <a:rPr lang="ko-KR" altLang="en-US" sz="4800" spc="-30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발전방안 </a:t>
            </a:r>
            <a:r>
              <a:rPr lang="ko-KR" altLang="en-US" sz="4800" spc="-300" dirty="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연구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19562" y="3789040"/>
            <a:ext cx="1427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spc="-149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중간보고회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285751" y="6152615"/>
            <a:ext cx="1923455" cy="388301"/>
            <a:chOff x="358774" y="9601838"/>
            <a:chExt cx="1923456" cy="388300"/>
          </a:xfrm>
        </p:grpSpPr>
        <p:sp>
          <p:nvSpPr>
            <p:cNvPr id="18" name="TextBox 17"/>
            <p:cNvSpPr txBox="1"/>
            <p:nvPr/>
          </p:nvSpPr>
          <p:spPr>
            <a:xfrm>
              <a:off x="930577" y="9645178"/>
              <a:ext cx="1351653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spc="-1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공간정보연구원</a:t>
              </a:r>
              <a:endParaRPr lang="ko-KR" altLang="en-US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517097D-EFA1-4265-B1DB-682CC713B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8698" b="1907"/>
            <a:stretch/>
          </p:blipFill>
          <p:spPr>
            <a:xfrm>
              <a:off x="358774" y="9601838"/>
              <a:ext cx="682625" cy="3883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769424" y="6202351"/>
            <a:ext cx="1140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2026. 8. 25.</a:t>
            </a:r>
            <a:endParaRPr lang="ko-KR" altLang="en-US" sz="1600" spc="-100" dirty="0">
              <a:solidFill>
                <a:srgbClr val="F3F3F3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66" y="596909"/>
            <a:ext cx="2570296" cy="56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084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63" y="295306"/>
            <a:ext cx="3691627" cy="3320204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0" y="3314701"/>
            <a:ext cx="9906000" cy="354330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493938" y="1788476"/>
            <a:ext cx="1994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>
                <a:solidFill>
                  <a:srgbClr val="2F559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목   차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195022" y="1531871"/>
            <a:ext cx="2893882" cy="3385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600" b="1" spc="-149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</a:t>
            </a:r>
            <a:r>
              <a:rPr lang="ko-KR" altLang="en-US" sz="1600" b="1" spc="-149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지자기측량 발전방안 연구</a:t>
            </a:r>
            <a:endParaRPr lang="ko-KR" altLang="en-US" sz="1600" b="1" spc="-149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sym typeface="Monotype Sorts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7" y="339226"/>
            <a:ext cx="1933991" cy="425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7F12A4-1D7E-099F-B66D-D57DEDD5C6B9}"/>
              </a:ext>
            </a:extLst>
          </p:cNvPr>
          <p:cNvSpPr txBox="1"/>
          <p:nvPr/>
        </p:nvSpPr>
        <p:spPr>
          <a:xfrm>
            <a:off x="200472" y="3738475"/>
            <a:ext cx="9017801" cy="18928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Ⅰ.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개요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Ⅱ.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연구진 현황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Ⅲ.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수행</a:t>
            </a:r>
            <a:endParaRPr lang="en-US" altLang="ko-KR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l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Ⅳ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추진 일정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Ⅴ</a:t>
            </a: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자문 의견</a:t>
            </a:r>
            <a:endParaRPr lang="ko-KR" altLang="en-US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8296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5" name="액자 24"/>
          <p:cNvSpPr/>
          <p:nvPr/>
        </p:nvSpPr>
        <p:spPr>
          <a:xfrm>
            <a:off x="1279798" y="1881878"/>
            <a:ext cx="2664296" cy="2664296"/>
          </a:xfrm>
          <a:prstGeom prst="frame">
            <a:avLst>
              <a:gd name="adj1" fmla="val 66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7279" y="3173713"/>
            <a:ext cx="2289336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36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연구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9408" y="2132857"/>
            <a:ext cx="934892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>
              <a:spcBef>
                <a:spcPts val="19"/>
              </a:spcBef>
            </a:pPr>
            <a:r>
              <a:rPr lang="en-US" altLang="ko-KR" sz="5400" spc="-149" dirty="0"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Ⅰ</a:t>
            </a:r>
            <a:endParaRPr lang="ko-KR" altLang="en-US" sz="5400" spc="-149" dirty="0">
              <a:solidFill>
                <a:schemeClr val="bg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2385584" y="3040109"/>
            <a:ext cx="5503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17" y="2132857"/>
            <a:ext cx="4650374" cy="4408539"/>
          </a:xfrm>
          <a:prstGeom prst="rect">
            <a:avLst/>
          </a:prstGeom>
          <a:solidFill>
            <a:srgbClr val="2F5596"/>
          </a:solidFill>
        </p:spPr>
      </p:pic>
    </p:spTree>
    <p:extLst>
      <p:ext uri="{BB962C8B-B14F-4D97-AF65-F5344CB8AC3E}">
        <p14:creationId xmlns:p14="http://schemas.microsoft.com/office/powerpoint/2010/main" val="33850757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26" name="액자 25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373958" y="388829"/>
              <a:ext cx="1248865" cy="920384"/>
              <a:chOff x="133026" y="1199392"/>
              <a:chExt cx="1248865" cy="920384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marL="0" lvl="1" indent="-85725" latinLnBrk="0">
                  <a:spcBef>
                    <a:spcPct val="0"/>
                  </a:spcBef>
                  <a:buClr>
                    <a:srgbClr val="008400"/>
                  </a:buClr>
                  <a:buSzPct val="140000"/>
                  <a:tabLst>
                    <a:tab pos="5645238" algn="l"/>
                  </a:tabLst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연구</a:t>
                </a:r>
                <a:r>
                  <a:rPr lang="en-US" altLang="ko-KR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 </a:t>
                </a: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수행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26958" y="1199392"/>
                <a:ext cx="509997" cy="503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0" name="직선 연결선 29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05154801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DC2F-8E2B-0D23-7A4C-985F0376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8D23F761-20D9-81C4-2A96-A11613835383}"/>
              </a:ext>
            </a:extLst>
          </p:cNvPr>
          <p:cNvSpPr/>
          <p:nvPr/>
        </p:nvSpPr>
        <p:spPr>
          <a:xfrm>
            <a:off x="292100" y="1222272"/>
            <a:ext cx="6101060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F05C9D-4957-8AB3-89BA-C63102714E8A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 반복 관측 성과 기반 지자기모델 시범구축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FC0963-CAFC-CE27-05BD-F0DDDED39546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CFE1913-8F9A-64E4-6CA1-B62FB3EA09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모델 개발에 사용한 자료 확인 (반복관측점 · 상시관측소 · 전지구모델)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‘25년 시범모델은 반복관측 성과·상시관측소·전지구모델·항공자력 4종 자료로 구축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1719" y="2670048"/>
            <a:ext cx="26867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자료원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6516" y="2670048"/>
            <a:ext cx="9615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규모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6115" y="2670048"/>
            <a:ext cx="2141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모델 내 역할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76113" y="2670048"/>
            <a:ext cx="17787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비고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962656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990087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반복관측점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2990087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지자기점 관측성과(’22~’25) + ’19년 야장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6516" y="2990087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16점 · 30회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6115" y="2990087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② Regional (공간분포)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76113" y="2990087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재방문 불일치 2점 제외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410711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상시관측소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1719" y="3410711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청양(기상청) · 제주 · 강릉 · 이천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6516" y="3410711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4개소 1분자료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6115" y="3410711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④ External (보정량 산출)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6113" y="3410711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관측시각 복원(’19~’25) · 모델 반영은 보류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803904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831336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전지구모델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1719" y="3831336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IGRF-14 (13차 구면조화)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6516" y="3831336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4개 에폭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6115" y="3831336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Core (주자기장)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76113" y="3831336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공식 계산기와 자릿수 내 일치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251960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항공자력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1719" y="4251960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KIGAM 자력이상도 1.5분 격자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6516" y="4251960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약 2.8 km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6115" y="4251960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③ Crustal (지각 자기이상)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76113" y="4251960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원측선 자료는 부재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2651760"/>
            <a:ext cx="9079992" cy="1993392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11480" y="4846320"/>
            <a:ext cx="9079992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94360" y="4709159"/>
            <a:ext cx="26974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4727447"/>
            <a:ext cx="26974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청양 상시관측소 자료 활용 여부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" y="5120640"/>
            <a:ext cx="8567928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/>
              </a:rPr>
              <a:t>보정량은 산출하였으나, 현재 표본에서는 모델 반영을 보류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" y="5431536"/>
            <a:ext cx="8567928" cy="51206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자문의견(거리·위도 차이로 단독 적용 한계)에 따라 청양 단독이 아닌 4개소 공간보간으로 세션별 보정량을 산출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다만 평가 측점을 고정한 교차검증에서 보정 전(0.502°)보다 개선되지 않아(0.510~0.532°) 반영은 측점 확충 후 재판정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6108192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반복관측 성과는 야장 원본과 대조하여 일변화·기준시점 환산이 적용되지 않은 원시값임을 확인함(매칭 18행 전부 표기 자릿수 이내 일치)</a:t>
            </a:r>
          </a:p>
        </p:txBody>
      </p:sp>
    </p:spTree>
    <p:extLst>
      <p:ext uri="{BB962C8B-B14F-4D97-AF65-F5344CB8AC3E}">
        <p14:creationId xmlns:p14="http://schemas.microsoft.com/office/powerpoint/2010/main" val="42361359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FFBC-97ED-C0E5-7D63-794E0C0B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LMM(국내외기준) 모델 비교 및 한계·개선방향 도출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LMM 모델 개발에 필요한 4축 자료 / 이번 개발의 항공자력 포함 여부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항공자력을 포함해 4축을 구성 — 남은 제약은 해상도와 측점 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2523744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/>
              </a:rPr>
              <a:t>B_LMM  =  ① Core(IGRF)  +  ② Regional(지역)  +  ③ Crustal(지각)  +  ④ External(외부장)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83464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852928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1719" y="2852928"/>
            <a:ext cx="1687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자료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7717" y="2852928"/>
            <a:ext cx="3685580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이번 개발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1314" y="2852928"/>
            <a:ext cx="23235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한계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145536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172968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① 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3172968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IGRF-14 (13차)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7717" y="3172968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재현성 검증 통과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1314" y="3172968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575303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② Regional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1719" y="3575303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지표 절대측정 16점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7717" y="3575303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1차 다항식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1314" y="3575303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권고 30점 대비 미달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950208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977640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③ Crustal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1719" y="3977640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항공자력 2.8 km 격자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717" y="3977640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총자력에 1:1 결합(결합계수 검정 후 α=1 채택)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1314" y="3977640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Medium"/>
              </a:rPr>
              <a:t>원측선 부재로 해상도 상한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379976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④ External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01719" y="4379976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상시관측 4개소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7717" y="4379976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보정량 산출 178세션 — 모델 반영은 보류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1314" y="4379976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표본 부족으로 효과 미확인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834640"/>
            <a:ext cx="9079992" cy="19202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76072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" y="4837176"/>
            <a:ext cx="228600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항공자력 포함(4축)의 효과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" y="5266944"/>
            <a:ext cx="3991356" cy="78638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 교차검증 오차 72.3 → 63.0 nT (지각 미사용 대비)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결합계수를 추정하면 α=0.67 이나 교차검증은 67.0 nT 로 악화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  → α=1 유지. 「α=1 을 진리로 두지 말라」는 지적을 검정으로 확인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61204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225796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25796" y="4837176"/>
            <a:ext cx="228600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3축 수준에 머무르는 제약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80660" y="5266944"/>
            <a:ext cx="3991356" cy="78638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원측선(측선 100~250 m) 자료가 존재하지 않음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공개 격자 2.8 km 는 단파장을 평활 — 진폭 약 1.6배 부족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해상도 개선은 신규 자력측량 여부에 좌우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199632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스칼라 총자력 이상은 이상벡터를 주자기장 방향으로 투영한 값이므로, 파수영역 역산으로 3성분을 복원하여 편각·복각에 반영함</a:t>
            </a:r>
          </a:p>
        </p:txBody>
      </p:sp>
    </p:spTree>
    <p:extLst>
      <p:ext uri="{BB962C8B-B14F-4D97-AF65-F5344CB8AC3E}">
        <p14:creationId xmlns:p14="http://schemas.microsoft.com/office/powerpoint/2010/main" val="31505162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grpSp>
        <p:nvGrpSpPr>
          <p:cNvPr id="31" name="그룹 30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32" name="액자 31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373958" y="388829"/>
              <a:ext cx="1248865" cy="957009"/>
              <a:chOff x="133026" y="1199392"/>
              <a:chExt cx="1248865" cy="957009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fontAlgn="ctr" latinLnBrk="0"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추진 계획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26958" y="1199392"/>
                <a:ext cx="509997" cy="957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  <a:p>
                <a:pPr>
                  <a:spcBef>
                    <a:spcPts val="19"/>
                  </a:spcBef>
                </a:pP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6" name="직선 연결선 35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1991414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46470"/>
              </p:ext>
            </p:extLst>
          </p:nvPr>
        </p:nvGraphicFramePr>
        <p:xfrm>
          <a:off x="4243039" y="1114337"/>
          <a:ext cx="5469685" cy="52669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06">
                  <a:extLst>
                    <a:ext uri="{9D8B030D-6E8A-4147-A177-3AD203B41FA5}">
                      <a16:colId xmlns:a16="http://schemas.microsoft.com/office/drawing/2014/main" val="199477006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27478490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2711367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45448050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242417261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502918187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40985238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85086841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764755481"/>
                    </a:ext>
                  </a:extLst>
                </a:gridCol>
                <a:gridCol w="684331">
                  <a:extLst>
                    <a:ext uri="{9D8B030D-6E8A-4147-A177-3AD203B41FA5}">
                      <a16:colId xmlns:a16="http://schemas.microsoft.com/office/drawing/2014/main" val="2311316655"/>
                    </a:ext>
                  </a:extLst>
                </a:gridCol>
              </a:tblGrid>
              <a:tr h="294483">
                <a:tc gridSpan="10"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개월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811392"/>
                  </a:ext>
                </a:extLst>
              </a:tr>
              <a:tr h="213160"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M+1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M+2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M+3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M+4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M+5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M+6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60859"/>
                  </a:ext>
                </a:extLst>
              </a:tr>
              <a:tr h="36686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50051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012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94721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29332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8322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27074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04440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88219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69199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91299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2600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078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22909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84CE72EE-92A6-4611-8B67-D338BCC15E02}"/>
              </a:ext>
            </a:extLst>
          </p:cNvPr>
          <p:cNvSpPr/>
          <p:nvPr/>
        </p:nvSpPr>
        <p:spPr>
          <a:xfrm>
            <a:off x="415924" y="335141"/>
            <a:ext cx="6337275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en-US" altLang="ko-KR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2. </a:t>
            </a:r>
            <a:r>
              <a:rPr lang="ko-KR" altLang="en-US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추진일정 및 세부계획</a:t>
            </a:r>
          </a:p>
        </p:txBody>
      </p:sp>
      <p:sp>
        <p:nvSpPr>
          <p:cNvPr id="70" name="Text Box 150"/>
          <p:cNvSpPr txBox="1">
            <a:spLocks noChangeArrowheads="1"/>
          </p:cNvSpPr>
          <p:nvPr/>
        </p:nvSpPr>
        <p:spPr bwMode="auto">
          <a:xfrm>
            <a:off x="8527150" y="6400619"/>
            <a:ext cx="1255116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변경될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26288"/>
              </p:ext>
            </p:extLst>
          </p:nvPr>
        </p:nvGraphicFramePr>
        <p:xfrm>
          <a:off x="276228" y="1119413"/>
          <a:ext cx="3931171" cy="52619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0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500">
                <a:tc gridSpan="2">
                  <a:txBody>
                    <a:bodyPr/>
                    <a:lstStyle/>
                    <a:p>
                      <a:pPr marL="0" marR="0" lvl="1" indent="0" algn="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 개월  </a:t>
                      </a:r>
                    </a:p>
                    <a:p>
                      <a:pPr marL="0" marR="0" lvl="1" indent="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공 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2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관측망 확대 방안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및 유지관리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입지 분석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표지설치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678849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측량 장비 검 </a:t>
                      </a:r>
                      <a:r>
                        <a:rPr lang="en-US" altLang="ko-KR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교정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모델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 구축 방안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구축 유지관리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시범구축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최적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760232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marL="0" marR="0" lvl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알고리즘 분석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갱신 주기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·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절차 마련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92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사용자 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서비스 방안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국가 지자기 모델 활용 확대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664516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지구 지자기 모델과 시사점 도출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354218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b="0" u="none" strike="noStrike" kern="1200" spc="-10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273E76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 서비스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559125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사업관리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자문회의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연구진회의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6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보고회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454943"/>
                  </a:ext>
                </a:extLst>
              </a:tr>
              <a:tr h="471980">
                <a:tc vMerge="1">
                  <a:txBody>
                    <a:bodyPr/>
                    <a:lstStyle/>
                    <a:p>
                      <a:pPr marL="0" marR="0" lvl="0" indent="0" algn="ctr" defTabSz="963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5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659" marR="36659" marT="36659" marB="3665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성과품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제출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4239245" y="5413697"/>
            <a:ext cx="5483071" cy="84923"/>
            <a:chOff x="-130297" y="1896609"/>
            <a:chExt cx="5483070" cy="84922"/>
          </a:xfrm>
        </p:grpSpPr>
        <p:sp>
          <p:nvSpPr>
            <p:cNvPr id="8" name="Line 2124"/>
            <p:cNvSpPr>
              <a:spLocks noChangeShapeType="1"/>
            </p:cNvSpPr>
            <p:nvPr/>
          </p:nvSpPr>
          <p:spPr bwMode="auto">
            <a:xfrm flipV="1">
              <a:off x="-47239" y="1939071"/>
              <a:ext cx="5320963" cy="0"/>
            </a:xfrm>
            <a:prstGeom prst="line">
              <a:avLst/>
            </a:prstGeom>
            <a:noFill/>
            <a:ln w="25400" cap="rnd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-13029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525834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 Box 150"/>
          <p:cNvSpPr txBox="1">
            <a:spLocks noChangeArrowheads="1"/>
          </p:cNvSpPr>
          <p:nvPr/>
        </p:nvSpPr>
        <p:spPr bwMode="auto">
          <a:xfrm>
            <a:off x="7839918" y="6553205"/>
            <a:ext cx="175917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과업 진행 시 변경될 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Rectangle 2064"/>
          <p:cNvSpPr>
            <a:spLocks noChangeArrowheads="1"/>
          </p:cNvSpPr>
          <p:nvPr/>
        </p:nvSpPr>
        <p:spPr bwMode="auto">
          <a:xfrm>
            <a:off x="4336068" y="5733256"/>
            <a:ext cx="620193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착수보고</a:t>
            </a:r>
          </a:p>
        </p:txBody>
      </p:sp>
      <p:sp>
        <p:nvSpPr>
          <p:cNvPr id="13" name="Rectangle 2064"/>
          <p:cNvSpPr>
            <a:spLocks noChangeArrowheads="1"/>
          </p:cNvSpPr>
          <p:nvPr/>
        </p:nvSpPr>
        <p:spPr bwMode="auto">
          <a:xfrm>
            <a:off x="6762749" y="5733256"/>
            <a:ext cx="577699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중간보고</a:t>
            </a:r>
          </a:p>
        </p:txBody>
      </p:sp>
      <p:sp>
        <p:nvSpPr>
          <p:cNvPr id="14" name="Rectangle 2064"/>
          <p:cNvSpPr>
            <a:spLocks noChangeArrowheads="1"/>
          </p:cNvSpPr>
          <p:nvPr/>
        </p:nvSpPr>
        <p:spPr bwMode="auto">
          <a:xfrm>
            <a:off x="8975857" y="5733256"/>
            <a:ext cx="588732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완료보고</a:t>
            </a:r>
          </a:p>
        </p:txBody>
      </p:sp>
      <p:sp>
        <p:nvSpPr>
          <p:cNvPr id="15" name="Text Box 2074"/>
          <p:cNvSpPr txBox="1">
            <a:spLocks noChangeArrowheads="1"/>
          </p:cNvSpPr>
          <p:nvPr/>
        </p:nvSpPr>
        <p:spPr bwMode="auto">
          <a:xfrm>
            <a:off x="6693326" y="5258294"/>
            <a:ext cx="831530" cy="15388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0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수시개최</a:t>
            </a:r>
            <a:endParaRPr lang="ko-KR" altLang="en-US" sz="10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6" name="Text Box 2144"/>
          <p:cNvSpPr txBox="1">
            <a:spLocks noChangeArrowheads="1"/>
          </p:cNvSpPr>
          <p:nvPr/>
        </p:nvSpPr>
        <p:spPr bwMode="auto">
          <a:xfrm>
            <a:off x="8626483" y="6098814"/>
            <a:ext cx="691706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완료보고서 및</a:t>
            </a:r>
          </a:p>
        </p:txBody>
      </p:sp>
      <p:pic>
        <p:nvPicPr>
          <p:cNvPr id="17" name="Picture 41" descr="accep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87568" y="6134999"/>
            <a:ext cx="216866" cy="179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 Box 2144"/>
          <p:cNvSpPr txBox="1">
            <a:spLocks noChangeArrowheads="1"/>
          </p:cNvSpPr>
          <p:nvPr/>
        </p:nvSpPr>
        <p:spPr bwMode="auto">
          <a:xfrm>
            <a:off x="8625409" y="6242830"/>
            <a:ext cx="977997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성과품</a:t>
            </a: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 제출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6370230" y="3318762"/>
            <a:ext cx="2656645" cy="110238"/>
            <a:chOff x="4177078" y="1822301"/>
            <a:chExt cx="3173011" cy="84923"/>
          </a:xfrm>
        </p:grpSpPr>
        <p:sp>
          <p:nvSpPr>
            <p:cNvPr id="20" name="Line 2124"/>
            <p:cNvSpPr>
              <a:spLocks noChangeShapeType="1"/>
            </p:cNvSpPr>
            <p:nvPr/>
          </p:nvSpPr>
          <p:spPr bwMode="auto">
            <a:xfrm>
              <a:off x="4271504" y="1864763"/>
              <a:ext cx="3017651" cy="4411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7255663" y="1822301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3" name="Line 2124"/>
          <p:cNvSpPr>
            <a:spLocks noChangeShapeType="1"/>
          </p:cNvSpPr>
          <p:nvPr/>
        </p:nvSpPr>
        <p:spPr bwMode="auto">
          <a:xfrm flipV="1">
            <a:off x="4325988" y="1844823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46928" y="180659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25760" y="180659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6" name="Line 2124"/>
          <p:cNvSpPr>
            <a:spLocks noChangeShapeType="1"/>
          </p:cNvSpPr>
          <p:nvPr/>
        </p:nvSpPr>
        <p:spPr bwMode="auto">
          <a:xfrm flipV="1">
            <a:off x="4649900" y="2192802"/>
            <a:ext cx="651047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584339" y="213768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5288674" y="213033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Line 2124"/>
          <p:cNvSpPr>
            <a:spLocks noChangeShapeType="1"/>
          </p:cNvSpPr>
          <p:nvPr/>
        </p:nvSpPr>
        <p:spPr bwMode="auto">
          <a:xfrm>
            <a:off x="741241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2339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79933" y="251354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5" name="Line 2124"/>
          <p:cNvSpPr>
            <a:spLocks noChangeShapeType="1"/>
          </p:cNvSpPr>
          <p:nvPr/>
        </p:nvSpPr>
        <p:spPr bwMode="auto">
          <a:xfrm flipV="1">
            <a:off x="4310622" y="2912049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287441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2856931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8" name="Text Box 2074"/>
          <p:cNvSpPr txBox="1">
            <a:spLocks noChangeArrowheads="1"/>
          </p:cNvSpPr>
          <p:nvPr/>
        </p:nvSpPr>
        <p:spPr bwMode="auto">
          <a:xfrm>
            <a:off x="6698807" y="3165272"/>
            <a:ext cx="20791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시범구축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최적 계산</a:t>
            </a:r>
          </a:p>
        </p:txBody>
      </p:sp>
      <p:sp>
        <p:nvSpPr>
          <p:cNvPr id="39" name="Text Box 2074"/>
          <p:cNvSpPr txBox="1">
            <a:spLocks noChangeArrowheads="1"/>
          </p:cNvSpPr>
          <p:nvPr/>
        </p:nvSpPr>
        <p:spPr bwMode="auto">
          <a:xfrm>
            <a:off x="5745088" y="1632609"/>
            <a:ext cx="238760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확대 및 유지관리 방안</a:t>
            </a:r>
          </a:p>
        </p:txBody>
      </p:sp>
      <p:sp>
        <p:nvSpPr>
          <p:cNvPr id="40" name="Text Box 2074"/>
          <p:cNvSpPr txBox="1">
            <a:spLocks noChangeArrowheads="1"/>
          </p:cNvSpPr>
          <p:nvPr/>
        </p:nvSpPr>
        <p:spPr bwMode="auto">
          <a:xfrm>
            <a:off x="4371554" y="1995201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입지분석</a:t>
            </a:r>
          </a:p>
        </p:txBody>
      </p:sp>
      <p:sp>
        <p:nvSpPr>
          <p:cNvPr id="41" name="Text Box 2074"/>
          <p:cNvSpPr txBox="1">
            <a:spLocks noChangeArrowheads="1"/>
          </p:cNvSpPr>
          <p:nvPr/>
        </p:nvSpPr>
        <p:spPr bwMode="auto">
          <a:xfrm>
            <a:off x="733042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표지 설치 및 관측</a:t>
            </a:r>
          </a:p>
        </p:txBody>
      </p:sp>
      <p:sp>
        <p:nvSpPr>
          <p:cNvPr id="42" name="Text Box 2074"/>
          <p:cNvSpPr txBox="1">
            <a:spLocks noChangeArrowheads="1"/>
          </p:cNvSpPr>
          <p:nvPr/>
        </p:nvSpPr>
        <p:spPr bwMode="auto">
          <a:xfrm>
            <a:off x="6401823" y="2287997"/>
            <a:ext cx="107795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GSM  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3" name="Text Box 2074"/>
          <p:cNvSpPr txBox="1">
            <a:spLocks noChangeArrowheads="1"/>
          </p:cNvSpPr>
          <p:nvPr/>
        </p:nvSpPr>
        <p:spPr bwMode="auto">
          <a:xfrm>
            <a:off x="5877476" y="2724944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구축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유지관리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방안 마련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7193420" y="3643958"/>
            <a:ext cx="1831663" cy="116287"/>
            <a:chOff x="4177078" y="1822302"/>
            <a:chExt cx="2187679" cy="89583"/>
          </a:xfrm>
        </p:grpSpPr>
        <p:sp>
          <p:nvSpPr>
            <p:cNvPr id="45" name="Line 2124"/>
            <p:cNvSpPr>
              <a:spLocks noChangeShapeType="1"/>
            </p:cNvSpPr>
            <p:nvPr/>
          </p:nvSpPr>
          <p:spPr bwMode="auto">
            <a:xfrm flipV="1">
              <a:off x="4271504" y="1864763"/>
              <a:ext cx="2029431" cy="0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6270331" y="1826963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8" name="Text Box 2074"/>
          <p:cNvSpPr txBox="1">
            <a:spLocks noChangeArrowheads="1"/>
          </p:cNvSpPr>
          <p:nvPr/>
        </p:nvSpPr>
        <p:spPr bwMode="auto">
          <a:xfrm>
            <a:off x="7333359" y="3506710"/>
            <a:ext cx="157607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알고리즘 분석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갱신주기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절차 마련</a:t>
            </a:r>
          </a:p>
        </p:txBody>
      </p:sp>
      <p:sp>
        <p:nvSpPr>
          <p:cNvPr id="49" name="Line 2124"/>
          <p:cNvSpPr>
            <a:spLocks noChangeShapeType="1"/>
          </p:cNvSpPr>
          <p:nvPr/>
        </p:nvSpPr>
        <p:spPr bwMode="auto">
          <a:xfrm flipV="1">
            <a:off x="5318672" y="4753489"/>
            <a:ext cx="3085337" cy="1154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262450" y="468852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04010" y="4688528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2" name="Text Box 2074"/>
          <p:cNvSpPr txBox="1">
            <a:spLocks noChangeArrowheads="1"/>
          </p:cNvSpPr>
          <p:nvPr/>
        </p:nvSpPr>
        <p:spPr bwMode="auto">
          <a:xfrm>
            <a:off x="6147324" y="4581236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</a:t>
            </a:r>
          </a:p>
        </p:txBody>
      </p:sp>
      <p:sp>
        <p:nvSpPr>
          <p:cNvPr id="53" name="Line 2124"/>
          <p:cNvSpPr>
            <a:spLocks noChangeShapeType="1"/>
          </p:cNvSpPr>
          <p:nvPr/>
        </p:nvSpPr>
        <p:spPr bwMode="auto">
          <a:xfrm flipV="1">
            <a:off x="5817096" y="5098285"/>
            <a:ext cx="3128928" cy="7578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777565" y="504695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916358" y="503154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6" name="Text Box 2074"/>
          <p:cNvSpPr txBox="1">
            <a:spLocks noChangeArrowheads="1"/>
          </p:cNvSpPr>
          <p:nvPr/>
        </p:nvSpPr>
        <p:spPr bwMode="auto">
          <a:xfrm>
            <a:off x="6506941" y="4913315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 서비스 방안</a:t>
            </a:r>
          </a:p>
        </p:txBody>
      </p:sp>
      <p:sp>
        <p:nvSpPr>
          <p:cNvPr id="57" name="Line 2124"/>
          <p:cNvSpPr>
            <a:spLocks noChangeShapeType="1"/>
          </p:cNvSpPr>
          <p:nvPr/>
        </p:nvSpPr>
        <p:spPr bwMode="auto">
          <a:xfrm>
            <a:off x="4853918" y="4389183"/>
            <a:ext cx="2277792" cy="6679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774859" y="4334066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167350" y="4327481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0" name="Text Box 2074"/>
          <p:cNvSpPr txBox="1">
            <a:spLocks noChangeArrowheads="1"/>
          </p:cNvSpPr>
          <p:nvPr/>
        </p:nvSpPr>
        <p:spPr bwMode="auto">
          <a:xfrm>
            <a:off x="5300947" y="4206028"/>
            <a:ext cx="1452253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지구 지자기 모델과 시사점 도출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1" name="Line 2124"/>
          <p:cNvSpPr>
            <a:spLocks noChangeShapeType="1"/>
          </p:cNvSpPr>
          <p:nvPr/>
        </p:nvSpPr>
        <p:spPr bwMode="auto">
          <a:xfrm flipV="1">
            <a:off x="4310622" y="4086252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404861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4031134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5" name="Text Box 2074"/>
          <p:cNvSpPr txBox="1">
            <a:spLocks noChangeArrowheads="1"/>
          </p:cNvSpPr>
          <p:nvPr/>
        </p:nvSpPr>
        <p:spPr bwMode="auto">
          <a:xfrm>
            <a:off x="5877476" y="3899147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국가 지자기 모델 활용 확대 방안</a:t>
            </a:r>
          </a:p>
        </p:txBody>
      </p:sp>
      <p:sp>
        <p:nvSpPr>
          <p:cNvPr id="66" name="Line 2124"/>
          <p:cNvSpPr>
            <a:spLocks noChangeShapeType="1"/>
          </p:cNvSpPr>
          <p:nvPr/>
        </p:nvSpPr>
        <p:spPr bwMode="auto">
          <a:xfrm>
            <a:off x="537066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34672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8164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9" name="Text Box 2074"/>
          <p:cNvSpPr txBox="1">
            <a:spLocks noChangeArrowheads="1"/>
          </p:cNvSpPr>
          <p:nvPr/>
        </p:nvSpPr>
        <p:spPr bwMode="auto">
          <a:xfrm>
            <a:off x="528867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지자기점 선점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2" name="Line 2124"/>
          <p:cNvSpPr>
            <a:spLocks noChangeShapeType="1"/>
          </p:cNvSpPr>
          <p:nvPr/>
        </p:nvSpPr>
        <p:spPr bwMode="auto">
          <a:xfrm>
            <a:off x="6388981" y="257061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6365039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399954" y="251899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5" name="Text Box 2074"/>
          <p:cNvSpPr txBox="1">
            <a:spLocks noChangeArrowheads="1"/>
          </p:cNvSpPr>
          <p:nvPr/>
        </p:nvSpPr>
        <p:spPr bwMode="auto">
          <a:xfrm>
            <a:off x="6296992" y="2407608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MinGeo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207399" y="2247921"/>
            <a:ext cx="5282105" cy="477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7790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갱신 주기 및 방안 도출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국가기준점 지자기측량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발전방안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국가 지자기모델 갱신 주기 및 절차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관측망 재관측 주기(5년)에 맞춰 모델을 재계산하고, 기준시점 변경 시 수시 갱신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재관측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5년 주기 반복관측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(관측시각·Kp 기록)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4882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9202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59202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59202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9202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재적합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7218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4축 재계산 · 교차검증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(순차 튜닝 금지)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2604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6924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06924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6924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6924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4940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독립 측점 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판정기준 충족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0326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4646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54646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4646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4646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배포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2662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도엽별 자침편차 산출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계산기·조회 서비스 갱신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913632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31920"/>
            <a:ext cx="13247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5718" y="3931920"/>
            <a:ext cx="18695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시점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3316" y="3931920"/>
            <a:ext cx="5501579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내용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224528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251960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정기 갱신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5718" y="4251960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5년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3316" y="4251960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재관측 성과 반영 · 전 층 재적합 · 기준시점 환산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636008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수시 갱신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5718" y="4636008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 갱신 시(5년)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3316" y="4636008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Core 계수 교체 후 재계산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992624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020056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수시 갱신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5718" y="5020056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측점·자료 추가 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53316" y="5020056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신규 관측성과 투입 후 교차검증 재수행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913632"/>
            <a:ext cx="9079992" cy="1463039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522976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층이 서로 결합되어 있어 한 층만 고쳐 끼우는 순차 갱신은 성립하지 않으며, 갱신 시에는 전 층을 다시 적합해야 함</a:t>
            </a:r>
          </a:p>
        </p:txBody>
      </p:sp>
    </p:spTree>
    <p:extLst>
      <p:ext uri="{BB962C8B-B14F-4D97-AF65-F5344CB8AC3E}">
        <p14:creationId xmlns:p14="http://schemas.microsoft.com/office/powerpoint/2010/main" val="227053225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E:\진행중작업\20140409기획재정부PT\간지07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176" y="-1"/>
            <a:ext cx="9902825" cy="6858001"/>
          </a:xfrm>
          <a:prstGeom prst="rect">
            <a:avLst/>
          </a:prstGeom>
          <a:noFill/>
        </p:spPr>
      </p:pic>
      <p:sp>
        <p:nvSpPr>
          <p:cNvPr id="3" name="직사각형 2"/>
          <p:cNvSpPr/>
          <p:nvPr/>
        </p:nvSpPr>
        <p:spPr>
          <a:xfrm>
            <a:off x="3176" y="3212976"/>
            <a:ext cx="9902824" cy="132343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000" spc="-149" dirty="0"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감사합니다</a:t>
            </a:r>
            <a:endParaRPr lang="en-US" altLang="ko-KR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endParaRPr lang="ko-KR" altLang="en-US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19492952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도엽별 자침편차 제공을 위한 정확도 요건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규정 제12조 — 1등 지자기점은 국가기본도의 자편각 표기를 위한 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제공 대상은 1:50,000 도엽 — 도폭 내 편각 변화 5.4′ 가 표기 정밀도의 하한을 정한다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5447995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128846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축척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9398" y="2670048"/>
            <a:ext cx="74366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도폭 크기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91077" y="2670048"/>
            <a:ext cx="145190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도폭 내 편각 변화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996" y="2670048"/>
            <a:ext cx="145190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대표값 1개 표기 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962656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990087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2F5497"/>
                </a:solidFill>
                <a:latin typeface="KoPub돋움체 Bold"/>
              </a:rPr>
              <a:t>1:50,000 (제공)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19398" y="2990087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15′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1077" y="2990087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0.0905° (5.4′)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996" y="2990087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Medium"/>
              </a:rPr>
              <a:t>±2.7′ 의 표기 한계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374135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1:25,000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19398" y="3374135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7′30″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91077" y="3374135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0.0453° (2.7′)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996" y="3374135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±1.4′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730752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758184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1:5,000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19398" y="3758184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1′30″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91077" y="3758184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0.0091° (0.5′)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0996" y="3758184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±0.3′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2651760"/>
            <a:ext cx="5447995" cy="14630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41075" y="2651760"/>
            <a:ext cx="3450396" cy="17739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05667" y="2514600"/>
            <a:ext cx="20116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05667" y="2532888"/>
            <a:ext cx="20116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현재 모델 정확도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8819" y="2944368"/>
            <a:ext cx="2974908" cy="31089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0000"/>
                </a:solidFill>
                <a:latin typeface="KoPub돋움체 Bold"/>
              </a:rPr>
              <a:t>편각 0.50°  (목표 0.1°)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8819" y="3273552"/>
            <a:ext cx="2974908" cy="10058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 63 nT (목표 50 nT)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모델 오차가 도폭 내 변화(5.4′)의 약 6배 — 아직 도엽 구분이 의미를 갖지 못함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현 단계는 참고값이며 정식 표기는 목표 달성 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389120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F5497"/>
                </a:solidFill>
                <a:latin typeface="KoPub돋움체 Bold"/>
              </a:rPr>
              <a:t>제공 방식(안)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700016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718303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단계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1719" y="4718303"/>
            <a:ext cx="20511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제공 형태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0917" y="4718303"/>
            <a:ext cx="577397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내용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01091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03834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1단계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01719" y="503834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도엽별 수치자료(엑셀)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80917" y="503834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1:50,000 도엽 단위 — 도엽 중심 대표값 · 도폭 내 변화폭 · 기준시점 · 연변화율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40410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2단계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01719" y="540410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조회 서비스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80917" y="540410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국토정보플랫폼에서 위치·도엽 검색 시 자침편차 표시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74243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76986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3단계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1719" y="576986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지형도 표기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80917" y="576986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도곽 밖 자침편차 도표 반영(정확도 목표 달성 후)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700016"/>
            <a:ext cx="9079992" cy="1408176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6217920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도폭 내 편각 변화는 IGRF-14 산출값 / 도폭 규격 15′ 는 지도도식적용규정 제4조·제211조 / 대표값은 도곽 중심 기준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지자기모델 검증 및 보완 방향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3. 지자기모델 고도화 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LMM 모델 추후 진행 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입력자료 보강 → 모델 고도화 → 독립검증·갱신주기 순으로 진행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1단계   입력자료 보강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’26.9~10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잔차 큰 측점 재측정 · 방위표지 고정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야장에만 있는 성과 17건 검증 투입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목표: 반복관측점 16점 → 20점 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401568"/>
            <a:ext cx="128016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3864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83864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83864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2단계   모델 고도화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’26.10~11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상시관측 4개소 공간투영(NOC)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잔차면 모델링 · 다항식 차수 재선정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지각 자기이상 진폭 보정 검토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401568"/>
            <a:ext cx="128016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6248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56248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56248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5976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3단계   검증 · 갱신체계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’26.11~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적합에 쓰지 않은 독립 측점 검증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5년 갱신주기 연계 재계산 절차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도엽별 자침편차 산출 · 서비스 연계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919472"/>
            <a:ext cx="4430268" cy="914400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029200"/>
            <a:ext cx="4064508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F5497"/>
                </a:solidFill>
                <a:latin typeface="KoPub돋움체 Bold"/>
              </a:rPr>
              <a:t>단계 이행 판정기준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285232"/>
            <a:ext cx="4064508" cy="47548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편각 잔차 10′ 이하 → 정식 산출 검토 · 10~20′ → 부분 재측정 · 20′ 초과 → 방위 기준 재결정 (현재 28.9′)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61204" y="4919472"/>
            <a:ext cx="44302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4084" y="5029200"/>
            <a:ext cx="4064508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C00000"/>
                </a:solidFill>
                <a:latin typeface="KoPub돋움체 Bold"/>
              </a:rPr>
              <a:t>제약 사항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4084" y="5285232"/>
            <a:ext cx="4064508" cy="47548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항공자력 원측선 자료 부재 — 지각축 해상도 개선은 신규 자력측량 여부에 좌우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Autofit/>
      </a:bodyPr>
      <a:lstStyle>
        <a:defPPr algn="l">
          <a:defRPr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81712</TotalTime>
  <Words>356</Words>
  <Application>Microsoft Office PowerPoint</Application>
  <PresentationFormat>A4 용지(210x297mm)</PresentationFormat>
  <Paragraphs>87</Paragraphs>
  <Slides>10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KoPub돋움체 Light</vt:lpstr>
      <vt:lpstr>산돌고딕B</vt:lpstr>
      <vt:lpstr>Wingdings</vt:lpstr>
      <vt:lpstr>나눔고딕</vt:lpstr>
      <vt:lpstr>KoPub돋움체 Bold</vt:lpstr>
      <vt:lpstr>KoPub바탕체 Bold</vt:lpstr>
      <vt:lpstr>KoPub돋움체 Medium</vt:lpstr>
      <vt:lpstr>Arial</vt:lpstr>
      <vt:lpstr>나눔스퀘어라운드 Bold</vt:lpstr>
      <vt:lpstr>맑은 고딕</vt:lpstr>
      <vt:lpstr>4_디자인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최일훈</dc:creator>
  <cp:lastModifiedBy>YOONS</cp:lastModifiedBy>
  <cp:revision>3764</cp:revision>
  <cp:lastPrinted>2026-03-20T04:25:28Z</cp:lastPrinted>
  <dcterms:created xsi:type="dcterms:W3CDTF">2011-03-02T01:31:16Z</dcterms:created>
  <dcterms:modified xsi:type="dcterms:W3CDTF">2026-08-18T04:30:10Z</dcterms:modified>
</cp:coreProperties>
</file>