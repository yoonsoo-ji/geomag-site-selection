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yoonsoo-ji.github.io/geomag-site-selection/lmm.html" TargetMode="External"/><Relationship Id="rId3" Type="http://schemas.openxmlformats.org/officeDocument/2006/relationships/hyperlink" Target="https://yoonsoo-ji.github.io/geomag-site-selection/lmm_map.html" TargetMode="External"/><Relationship Id="rId4" Type="http://schemas.openxmlformats.org/officeDocument/2006/relationships/hyperlink" Target="https://yoonsoo-ji.github.io/geomag-site-selection/geomag_globe.html" TargetMode="External"/><Relationship Id="rId5" Type="http://schemas.openxmlformats.org/officeDocument/2006/relationships/hyperlink" Target="https://yoonsoo-ji.github.io/geomag-site-selection/survey_review.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연구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전지구 모델만으로는 국내 지표 자기장을 설명하지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IGRF 는 지구 중심핵이 만드는 장을 기술한다. 지표에서 실제로 재는 값과의 차이가 이 연구의 대상이다.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754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59227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3518" y="1920240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기원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6243" y="1920240"/>
            <a:ext cx="1481323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공간규모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0447" y="1920240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필요 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23172" y="1920240"/>
            <a:ext cx="214700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국내 보유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77440"/>
            <a:ext cx="11094689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395728"/>
            <a:ext cx="159227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① 핵 (Core)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3518" y="2395728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지구 중심핵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6243" y="2395728"/>
            <a:ext cx="1481323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3,000 km 이상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0447" y="2395728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 가 담당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3172" y="2395728"/>
            <a:ext cx="214700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871216"/>
            <a:ext cx="159227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② 지역 (Regional)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33518" y="2871216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 가 놓치는 광역 편차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6243" y="2871216"/>
            <a:ext cx="1481323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50~3,000 km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0447" y="2871216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필요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3172" y="2871216"/>
            <a:ext cx="214700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반복관측점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328416"/>
            <a:ext cx="11094689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346704"/>
            <a:ext cx="159227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③ 지각 (Crustal)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3518" y="3346704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암석 자화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96243" y="3346704"/>
            <a:ext cx="1481323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0.05~50 km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0447" y="3346704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항공자력 자료 필요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23172" y="3346704"/>
            <a:ext cx="214700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자력이상도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822191"/>
            <a:ext cx="159227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④ 외부 (External)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3518" y="3822191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전리층·자기권 전류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6243" y="3822191"/>
            <a:ext cx="1481323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일·시·분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0447" y="3822191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필요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23172" y="3822191"/>
            <a:ext cx="214700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청양·KASA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553712"/>
            <a:ext cx="11094689" cy="11887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4571999"/>
            <a:ext cx="10765505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국가기본도의 자침편차 표기는 ② 와 ③ 까지 맞아야 성립한다.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지구물리측량 작업규정 제12조 — 1등 지자기점은 국가기본도의 자편각 표기를 위한 점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목표 정확도 편각 0.1°(6′) 는 IGRF 단독으로는 도달하지 못한다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Ⅰ. 연구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층을 쌓는 이유 — 각 층이 실제로 줄이는 몫이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국내 실측 성과에 대해 IGRF 단독부터 단계별로 잔차를 쟀다. 개념이 아니라 측정값이다.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7223760" cy="4754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1173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성분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8644" y="1920240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① Core 단독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3396" y="1920240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+ ③ Crustal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8148" y="1920240"/>
            <a:ext cx="140634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+ ② Regional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1920240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77440"/>
            <a:ext cx="722376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395728"/>
            <a:ext cx="11173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총자력 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58644" y="2395728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87 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3396" y="2395728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59 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8148" y="2395728"/>
            <a:ext cx="140634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58 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2395728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−33 %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871216"/>
            <a:ext cx="11173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 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8644" y="2871216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31.9′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3396" y="2871216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8148" y="2871216"/>
            <a:ext cx="140634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28.8′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2871216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−10 %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328416"/>
            <a:ext cx="722376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346704"/>
            <a:ext cx="11173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복각 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8644" y="3346704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17.4′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03396" y="3346704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8148" y="3346704"/>
            <a:ext cx="140634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13.6′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7376" y="3346704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−22 %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1901952"/>
            <a:ext cx="4008089" cy="192024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99831" y="1920240"/>
            <a:ext cx="3678905" cy="1883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읽는 법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총자력은 지각 자기이상이 대부분을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걷어낸다 (87 → 59 nT)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편각·복각은 지각층이 스칼라만 주므로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② 지역장이 담당한다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그래도 편각은 목표 6′ 에 못 미친다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078224"/>
            <a:ext cx="11094689" cy="129844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3232" y="4096511"/>
            <a:ext cx="10765505" cy="1261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이것이 「왜 LMM 인가」에 대한 답이다.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IGRF 는 전지구 핵 자기장 모델이라 국내 지표값과 총자력에서 87 nT, 편각에서 32′ 어긋난다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층을 쌓으면 그 몫이 실제로 줄어든다 — 다만 남는 편각 오차가 이 연구의 과제다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연구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15점으로는 부족하다 — 관측망과 모델을 함께 세운다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2020 연구가 「15점으로 전국 지자기도를 만들기에는 부족하다」고 판단한 지점에서 출발한다.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382752" cy="17373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2048256"/>
            <a:ext cx="4943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7184"/>
                </a:solidFill>
                <a:latin typeface="Pretendard"/>
              </a:rPr>
              <a:t>종전 (2020)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32304"/>
            <a:ext cx="494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반복측량 15점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전국 지도는 IGRF 30점 계산값에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청양 상시관측 보정을 더해 작성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층별 분리·교차검증 체계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7968" y="2633472"/>
            <a:ext cx="256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F6FB2"/>
                </a:solidFill>
                <a:latin typeface="Pretendard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0576" y="1901952"/>
            <a:ext cx="5382752" cy="173736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80032" y="2048256"/>
            <a:ext cx="4943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F6FB2"/>
                </a:solidFill>
                <a:latin typeface="Pretendard"/>
              </a:rPr>
              <a:t>이번 연구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32" y="2432304"/>
            <a:ext cx="494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4축(Core·Regional·Crustal·External) 결합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국내 실측자료로 각 층을 직접 구성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독립 교차검증으로 성능 판정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관측망 50점 확대 설계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77056"/>
            <a:ext cx="11094689" cy="122529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" y="3895344"/>
            <a:ext cx="10765505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중간보고 시점의 위치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자료 통합 → ② 4축 시범구축 → ③ 독립검증(현재) → ④ 원인별 개선 → ⑤ 신규 50점 최종검증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지금은 ③ 의 후반부다. 만들고, 재고, 한계를 특정하는 단계까지 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Ⅱ. 구축 내용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4축 결합 — 층마다 자료원과 시간·공간 규모가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층을 나누는 이유는 편의가 아니라 물리다. 기원이 다르므로 단순 내삽으로 분리할 수 없다.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82638"/>
                </a:solidFill>
                <a:latin typeface="Pretendard"/>
              </a:rPr>
              <a:t>B_LMM (r, t)  =  B_IGRF  +  B_Regional  +  B_Crustal  +  B_External</a:t>
            </a:r>
          </a:p>
        </p:txBody>
      </p:sp>
      <p:pic>
        <p:nvPicPr>
          <p:cNvPr id="9" name="Picture 8" descr="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68880"/>
            <a:ext cx="6766560" cy="235291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69480" y="2468880"/>
            <a:ext cx="4236689" cy="283464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34072" y="2487168"/>
            <a:ext cx="3907505" cy="2798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층마다 다른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시간상수 — 핵은 수십 년,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외부장은 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공간파장 — 핵은 3,000 km 이상,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지각은 수 km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자료원 — 전지구 모델 / 지표 절대측정 /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항공자력 / 상시관측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Ⅱ. 구축 내용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네 축을 모두 국내 실측자료로 구성했다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개념도가 아니라 실제 자료를 연결해 시험한 결과다.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9265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7836" y="1920240"/>
            <a:ext cx="270173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사용 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2456" y="1920240"/>
            <a:ext cx="114848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규모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3818" y="1920240"/>
            <a:ext cx="159227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활용 수준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8969" y="1920240"/>
            <a:ext cx="3811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중간 결론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14016"/>
            <a:ext cx="11094689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432304"/>
            <a:ext cx="9265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①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7836" y="2432304"/>
            <a:ext cx="270173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2456" y="2432304"/>
            <a:ext cx="114848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1900~2030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3818" y="2432304"/>
            <a:ext cx="159227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구현 완료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8969" y="2432304"/>
            <a:ext cx="3811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 연도 단일 판본 적용 · 공식 계산기와 자릿수 내 일치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944368"/>
            <a:ext cx="9265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② Regional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7836" y="2944368"/>
            <a:ext cx="270173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지리원 반복측량 (’19 · ’22~’25)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2456" y="2944368"/>
            <a:ext cx="114848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16측점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3818" y="2944368"/>
            <a:ext cx="159227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구현·검증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8969" y="2944368"/>
            <a:ext cx="3811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R0(상수항) 채택 · 편각 잔차가 크다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438144"/>
            <a:ext cx="11094689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456432"/>
            <a:ext cx="9265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③ Crustal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7836" y="3456432"/>
            <a:ext cx="270173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자력이상 (1982~2018)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2456" y="3456432"/>
            <a:ext cx="114848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2.8 km 격자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3818" y="3456432"/>
            <a:ext cx="159227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F 적용 · D/I 진단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8969" y="3456432"/>
            <a:ext cx="3811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1:1 결합이 교차검증 최적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968496"/>
            <a:ext cx="9265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④ External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67836" y="3968496"/>
            <a:ext cx="270173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청양 + KASA 3소 + Kp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52456" y="3968496"/>
            <a:ext cx="114848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178세션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3818" y="3968496"/>
            <a:ext cx="159227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시범 적용·검증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8969" y="3968496"/>
            <a:ext cx="3811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4소 공간보간이 단일 관측소보다 우수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718304"/>
            <a:ext cx="3566160" cy="100584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67512" y="4864608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E7D5B"/>
                </a:solidFill>
                <a:latin typeface="Pretendard"/>
              </a:rPr>
              <a:t>4 /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" y="5486400"/>
            <a:ext cx="332841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국내 자료로 구성한 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59" y="4718304"/>
            <a:ext cx="3566160" cy="100584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370831" y="4864608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2019~2025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70831" y="5486400"/>
            <a:ext cx="332841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관측시각을 복원한 구간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4718304"/>
            <a:ext cx="3688049" cy="100584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119871" y="4736592"/>
            <a:ext cx="3358865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성과표에는 연도만 있었다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야장 원본에서 분 단위 시각을 복원했다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Ⅱ. 구축 내용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구축 절차 — 자료 이력 감사부터 시작한다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모델 알고리즘보다 순서가 중요하다. 측점 이력과 관측시각을 먼저 정리해야 뒤 단계가 의미를 갖는다.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93392"/>
            <a:ext cx="1506578" cy="11704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93392"/>
            <a:ext cx="1506578" cy="310896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2020824"/>
            <a:ext cx="1506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0단계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95728"/>
            <a:ext cx="1360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이력 감사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706624"/>
            <a:ext cx="13602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표지 재설·장비·등급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6930" y="2468880"/>
            <a:ext cx="128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6658" y="1993392"/>
            <a:ext cx="1506578" cy="11704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146658" y="1993392"/>
            <a:ext cx="1506578" cy="310896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146658" y="2020824"/>
            <a:ext cx="1506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1단계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9810" y="2395728"/>
            <a:ext cx="1360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시각 통일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9810" y="2706624"/>
            <a:ext cx="13602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야장 KST → UTC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4949" y="2468880"/>
            <a:ext cx="128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4677" y="1993392"/>
            <a:ext cx="1506578" cy="11704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744677" y="1993392"/>
            <a:ext cx="1506578" cy="310896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744677" y="2020824"/>
            <a:ext cx="1506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2단계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7829" y="2395728"/>
            <a:ext cx="1360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세션 QC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7829" y="2706624"/>
            <a:ext cx="13602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관측소 변동폭·Kp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2967" y="2468880"/>
            <a:ext cx="128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2695" y="1993392"/>
            <a:ext cx="1506578" cy="11704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342695" y="1993392"/>
            <a:ext cx="1506578" cy="310896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342695" y="2020824"/>
            <a:ext cx="1506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3단계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5847" y="2395728"/>
            <a:ext cx="1360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외부장 제거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5847" y="2706624"/>
            <a:ext cx="13602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4소 공간보간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986" y="2468880"/>
            <a:ext cx="128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0714" y="1993392"/>
            <a:ext cx="1506578" cy="11704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940714" y="1993392"/>
            <a:ext cx="1506578" cy="310896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940714" y="2020824"/>
            <a:ext cx="1506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4단계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3866" y="2395728"/>
            <a:ext cx="1360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IGRF 계산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13866" y="2706624"/>
            <a:ext cx="13602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실제 관측일시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9004" y="2468880"/>
            <a:ext cx="128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38732" y="1993392"/>
            <a:ext cx="1506578" cy="11704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538732" y="1993392"/>
            <a:ext cx="1506578" cy="310896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538732" y="2020824"/>
            <a:ext cx="1506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5단계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11884" y="2395728"/>
            <a:ext cx="1360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LMM 적합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11884" y="2706624"/>
            <a:ext cx="13602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Regional + Crustal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27023" y="2468880"/>
            <a:ext cx="128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36751" y="1993392"/>
            <a:ext cx="1506578" cy="11704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10136751" y="1993392"/>
            <a:ext cx="1506578" cy="310896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136751" y="2020824"/>
            <a:ext cx="1506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6단계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09903" y="2395728"/>
            <a:ext cx="1360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교차검증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09903" y="2706624"/>
            <a:ext cx="13602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Station-LOSO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3419856"/>
            <a:ext cx="11094689" cy="5669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58368" y="3438144"/>
            <a:ext cx="247984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요점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21093" y="3438144"/>
            <a:ext cx="824908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3986784"/>
            <a:ext cx="11094689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58368" y="4005072"/>
            <a:ext cx="247984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0단계가 새로 들어갔다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21093" y="4005072"/>
            <a:ext cx="824908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같은 이름이라도 표지가 재설되면 다른 측점이다. 2020 보고서의 신뢰도 판정(2017 장비고장·2011 D/I 미관측·표석 망실)을 이력표로 만들어 등급을 매겼다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4572000"/>
            <a:ext cx="247984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시각은 야장에서 복원했다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21093" y="4572000"/>
            <a:ext cx="824908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성과표에는 연도만 있으나 야장에는 분 단위 시각이 있다. 편각·복각 관측 구간이 따로 기록돼 있어 성분마다 자기 구간의 외부장으로 보정한다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5120640"/>
            <a:ext cx="11094689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58368" y="5138928"/>
            <a:ext cx="247984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층은 따로 손보지 않는다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21093" y="5138928"/>
            <a:ext cx="824908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Regional 은 Core·Crustal 이 남긴 것을 흡수하는 항이므로, 자료가 바뀌면 전 층을 다시 적합한다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Ⅱ. 구축 내용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구축 결과는 웹에서 바로 확인할 수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설치 없이 브라우저만으로 열린다. 아래 주소를 눌러 시연한다.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364464" cy="12984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54864" cy="129844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6" y="2029968"/>
            <a:ext cx="4925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82638"/>
                </a:solidFill>
                <a:latin typeface="Pretendard"/>
              </a:rPr>
              <a:t>LMM 계산기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40864"/>
            <a:ext cx="49255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6FB2"/>
                </a:solidFill>
                <a:latin typeface="Pretendard"/>
                <a:hlinkClick r:id="rId2"/>
              </a:rPr>
              <a:t>https://yoonsoo-ji.github.io/geomag-site-selection/lmm.html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33472"/>
            <a:ext cx="49255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좌표·표고·일자를 넣으면 편각·복각·총자력을 계산한다.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층별 기여(Core·Regional·Crustal)와 정확도 고지를 함께 보여준다.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8864" y="1901952"/>
            <a:ext cx="5364464" cy="12984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278864" y="1901952"/>
            <a:ext cx="54864" cy="129844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98320" y="2029968"/>
            <a:ext cx="4925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82638"/>
                </a:solidFill>
                <a:latin typeface="Pretendard"/>
              </a:rPr>
              <a:t>한국 지자기도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8320" y="2340864"/>
            <a:ext cx="49255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6FB2"/>
                </a:solidFill>
                <a:latin typeface="Pretendard"/>
                <a:hlinkClick r:id="rId3"/>
              </a:rPr>
              <a:t>https://yoonsoo-ji.github.io/geomag-site-selection/lmm_map.html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8320" y="2633472"/>
            <a:ext cx="49255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 · LMM · 차이를 나란히 그린다.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2020 연구의 지자기도와 같은 형식이라 직접 견줄 수 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5364464" cy="12984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3383280"/>
            <a:ext cx="54864" cy="129844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8096" y="3511296"/>
            <a:ext cx="4925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82638"/>
                </a:solidFill>
                <a:latin typeface="Pretendard"/>
              </a:rPr>
              <a:t>3D 지구 자기장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3822191"/>
            <a:ext cx="49255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6FB2"/>
                </a:solidFill>
                <a:latin typeface="Pretendard"/>
                <a:hlinkClick r:id="rId4"/>
              </a:rPr>
              <a:t>https://yoonsoo-ji.github.io/geomag-site-selection/geomag_globe.html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114800"/>
            <a:ext cx="49255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전지구 자기장 위에 한국 고해상 패치를 얹는다.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선점 후보·기존점 마커에서 상세 지도로 이어진다.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8864" y="3383280"/>
            <a:ext cx="5364464" cy="12984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278864" y="3383280"/>
            <a:ext cx="54864" cy="129844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98320" y="3511296"/>
            <a:ext cx="4925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82638"/>
                </a:solidFill>
                <a:latin typeface="Pretendard"/>
              </a:rPr>
              <a:t>선점 검토 지도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8320" y="3822191"/>
            <a:ext cx="49255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6FB2"/>
                </a:solidFill>
                <a:latin typeface="Pretendard"/>
                <a:hlinkClick r:id="rId5"/>
              </a:rPr>
              <a:t>https://yoonsoo-ji.github.io/geomag-site-selection/survey_review.html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8320" y="4114800"/>
            <a:ext cx="49255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현장조사 103점의 등급·사진·방위표지와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기존 측정점 30점을 함께 본다.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919472"/>
            <a:ext cx="11094689" cy="100584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3232" y="4937759"/>
            <a:ext cx="10765505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시연 순서 — ① 계산기에서 한 점을 계산해 층별 기여를 보여주고 ② 지자기도에서 IGRF 와의 차이를 보인 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③ 지구본에서 한국 패치를 확대해 선점 후보까지 이어 간다. 모두 외부 서버 없이 동작한다.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만들고 끝내지 않고, 무엇이 맞는지 자료로 골랐다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구현 검증 · 구조 선택 · 예측 검증의 세 층으로 나누고, 평가 측점을 미리 얼렸다.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51925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182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3551925" cy="365760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47672"/>
            <a:ext cx="35519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retendard"/>
              </a:rPr>
              <a:t>구현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7744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07184"/>
                </a:solidFill>
                <a:latin typeface="Pretendard"/>
              </a:rPr>
              <a:t>계산이 설계대로 되는가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688336"/>
            <a:ext cx="322274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공식 IGRF 계산기와 대조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Python·JS·Excel 세 구현 일치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표시 자릿수 내 일치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21" y="1901952"/>
            <a:ext cx="3551925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182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20021" y="1901952"/>
            <a:ext cx="3551925" cy="365760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20021" y="1947672"/>
            <a:ext cx="35519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retendard"/>
              </a:rPr>
              <a:t>구조 선택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4613" y="237744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07184"/>
                </a:solidFill>
                <a:latin typeface="Pretendard"/>
              </a:rPr>
              <a:t>어떤 형태가 옳은가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4613" y="2688336"/>
            <a:ext cx="322274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Regional 차수 R0/R1/R2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지각 결합 F0/F1/Fα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External E0/E1/E2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1403" y="1901952"/>
            <a:ext cx="3551925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182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1403" y="1901952"/>
            <a:ext cx="3551925" cy="365760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091403" y="1947672"/>
            <a:ext cx="35519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retendard"/>
              </a:rPr>
              <a:t>예측 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5995" y="237744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07184"/>
                </a:solidFill>
                <a:latin typeface="Pretendard"/>
              </a:rPr>
              <a:t>쓰지 않은 점에서 맞는가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5995" y="2688336"/>
            <a:ext cx="322274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Station-LOSO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블록 홀드아웃(남중북·동서)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2010 공표성과 대조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059935"/>
            <a:ext cx="11094689" cy="12801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3232" y="4078223"/>
            <a:ext cx="10765505" cy="1243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평가 측점을 얼렸다 — 이 연구의 방법론적 핵심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여러 후보를 같은 교차검증 수치를 보며 고르면 그 수치에도 과적합된다. 그래서 기준 설정에서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평가 측점을 한 번만 정해 파일로 고정하고(편각 14 · 복각 15 · 총자력 13 / 16측점), 이후 모든 비교를 그 위에서만 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세 갈래를 자료로 갈랐다 — 복잡한 쪽이 이기지 않았다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모두 같은 조건(Grade A · 동일 차수 · 평가 측점 고정)에서 처음부터 다시 적합했다. 「가장 가까운 관측소와 변화가 같다」는 가정은 성립하지 않았다.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09</a:t>
            </a:r>
          </a:p>
        </p:txBody>
      </p:sp>
      <p:pic>
        <p:nvPicPr>
          <p:cNvPr id="8" name="Picture 7" descr="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01952"/>
            <a:ext cx="6400800" cy="2162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132320" y="1901952"/>
            <a:ext cx="4511009" cy="21579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296912" y="1920240"/>
            <a:ext cx="4181825" cy="2121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선택의 요점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측점 16개로는 «공간 구조»를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지지할 수 없다 → 상수항(R0)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지각 결합계수를 자유롭게 두면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과적합 → 1:1 (α = 1)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복잡한 모형이 훈련 오차만 낮추고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예측을 악화시키는 사례를 확인했다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82638"/>
                </a:solidFill>
                <a:latin typeface="Pretendard"/>
              </a:rPr>
              <a:t>External — 단일 관측소로는 안 되고, 공간보간이라야 된다</a:t>
            </a:r>
          </a:p>
        </p:txBody>
      </p:sp>
      <p:pic>
        <p:nvPicPr>
          <p:cNvPr id="12" name="Picture 11" descr="exter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98848"/>
            <a:ext cx="4206240" cy="195289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937760" y="4517136"/>
            <a:ext cx="6705569" cy="28346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47488" y="4535423"/>
            <a:ext cx="755899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모델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6267" y="4535423"/>
            <a:ext cx="249934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495" y="4535423"/>
            <a:ext cx="1560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LOO 편각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11943" y="4535423"/>
            <a:ext cx="1158233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4800599"/>
            <a:ext cx="6705569" cy="2834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047488" y="4818887"/>
            <a:ext cx="755899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미적용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6267" y="4818887"/>
            <a:ext cx="249934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8495" y="4818887"/>
            <a:ext cx="1560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0.5123°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11943" y="4818887"/>
            <a:ext cx="1158233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기준선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5102351"/>
            <a:ext cx="755899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E0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6267" y="5102351"/>
            <a:ext cx="249934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청양 단독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8495" y="5102351"/>
            <a:ext cx="1560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0.5495°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11943" y="5102351"/>
            <a:ext cx="1158233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5367527"/>
            <a:ext cx="6705569" cy="2834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047488" y="5385815"/>
            <a:ext cx="755899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E1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6267" y="5385815"/>
            <a:ext cx="249934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최근접 관측소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8495" y="5385815"/>
            <a:ext cx="1560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0.5504°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11943" y="5385815"/>
            <a:ext cx="1158233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5669279"/>
            <a:ext cx="755899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E2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6267" y="5669279"/>
            <a:ext cx="249934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4소 공간보간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495" y="5669279"/>
            <a:ext cx="1560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0.4987°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11943" y="5669279"/>
            <a:ext cx="1158233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채택(잠정)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760" y="5934455"/>
            <a:ext cx="6705569" cy="2834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047488" y="5952743"/>
            <a:ext cx="755899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E2b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6267" y="5952743"/>
            <a:ext cx="249934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4소 역거리가중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68495" y="5952743"/>
            <a:ext cx="1560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0.5595°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11943" y="5952743"/>
            <a:ext cx="1158233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Ⅳ. 현재 성능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총자력은 목표에 근접했고, 편각이 남았다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적합에 쓰지 않은 측점에서의 예측오차(Station-LOSO)다.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10</a:t>
            </a:r>
          </a:p>
        </p:txBody>
      </p:sp>
      <p:pic>
        <p:nvPicPr>
          <p:cNvPr id="8" name="Picture 7" descr="l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947672"/>
            <a:ext cx="4142232" cy="20711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30′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편각 D  |  목표 6′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99923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E86F2A"/>
                </a:solidFill>
                <a:latin typeface="Pretendard"/>
              </a:rPr>
              <a:t>63 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총자력 F  |  목표 50 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9" y="1901952"/>
            <a:ext cx="2212848" cy="122529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30951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F6FB2"/>
                </a:solidFill>
                <a:latin typeface="Pretendard"/>
              </a:rPr>
              <a:t>15′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복각 I  |  별도 목표 없음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681228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3401568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성분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8332" y="3401568"/>
            <a:ext cx="104333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4543" y="3401568"/>
            <a:ext cx="770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목표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8262" y="3401568"/>
            <a:ext cx="11795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배수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0718" y="3401568"/>
            <a:ext cx="199704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03904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8368" y="3822191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총자력 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8332" y="3822191"/>
            <a:ext cx="104333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63.0 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4543" y="3822191"/>
            <a:ext cx="770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50 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8262" y="3822191"/>
            <a:ext cx="11795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목표의 1.26배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0718" y="3822191"/>
            <a:ext cx="199704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근접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242816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48332" y="4242816"/>
            <a:ext cx="104333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29.9′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4543" y="4242816"/>
            <a:ext cx="770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28262" y="4242816"/>
            <a:ext cx="11795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목표의 5.0배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90718" y="4242816"/>
            <a:ext cx="199704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구조적 개선 필요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45152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8368" y="4663440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복각 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8332" y="4663440"/>
            <a:ext cx="104333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14.6′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4543" y="4663440"/>
            <a:ext cx="770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8262" y="4663440"/>
            <a:ext cx="11795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90718" y="4663440"/>
            <a:ext cx="199704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검증 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937760"/>
            <a:ext cx="6812280" cy="100584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4956048"/>
            <a:ext cx="6483096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중간보고 기준 버전 (Midterm Baseline v1)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Regional R0 · 지각 1:1 결합 · External E2(잠정) · 지각벡터 미적용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297680"/>
            <a:ext cx="4142232" cy="14813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662671" y="4315968"/>
            <a:ext cx="3813048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현 단계 사용 범위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연구·시범계산 :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지형도 자침편차 등 정식 편각 산출 : 자료 확충 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Ⅳ. 현재 성능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중간 시점에서 얻은 것 — 무엇이 되고 무엇이 남았는지 특정했다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성능 미달 자체보다, 그 원인을 자료·물리·구조로 나눠 지목한 것이 이 단계의 성과다.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0184" cy="21031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2066544"/>
            <a:ext cx="4971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Pretendard"/>
              </a:rPr>
              <a:t>확인된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68880"/>
            <a:ext cx="49712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4축 구조를 국내 자료로 구현했다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Core 구현은 공식 계산기와 일치한다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지각 자력이상을 총자력에 넣으면 실제로 좋아진다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(72.3 → 63.0 nT)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외부장은 4소 공간보간에서만 이득이 난다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총자력은 목표의 1.3배까지 왔다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144" y="1901952"/>
            <a:ext cx="5410184" cy="210312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52600" y="2066544"/>
            <a:ext cx="4971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63D3D"/>
                </a:solidFill>
                <a:latin typeface="Pretendard"/>
              </a:rPr>
              <a:t>남은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2600" y="2468880"/>
            <a:ext cx="49712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편각이 목표의 5배다 (30′ vs 6′)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측점 16개로는 지역장의 공간 구조를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결정할 수 없다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지각 벡터는 자료 결측 39% 로 보류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상시관측소 축 규약 문서가 없다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42816"/>
            <a:ext cx="11094689" cy="100584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232" y="4261104"/>
            <a:ext cx="10765505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이 단계의 결론은 「미달」이 아니라 「특정」이다.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무엇을 고치면 무엇이 좋아지는지가 정해졌고, 그것이 후반기 연구계획이 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Ⅴ. 원인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편각 오차의 원인을 좁혔다 — 모형이 아니라 자료다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모형 쪽 후보는 검정으로 하나씩 지웠다. 남은 것은 관측 자료의 계통 오차와 측점 밀도다.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6903720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164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검정한 가설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5632" y="1920240"/>
            <a:ext cx="31309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9418" y="1920240"/>
            <a:ext cx="10597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6903720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304288"/>
            <a:ext cx="2164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IGRF 구현 오류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5632" y="2304288"/>
            <a:ext cx="31309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공식 계산기와 표시 자릿수 내 일치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9418" y="2304288"/>
            <a:ext cx="10597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배제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88336"/>
            <a:ext cx="2164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Regional 차수 부족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5632" y="2688336"/>
            <a:ext cx="31309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1·2차가 상수항보다 나쁘다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9418" y="2688336"/>
            <a:ext cx="10597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배제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054096"/>
            <a:ext cx="6903720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072384"/>
            <a:ext cx="2164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지역 영년변화 항 누락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05632" y="3072384"/>
            <a:ext cx="31309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시간항 추가 시 오히려 악화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9418" y="3072384"/>
            <a:ext cx="10597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배제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456432"/>
            <a:ext cx="2164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단일 관측소 외부장 보정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05632" y="3456432"/>
            <a:ext cx="31309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청양 단독·최근접 모두 기준선보다 나쁨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9418" y="3456432"/>
            <a:ext cx="10597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배제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822191"/>
            <a:ext cx="6903720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840479"/>
            <a:ext cx="2164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Kp&gt;2 자료 제거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05632" y="3840479"/>
            <a:ext cx="31309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관측소 실측이 조용한 세션이 대부분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9418" y="3840479"/>
            <a:ext cx="10597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근거 부족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224527"/>
            <a:ext cx="2164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지각 결합계수 오류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05632" y="4224527"/>
            <a:ext cx="31309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계수 자유추정은 과적합(fold 0.29~0.81)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19418" y="4224527"/>
            <a:ext cx="10597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배제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1901952"/>
            <a:ext cx="4053809" cy="243230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72400" y="2048256"/>
            <a:ext cx="368804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C63D3D"/>
                </a:solidFill>
                <a:latin typeface="Pretendard"/>
              </a:rPr>
              <a:t>남은 요인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2432304"/>
            <a:ext cx="368804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① 기존 반복측량의 편각 계통오차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   장비 · 방위표지 · 측점 이설 ·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   관측 캠페인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② 지각 벡터 성분 미반영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   예상 기여 8.1′ (KPI 6′ 초과)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③ 측점 16개라는 공간 밀도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46320"/>
            <a:ext cx="6903720" cy="1115568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4864607"/>
            <a:ext cx="6574536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방위 기준이 실제로 흔들린다 — 재방문 감사에서 확인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같은 측점인데 마크 참방위각이 방문마다 옮겨 간다(예: 159.9° → 330.6°). 재방문 잔여가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부호까지 뒤집힌 방문 2건은 원인이 특정돼 표본에서 제외했다.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Ⅴ. 원인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개선 여지는 이미 확인했다 — 다만 자료가 아직 못 받친다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항공자력의 스칼라 이상에서 벡터를 복원하면 편각이 일관되게 좋아진다. 자료 결측이 걸림돌이다.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09468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82638"/>
                </a:solidFill>
                <a:latin typeface="Pretendard"/>
              </a:rPr>
              <a:t>ΔF  =  l · b_north  +  m · b_east  +  n · b_down       → 역산하면 편각·복각에 쓸 수 있다</a:t>
            </a:r>
          </a:p>
        </p:txBody>
      </p:sp>
      <p:pic>
        <p:nvPicPr>
          <p:cNvPr id="9" name="Picture 8" descr="vector_rob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50592"/>
            <a:ext cx="6035040" cy="28094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303520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미적용 0.4987° · zero 0.4506 · mean 0.4507 · harmonic 0.4739 · 경계배제 0.4638 · 블록 0.4560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614416"/>
            <a:ext cx="6035040" cy="530352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3232" y="5632703"/>
            <a:ext cx="5705855" cy="49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요지는 「미완」이 아니라 「개선 경로가 이미 확인됐다」는 것이다.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2414016"/>
            <a:ext cx="2377440" cy="109728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656832" y="2560320"/>
            <a:ext cx="2139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8.1′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3182112"/>
            <a:ext cx="21396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복원 벡터의 편각 기여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2414016"/>
            <a:ext cx="2545049" cy="109728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217152" y="2560320"/>
            <a:ext cx="23073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39 %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3182112"/>
            <a:ext cx="230730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격자 결측 — 0 으로 채움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3657600"/>
            <a:ext cx="5105369" cy="2139696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702552" y="3675887"/>
            <a:ext cx="4776185" cy="2103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왜 아직 넣지 않는가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모든 채움 방식과 블록 홀드아웃에서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편각이 좋아진다 — 신호는 실재한다.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그러나 결측 39% 를 0 으로 채운 역산이라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복원 진폭 자체가 불확실하다.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승격 조건은 채움 알고리즘 교체가 아니라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원자료 결측의 해결이다.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Ⅵ. 기존 연구와의 관계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2020 연구가 멈춘 지점에서 이어 간다 — 다만 같은 15점이 아니다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2020 연구를 대체하는 것이 아니라, 그 판단을 출발점으로 삼아 구조를 확장했다. 측점망은 거의 교체됐다.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364464" cy="210312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2048256"/>
            <a:ext cx="49255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7184"/>
                </a:solidFill>
                <a:latin typeface="Pretendard"/>
              </a:rPr>
              <a:t>2020 연구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32304"/>
            <a:ext cx="49255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2회 이상 측량된 15점</a:t>
            </a:r>
          </a:p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        ↓</a:t>
            </a:r>
          </a:p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전국 모델에는 부족하다고 판단</a:t>
            </a:r>
          </a:p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        ↓</a:t>
            </a:r>
          </a:p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IGRF 30점 계산값 + 청양 상시관측 보정</a:t>
            </a:r>
          </a:p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        ↓</a:t>
            </a:r>
          </a:p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2020 지자기도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864" y="1901952"/>
            <a:ext cx="5364464" cy="21031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8320" y="2048256"/>
            <a:ext cx="49255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F6FB2"/>
                </a:solidFill>
                <a:latin typeface="Pretendard"/>
              </a:rPr>
              <a:t>이번 연구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8320" y="2432304"/>
            <a:ext cx="49255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IGRF (Core) + 지표 절대측정 (Regional)</a:t>
            </a:r>
          </a:p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        +</a:t>
            </a:r>
          </a:p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KIGAM 자력이상 (Crustal) + 다중 관측소 (External)</a:t>
            </a:r>
          </a:p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        ↓</a:t>
            </a:r>
          </a:p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통합 LMM + 독립 교차검증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6256" y="2816352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2F6FB2"/>
                </a:solidFill>
                <a:latin typeface="Pretendard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33087"/>
            <a:ext cx="11094689" cy="32918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8368" y="4151375"/>
            <a:ext cx="13703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1624" y="4151375"/>
            <a:ext cx="358931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2020 연구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3818" y="4151375"/>
            <a:ext cx="558635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이번 연구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62272"/>
            <a:ext cx="11094689" cy="32918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4480559"/>
            <a:ext cx="13703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측점 구성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1624" y="4480559"/>
            <a:ext cx="358931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2012~19 측량 2회 이상 15점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3818" y="4480559"/>
            <a:ext cx="558635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공통 5점 · 2020 배제분 10점 · 야장 2점 = 16점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809744"/>
            <a:ext cx="13703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관측 공백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1624" y="4809744"/>
            <a:ext cx="358931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최대 93 km · 50 km 초과 30 %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3818" y="4809744"/>
            <a:ext cx="558635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최대 129 km · 36 % — 강원·충청 내륙 축 상실 (50점 배치 설계의 근거)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120640"/>
            <a:ext cx="11094689" cy="32918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5138928"/>
            <a:ext cx="13703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지역장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1624" y="5138928"/>
            <a:ext cx="358931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별도 층 없음 — IGRF 계산값 사용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3818" y="5138928"/>
            <a:ext cx="558635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지표 절대측정으로 직접 구성(R0)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468112"/>
            <a:ext cx="13703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지각장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11624" y="5468112"/>
            <a:ext cx="358931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 없음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3818" y="5468112"/>
            <a:ext cx="558635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KIGAM 자력이상 1:1 결합 — 총자력 잔차 87 → 59 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779008"/>
            <a:ext cx="11094689" cy="32918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5797296"/>
            <a:ext cx="13703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외부장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11624" y="5797296"/>
            <a:ext cx="358931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청양 단독 보정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3818" y="5797296"/>
            <a:ext cx="558635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관측소 4소 공간보간 · 성분별 관측구간(잠정)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126480"/>
            <a:ext cx="13703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11624" y="6126480"/>
            <a:ext cx="358931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과거 성과와 비교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3818" y="6126480"/>
            <a:ext cx="558635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평가집합 동결 + Station-LOSO + 블록 홀드아웃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Ⅶ. 중간결론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중간결론 — 만들었고, 쟀고, 한계를 특정했다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93392"/>
            <a:ext cx="11094689" cy="10607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2121408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D5B"/>
                </a:solidFill>
                <a:latin typeface="Pretendard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2139696"/>
            <a:ext cx="1008884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2638"/>
                </a:solidFill>
                <a:latin typeface="Pretendard"/>
              </a:rPr>
              <a:t>국내 자료 기반 4축 LMM 시범구축 완료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523744"/>
            <a:ext cx="100888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Core·Regional·Crustal·External 을 모두 국내 실측자료로 구성하고 세 계산환경(Python·웹·엑셀)에서 같은 값을 확인했다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82112"/>
            <a:ext cx="11094689" cy="10607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3310128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D5B"/>
                </a:solidFill>
                <a:latin typeface="Pretendard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3328416"/>
            <a:ext cx="1008884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2638"/>
                </a:solidFill>
                <a:latin typeface="Pretendard"/>
              </a:rPr>
              <a:t>독립 교차검증으로 적용 가능성과 한계를 정량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3712464"/>
            <a:ext cx="100888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평가 측점을 동결한 Station-LOSO 로 편각 30′ · 총자력 63 nT 를 얻었다. 총자력은 목표의 1.3배까지 왔다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70832"/>
            <a:ext cx="11094689" cy="10607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9808" y="4498848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D5B"/>
                </a:solidFill>
                <a:latin typeface="Pretendard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4517136"/>
            <a:ext cx="1008884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2638"/>
                </a:solidFill>
                <a:latin typeface="Pretendard"/>
              </a:rPr>
              <a:t>편각 정확도 제한요인을 특정하여 후반기 방향 확정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5024" y="4901184"/>
            <a:ext cx="100888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모형 쪽 후보는 검정으로 배제했고, 기존 관측성과의 계통오차·측점 밀도·지각 벡터 자료 결측이 남았다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614416"/>
            <a:ext cx="11094689" cy="84124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13232" y="5632703"/>
            <a:ext cx="10765505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현 단계 산출물은 연구·시범계산용이다. 지형도 자침편차 등 정식 편각 산출에는 자료 확충 후 적용한다.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Ⅶ. 후반기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후반기는 세 갈래로 나눠 진행한다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기존자료 고도화 · 모델 고도화 · 신규 관측망을 병렬로 두고, 마지막에 독립검증으로 합친다.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51925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86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3551925" cy="40233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56816"/>
            <a:ext cx="35519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Track A   기존자료 고도화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50592"/>
            <a:ext cx="3186165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2012~2019 ↔ 2022~25 동일측점 대조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장비·방위표지·측점 이력 추적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오차 budget 작성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상시관측소 축 규약 문서 확보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21" y="1901952"/>
            <a:ext cx="3551925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2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20021" y="1901952"/>
            <a:ext cx="3551925" cy="40233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320021" y="1956816"/>
            <a:ext cx="35519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Track B   모델 고도화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2901" y="2450592"/>
            <a:ext cx="3186165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KIGAM 결측 해결 → 지각 벡터 재판정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External E2 확정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지역장 공간구조 재검토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목표 편각 6′ · 총자력 50 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1403" y="1901952"/>
            <a:ext cx="3551925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91403" y="1901952"/>
            <a:ext cx="3551925" cy="40233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91403" y="1956816"/>
            <a:ext cx="35519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Track C   신규 50점 관측망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4283" y="2450592"/>
            <a:ext cx="3186165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자기환경 조사 기반 선점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35~40점 모델 구축용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10~15점 검증 전용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최종 독립검증의 근거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42816"/>
            <a:ext cx="11094689" cy="122529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13232" y="4261104"/>
            <a:ext cx="10765505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신규 50점의 설계가 가장 중요하다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전부를 모델 적합에 쓰면 최종 성능을 객관적으로 말할 수 없다. 일부를 처음부터 검증 전용으로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남겨 두면 최종 보고서에서 「모델 구축에 사용하지 않은 신규 국가기준점에서 독립검증하였다」고 쓸 수 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