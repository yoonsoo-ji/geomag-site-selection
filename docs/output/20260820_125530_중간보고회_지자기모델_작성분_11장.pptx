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09" r:id="rId1"/>
  </p:sldMasterIdLst>
  <p:notesMasterIdLst>
    <p:notesMasterId r:id="rId12"/>
  </p:notesMasterIdLst>
  <p:handoutMasterIdLst>
    <p:handoutMasterId r:id="rId13"/>
  </p:handoutMasterIdLst>
  <p:sldIdLst>
    <p:sldId id="660" r:id="rId2"/>
    <p:sldId id="1092" r:id="rId3"/>
    <p:sldId id="1052" r:id="rId4"/>
    <p:sldId id="1122" r:id="rId5"/>
    <p:sldId id="1327" r:id="rId34"/>
    <p:sldId id="1328" r:id="rId35"/>
    <p:sldId id="1329" r:id="rId36"/>
    <p:sldId id="1321" r:id="rId6"/>
    <p:sldId id="1322" r:id="rId7"/>
    <p:sldId id="1323" r:id="rId30"/>
    <p:sldId id="1324" r:id="rId31"/>
    <p:sldId id="1325" r:id="rId32"/>
    <p:sldId id="1326" r:id="rId33"/>
    <p:sldId id="1094" r:id="rId8"/>
    <p:sldId id="1163" r:id="rId9"/>
    <p:sldId id="1318" r:id="rId10"/>
    <p:sldId id="1330" r:id="rId37"/>
    <p:sldId id="1084" r:id="rId11"/>
  </p:sldIdLst>
  <p:sldSz cx="9906000" cy="6858000" type="A4"/>
  <p:notesSz cx="7104063" cy="10234613"/>
  <p:embeddedFontLst>
    <p:embeddedFont>
      <p:font typeface="나눔스퀘어라운드 Bold" panose="020B0600000101010101" charset="-127"/>
      <p:bold r:id="rId14"/>
    </p:embeddedFont>
    <p:embeddedFont>
      <p:font typeface="산돌고딕B" panose="020B0600000101010101" charset="-127"/>
      <p:regular r:id="rId15"/>
    </p:embeddedFont>
    <p:embeddedFont>
      <p:font typeface="KoPub돋움체 Bold" panose="02020603020101020101" pitchFamily="18" charset="-127"/>
      <p:regular r:id="rId16"/>
      <p:bold r:id="rId17"/>
    </p:embeddedFont>
    <p:embeddedFont>
      <p:font typeface="KoPub돋움체 Light" panose="02020603020101020101" pitchFamily="18" charset="-127"/>
      <p:regular r:id="rId18"/>
    </p:embeddedFont>
    <p:embeddedFont>
      <p:font typeface="KoPub돋움체 Medium" panose="02020603020101020101" pitchFamily="18" charset="-127"/>
      <p:regular r:id="rId19"/>
    </p:embeddedFont>
    <p:embeddedFont>
      <p:font typeface="KoPub바탕체 Bold" panose="02020603020101020101" pitchFamily="18" charset="-127"/>
      <p:regular r:id="rId20"/>
      <p:bold r:id="rId21"/>
    </p:embeddedFont>
    <p:embeddedFont>
      <p:font typeface="나눔고딕" panose="020D0604000000000000" pitchFamily="50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1pPr>
    <a:lvl2pPr marL="4572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2pPr>
    <a:lvl3pPr marL="9144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3pPr>
    <a:lvl4pPr marL="13716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4pPr>
    <a:lvl5pPr marL="18288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2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9"/>
    <a:srgbClr val="009900"/>
    <a:srgbClr val="4A7EBB"/>
    <a:srgbClr val="33CC33"/>
    <a:srgbClr val="FF6600"/>
    <a:srgbClr val="006666"/>
    <a:srgbClr val="5EC7D4"/>
    <a:srgbClr val="F6F1F0"/>
    <a:srgbClr val="2F5596"/>
    <a:srgbClr val="00B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066" autoAdjust="0"/>
  </p:normalViewPr>
  <p:slideViewPr>
    <p:cSldViewPr showGuides="1">
      <p:cViewPr varScale="1">
        <p:scale>
          <a:sx n="103" d="100"/>
          <a:sy n="103" d="100"/>
        </p:scale>
        <p:origin x="1278" y="102"/>
      </p:cViewPr>
      <p:guideLst>
        <p:guide orient="horz" pos="4065"/>
        <p:guide orient="horz" pos="1071"/>
        <p:guide orient="horz"/>
        <p:guide pos="6068"/>
        <p:guide pos="172"/>
        <p:guide pos="3120"/>
        <p:guide orient="horz" pos="356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876"/>
    </p:cViewPr>
  </p:sorterViewPr>
  <p:notesViewPr>
    <p:cSldViewPr>
      <p:cViewPr varScale="1">
        <p:scale>
          <a:sx n="114" d="100"/>
          <a:sy n="114" d="100"/>
        </p:scale>
        <p:origin x="5196" y="120"/>
      </p:cViewPr>
      <p:guideLst>
        <p:guide orient="horz" pos="3222"/>
        <p:guide pos="223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47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>
              <a:defRPr sz="1300"/>
            </a:lvl1pPr>
          </a:lstStyle>
          <a:p>
            <a:fld id="{3E987FDE-81F0-4B47-AB5B-4B096379894B}" type="datetimeFigureOut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2026-08-18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47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r">
              <a:defRPr sz="1300"/>
            </a:lvl1pPr>
          </a:lstStyle>
          <a:p>
            <a:fld id="{FA841F78-DC43-4BD1-833B-B52A54EA3C51}" type="slidenum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‹#›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6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fld id="{9B44FAE6-1E84-4284-B90D-5162B3CB7787}" type="datetimeFigureOut">
              <a:rPr lang="ko-KR" altLang="en-US" smtClean="0"/>
              <a:pPr>
                <a:defRPr/>
              </a:pPr>
              <a:t>2026-08-18</a:t>
            </a:fld>
            <a:endParaRPr lang="en-US" altLang="ko-KR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831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7" y="4861162"/>
            <a:ext cx="5683915" cy="460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720675"/>
            <a:ext cx="3079203" cy="51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2892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99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21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28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C6E1-EADA-4307-0B4E-F63219FB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F9B7B4-6AB6-B4D4-65A2-3C815A88E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93FFCB-4CE8-C51B-B2D5-80681581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4종 자료를 모두 국내 실자료로 확보하여 시범구축 수행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상시관측소는 보정량 산출까지 완료했으나 모델 반영은 보류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【설명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반복관측점 — 성과표(’22~’25) + ’19년 야장, 16점 · 30회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상시관측소 — 청양(기상청) + 제주·강릉·이천 4개소 1분자료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전지구모델 — IGRF-14, 전 연도 단일 판본 적용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④ 항공자력 — KIGAM 자력이상도, 약 2.8 km 격자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【청양 활용 여부 — 자문의견 대응】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자문 지적(거리·위도 차이로 청양 단독 적용 한계)을 수용하여 4개소 공간보간으로 전환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다만 평가 측점 고정 교차검증에서 개선 미확인 → 반영은 측점 확충 후 재판정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성과표에 일변화 보정이 이미 되어 있지 않은가 (이중보정 우려)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야장 원본과 직접 대조 완료. 매칭 18행 전부 표기 자릿수 이내 일치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보정되지 않은 원시값으로 확정. 이중보정 우려 없음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’19년 자료는 IGRF 판본이 달라 섞으면 안 되지 않는가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계산은 전 연도 IGRF-14 단일 판본. ’19년은 확정치(DGRF) 구간 사이라 판본 교체 영향이 가장 작음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실측 대조상 ’19년 −0.2′ · ’24년 +5.4′ 로 오히려 최근 연도가 민감</a:t>
            </a:r>
          </a:p>
        </p:txBody>
      </p:sp>
    </p:spTree>
    <p:extLst>
      <p:ext uri="{BB962C8B-B14F-4D97-AF65-F5344CB8AC3E}">
        <p14:creationId xmlns:p14="http://schemas.microsoft.com/office/powerpoint/2010/main" val="533915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3663-DEFB-C6FD-7E50-6F69C684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4CA2D7-7C5D-0E85-2898-BDD4A41F0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9E713-D795-3AF4-A884-C20B57652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항공자력을 포함해 4축을 모두 구성 — 개념이 아닌 실제 결합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남은 제약은 지각축 해상도와 측점 수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【설명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결합식 제시 — B_LMM = ① Core + ② Regional + ③ Crustal + ④ External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축별 반영 수준과 한계를 표로 확인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항공자력 포함 효과 — 총자력 교차검증 72.3 → 63.0 nT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④ 결합계수 α 는 자유추정 시 0.67 이나 교차검증 67.0 nT 로 악화 → α=1 유지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【강조점】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「α=1 을 진리로 두지 말라」는 자문 지적을 실제 검정으로 확인한 사례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원측선 자료 부재는 확인된 사실 — 현 격자가 해상도 상한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지각층은 총자력에만 반영되는가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스칼라 이상을 파수영역 역산하여 3성분 복원 가능, 편각·복각 적용도 구현 완료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다만 격자 결측 39% 문제로 현재는 진단 전용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원측선 자료를 구할 수 없는가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존재하지 않음을 확인. 해상도 개선은 신규 자력측량 여부에 좌우</a:t>
            </a:r>
          </a:p>
        </p:txBody>
      </p:sp>
    </p:spTree>
    <p:extLst>
      <p:ext uri="{BB962C8B-B14F-4D97-AF65-F5344CB8AC3E}">
        <p14:creationId xmlns:p14="http://schemas.microsoft.com/office/powerpoint/2010/main" val="2851639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047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자침편차는 국가기본도 표기 대상이나, 현재 산출 근거는 전지구모델 계산값뿐임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정확도·시간변동·공간변동 세 축에서 모두 자체 지역모델이 요구됨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【설명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제도 — 「지구물리측량 작업규정」 제12조제1항, 1등 지자기점은 국가기본도 자편각 표기가 설치 목적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정확도 — IGRF 단독 국내 편각 잔차 31.9′ 로 목표 6′ 의 약 5배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시간 — 영년변화 편각 -2.2′/년 (5년이면 약 11′ 이동, 도폭 내 변화 5.4′ 의 두 배)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— 일변화만으로도 편각 0.11° 변동 → 기준시점 환산·상시관측 보정이 규정상 요건(제21조)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④ 공간 — 전국 편각이 -9.4° ~ -7.6° 로 약 108′ 분포 → 단일값 표기 불가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⑤ 결론 — 자료를 새로 얻는 것이 아니라 이미 있는 자료를 «층으로 결합»하는 체계가 필요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【강조점】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필요성의 근거를 당위가 아니라 수치로 제시하는 면임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「층 분리」는 학술적 취향이 아니라 필수 — 단일 내삽은 시간 변동을 공간 분포로 오인함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국내에 자료는 이미 존재하나 하나의 모델로 결합된 사례가 없었음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IGRF 를 그대로 쓰면 안 되는가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국내 지표 실측과 편각 31.9′ · 총자력 87 nT 어긋남. 목표의 5배 수준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IGRF 는 차단차수 13 의 핵 자기장 모델이라 지각·지역 성분을 담지 않음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영년변화율은 어디서 나온 값인가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IGRF-14 로 한반도 중앙(36.0°N 127.5°E)에서 직접 계산. 스크립트 재실행 시 자동 갱신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다른 나라도 지역모델을 두는가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일본 국토지리원·미국 NOAA·영국 BGS 모두 전지구모델과 별도로 층 분리 구조를 운용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전지구모델(IGRF) 단독으로는 국내 지표 자기장 재현에 한계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층을 쌓을 때마다 오차가 실제로 감소함을 국내 실측으로 확인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【설명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IGRF 는 지구 핵에서 생성되는 주자기장의 전지구 모델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— 국내 지표에서 총자력 87 nT · 편각 31.9′ 편차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③ 지각 자기이상 반영 → 총자력 87 → 59 nT (감소분의 대부분을 차지)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편각·복각은 지각층이 스칼라(총자력)만 제공 → ② 지역장이 담당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— 편각 31.9 → 28.8′ · 복각 17.4 → 13.6′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④ 표의 수치는 개념도가 아닌 국내 반복관측 성과에 대한 실측 잔차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【강조점】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편각 감소율이 세 성분 중 최저 — 11면 원인진단의 출발점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자기장 원인만으로 설명되지 않는 몫의 존재를 시사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편각 개선폭이 왜 작은가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편각 잔차의 상당분이 자기장이 아닌 관측 계통오차(방문마다 달라지는 방위표지)에서 기인. 11면에서 상술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이 수치의 평가 기준은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10면의 고정 평가 측점(편각 14 · 복각 15 · 총자력 13) 기준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2020 과 이번 연구는 같은 「15점」이 아님 — 공통 측점은 5점뿐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신규 측점은 자료 공백을 메웠으나, 배치(관측공백)는 오히려 나빠짐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성능 우열 비교가 아니라 구조·관측망 대비표임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【설명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2020 은 「2012~2019 편복각 측량 2회 이상」 15점만 분석에 사용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— 나머지 15점은 측량회수 1회 또는 성과 신뢰도 미확보로 배제(보고서 p.117)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’22~25 측량 15점과 겹치는 것은 거제 · 삼척 · 성산 · 여주 · 이원 뿐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’22~25 신규 10점은 10점 전부가 2020 의 배제 목록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— 자료 공백을 정면으로 채운 배치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④ 대신 최대 관측공백 93 → 129 km · 50 km 초과 지역 29.7 → 35.8 %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— 강원·충청 내륙 축을 잃어 배치 기준이 작동하지 않았음을 시사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⑤ 구조 차이는 표로 — 지역장 신설 · 지각장 반영 · 외부장 다관측소 · 검증 전환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【강조점】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「15 → 16점」이 아니라 「다른 15점 + 야장 2점」임을 분명히 할 것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배치 손실은 신규 50점(Track C) 설계에 공간 기준을 넣어야 하는 직접 근거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2020 모델보다 정확한가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직접 비교 불가. 기준시점·환산절차가 달라 동일 조건 비교가 성립하지 않음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왜 15점이 16점인가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’22~25 성과표 15측점 중 재방문 불일치 1점(부안) 제외, 2019 야장 검증 통과 2점(남지·장흥) 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2020 이 쓰던 측점은 왜 빠졌는가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’22~25 측량 대상에 들지 않았음. 빠진 10점 중 8점이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  저수지·제방 설치점이라 표석 지속성 문제와도 겹침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제공 대상은 1:50,000 도엽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도폭 내 편각 변화 5.4′ 가 대표값 1개 표기의 정밀도 하한을 결정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【설명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규정 제12조 — 1등 지자기점은 국가기본도의 자편각 표기를 위한 점(법정 목적)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축척별 도폭 내 편각 변화 비교 — 1:50,000 에서 0.0905°(5.4′)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현재 모델 편각 오차 0.50° 는 도폭 내 변화의 약 6배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아직 도엽 구분이 의미를 갖지 못하는 단계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④ 제공 방식 3단계 — 수치자료(엑셀) → 조회 서비스 → 지형도 표기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【주의】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「정식 산출 금지」 같은 법정 요건 표현은 사용 지양 — 목표 미달은 법령 위반이 아님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법정 기준(작업규정 §20 의 30′)과 공학 목표(6′)는 성격이 다름을 구분할 것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왜 1:25,000 이 아니라 1:50,000 인가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현재 제공 대상 도엽 기준. 1:25,000 은 도폭 내 변화가 2.7′ 로 여유가 크나 대상이 아님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언제부터 표기가 가능한가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편각 목표 달성 후. 현 단계는 참고값 제공까지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만들고 끝내지 않고, 어떤 형태가 옳은지 자료로 선택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평가 측점을 미리 고정한 것이 이 검증의 핵심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【설명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Regional 차수 — R0 상수항 채택. 1차·2차가 오히려 악화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16점으로는 지역장의 공간 구조를 결정할 수 없음(측점 확충의 직접 근거)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지각 결합 — F1(α=1) 채택. 계수 자유추정은 과적합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External — E2 4소 공간보간만 기준선 도달, 청양 단독(E0)·최근접(E1)은 기각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④ 평가 측점 고정의 의미 설명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【강조점】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여러 후보를 같은 교차검증 값을 보며 고르면 그 값에도 과적합이 발생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그래서 기준 설정에서 평가 측점을 한 번만 정해 파일로 동결하고 모든 비교를 그 위에서 수행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이 절차 자체가 이번 검증의 신뢰 근거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상수항만 쓰면 지역모델이라 할 수 있는가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현 측점 수의 한계를 그대로 드러낸 결과. 무리한 차수 적용이 오히려 위험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측점 확충 후 공간항 재판정 예정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E2 를 골랐다면서 왜 「잠정」인가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개선폭이 작고 12개 설정 중 최소를 고른 것이라 선택편의를 포함. 근거는 폭이 아니라 방식의 타당성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총자력은 목표에 근접(63 nT / 목표 50), 편각이 과제로 잔존(30′ / 목표 6′)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「미달」이 아니라 「특정」 — 무엇이 성능을 제한하는지 지목 완료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【설명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세 성분의 Station-LOSO 예측오차 제시 — 적합에 쓰지 않은 측점에서의 오차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검정하여 배제한 가설 5종을 순서대로 설명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남은 요인 3가지 제시 — 편각 계통오차 · 지각 벡터 미반영 · 공간 밀도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【강조점】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배제된 가설들이 이 연구의 실질 성과 — 원인 범위를 좁혔다는 뜻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편각 잔차의 정체는 재방문 불일치로 확인 — 방위표지가 방문마다 바뀌는 것이 구조적 원인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측정 절차·계산 자체에는 오류 없음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(야장 내부 산술 재계산차 중앙 0.16″ · 같은 날 세션 산포 중앙 1.41′ 로 정밀도는 양호)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즉 「정밀하지만 부정확」한 상태 — 사람·장비가 아니라 방위 기준의 문제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목표 달성이 가능한가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편각은 신규 측점의 방위각 결정법 상향(천문·자이로 또는 RTK 장기선)이 전제. 총자력은 근접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복각은 왜 목표가 없는가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자침편차 표기가 편각 기준이므로 KPI 는 편각·총자력에 설정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측점을 늘리면 해결되는가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공간 밀도는 개선되나 편각 계통오차는 별개. 두 축을 함께 다뤄야 함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구축 결과를 즉시 확인 가능한 형태로 공개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모두 외부 서버 없이 단일 파일로 동작 — 오프라인에서도 사용 가능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【시연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LMM 계산기 — 좌표 입력 후 층별 기여 확인(Core·Regional·Crustal 이 각각 얼마인지)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한국 지자기도 — IGRF 와 LMM 을 같은 색범위로 대비, 차이 화면에서 지각 이상 구조 확인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3D 지구본 — 전지구에서 한국으로 이동, 고해상 패치 확대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④ (시간 여유 시) 선점 검토 지도 — 현장조사 103점의 등급·사진·방위표지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【사전 준비】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발표 PC 인터넷 연결 확인 · 브라우저 미리 실행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링크는 슬라이드에서 직접 클릭 가능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인터넷 불가 시 로컬 파일로도 동일 동작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일반에 공개된 것인가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GitHub Pages 로 상시 공개 중. 화면에 정확도 고지(연구·시범계산용) 표기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국토정보플랫폼 연계는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9면 제공 방식 2단계에 해당. 정확도 목표 달성 후 추진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계산 근거를 신뢰할 수 있는가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웹·엑셀·Python 세 구현이 동일 좌표에서 표시 자릿수 내 일치함을 확인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관측망 재관측 주기(5년)에 맞춘 정기 갱신 + 기준시점 변경 시 수시 갱신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층이 서로 결합되어 있어 한 층만 교체하는 순차 갱신은 불가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【설명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갱신 4단계 — 재관측 → 재적합 → 검증 → 배포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정기 갱신(5년)과 수시 갱신(IGRF 갱신 시 · 측점 자료 추가 시) 구분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재관측 시 관측시각·Kp 기록 필수 — 외부장 보정의 전제 조건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【강조점】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「순차 튜닝 금지」가 핵심 — 층별로 따로 조정하면 결합 효과를 놓침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갱신 시마다 교차검증을 다시 수행해야 성능을 객관적으로 말할 수 있음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야장 양식에 F 측정시각·센서 위치차 칸 추가 건의 필요(현재 미기재)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IGRF 갱신 주기와 어긋나지 않는가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IGRF 도 5년 주기라 정합. 다만 갱신 시점이 달라 수시 갱신 항목으로 분리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5년 주기가 적정한가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영년변화 규모상 5년이면 편각 약 35′ 변화. 기준점 재관측 주기와도 정합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【핵심 메시지】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입력자료 보강 → 모델 고도화 → 독립검증 순의 3단계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단계 이행에 정량 판정기준을 미리 설정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【설명 순서】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① 1단계(’26.9~10) — 잔차 큰 측점 재측정 · 방위표지 고정 · 야장 성과 17건 검증 투입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② 2단계(’26.10~11) — 상시관측 공간투영(NOC) · 다항식 차수 재선정 · 지각 진폭 보정 검토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③ 3단계(’26.11~) — 독립 측점 검증 · 갱신주기 연계 · 도엽별 자침편차 산출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【판정기준 — 미리 정해 둔 것이 요점】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편각 잔차 10′ 이하 → 정식 산출 검토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10~20′ → 잔차 큰 측점 부분 재측정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20′ 초과 → 모형 작업 중단, 방위 기준 재결정 선행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현재 28.9′ 로 두 번째 구간 — 모형 작업을 계속하되 현장 재측정이 남은 조건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【제약 사항】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· 항공자력 원측선 자료 부재 — 지각축 해상도 개선은 신규 자력측량 여부에 좌우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【예상 질문】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신규 50점은 언제 측정하는가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후반기 별도 과업. 일부(10~15점)를 적합에 쓰지 않고 검증 전용으로 남기는 것이 설계 요점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그래야 최종 보고서에서 「구축에 사용하지 않은 신규 기준점에서 독립검증」이라 쓸 수 있음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Q. 20점 확보가 가능한가</a:t>
            </a:r>
          </a:p>
          <a:p>
            <a:pPr>
              <a:lnSpc>
                <a:spcPct val="125000"/>
              </a:lnSpc>
            </a:pPr>
            <a:r>
              <a:rPr sz="1100">
                <a:latin typeface="KoPub돋움체 Medium"/>
              </a:rPr>
              <a:t>   → 야장에만 있고 성과표에 없는 (측점,연도) 17건이 후보. 검증 통과분을 투입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42025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개요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Ⅰ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370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 userDrawn="1"/>
        </p:nvGrpSpPr>
        <p:grpSpPr>
          <a:xfrm>
            <a:off x="8409385" y="2573372"/>
            <a:ext cx="1248865" cy="697720"/>
            <a:chOff x="387318" y="361291"/>
            <a:chExt cx="1248865" cy="697720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ko-KR" altLang="en-US" sz="1500" spc="-200" baseline="0" dirty="0">
                <a:solidFill>
                  <a:srgbClr val="2F55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TextBox 27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en-US" altLang="ko-KR" sz="2400" b="1" spc="-149" dirty="0">
                <a:solidFill>
                  <a:srgbClr val="2F559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endParaRPr>
            </a:p>
          </p:txBody>
        </p: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682332"/>
              <a:chOff x="387318" y="361291"/>
              <a:chExt cx="1248865" cy="682332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4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수행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037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26" name="그룹 25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27" name="TextBox 26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계획</a:t>
                </a: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</p:txBody>
          </p:sp>
        </p:grp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025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일정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Ⅳ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637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기대 효과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Ⅴ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43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자문 의견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Ⅵ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5287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1222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4774405" y="6662760"/>
            <a:ext cx="357190" cy="180000"/>
          </a:xfrm>
          <a:prstGeom prst="roundRect">
            <a:avLst/>
          </a:prstGeom>
          <a:noFill/>
          <a:ln w="635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Bef>
                <a:spcPts val="0"/>
              </a:spcBef>
            </a:pPr>
            <a:fld id="{0565A694-3509-4BB5-ACAD-3B39F2CDDCBC}" type="slidenum">
              <a:rPr lang="en-US" altLang="ko-KR" sz="799" b="1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pPr algn="ctr">
                <a:spcBef>
                  <a:spcPts val="0"/>
                </a:spcBef>
              </a:pPr>
              <a:t>‹#›</a:t>
            </a:fld>
            <a:endParaRPr lang="ko-KR" altLang="en-US" sz="799" b="1" dirty="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7" r:id="rId6"/>
    <p:sldLayoutId id="2147483918" r:id="rId7"/>
    <p:sldLayoutId id="2147483916" r:id="rId8"/>
  </p:sldLayoutIdLst>
  <p:transition>
    <p:fade/>
  </p:transition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defTabSz="914395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Relationship Id="rId3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Relationship Id="rId3" Type="http://schemas.openxmlformats.org/officeDocument/2006/relationships/hyperlink" Target="https://yoonsoo-ji.github.io/geomag-site-selection/lmm.html" TargetMode="External"/><Relationship Id="rId4" Type="http://schemas.openxmlformats.org/officeDocument/2006/relationships/hyperlink" Target="https://yoonsoo-ji.github.io/geomag-site-selection/lmm_map.html" TargetMode="External"/><Relationship Id="rId5" Type="http://schemas.openxmlformats.org/officeDocument/2006/relationships/hyperlink" Target="https://yoonsoo-ji.github.io/geomag-site-selection/geomag_globe.html" TargetMode="External"/><Relationship Id="rId6" Type="http://schemas.openxmlformats.org/officeDocument/2006/relationships/hyperlink" Target="https://yoonsoo-ji.github.io/geomag-site-selection/survey_review.html" TargetMode="External"/><Relationship Id="rId7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Relationship Id="rId3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Relationship Id="rId3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emf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" y="-1"/>
            <a:ext cx="9926911" cy="685800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60366" y="1292039"/>
            <a:ext cx="3836989" cy="23083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800" b="1" spc="-300">
                <a:solidFill>
                  <a:srgbClr val="0C4D88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 지자기측량 </a:t>
            </a:r>
            <a:r>
              <a:rPr lang="ko-KR" altLang="en-US" sz="4800" spc="-30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발전방안 </a:t>
            </a:r>
            <a:r>
              <a:rPr lang="ko-KR" altLang="en-US" sz="4800" spc="-300" dirty="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연구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19562" y="3789040"/>
            <a:ext cx="1427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spc="-149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중간보고회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85751" y="6152615"/>
            <a:ext cx="1923455" cy="388301"/>
            <a:chOff x="358774" y="9601838"/>
            <a:chExt cx="1923456" cy="388300"/>
          </a:xfrm>
        </p:grpSpPr>
        <p:sp>
          <p:nvSpPr>
            <p:cNvPr id="18" name="TextBox 17"/>
            <p:cNvSpPr txBox="1"/>
            <p:nvPr/>
          </p:nvSpPr>
          <p:spPr>
            <a:xfrm>
              <a:off x="930577" y="9645178"/>
              <a:ext cx="1351653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spc="-1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공간정보연구원</a:t>
              </a:r>
              <a:endParaRPr lang="ko-KR" altLang="en-US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517097D-EFA1-4265-B1DB-682CC713B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698" b="1907"/>
            <a:stretch/>
          </p:blipFill>
          <p:spPr>
            <a:xfrm>
              <a:off x="358774" y="9601838"/>
              <a:ext cx="682625" cy="3883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769424" y="6202351"/>
            <a:ext cx="1140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2026. 8. 25.</a:t>
            </a:r>
            <a:endParaRPr lang="ko-KR" altLang="en-US" sz="1600" spc="-100" dirty="0">
              <a:solidFill>
                <a:srgbClr val="F3F3F3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6" y="596909"/>
            <a:ext cx="2570296" cy="56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084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3" y="295306"/>
            <a:ext cx="3691627" cy="332020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0" y="3314701"/>
            <a:ext cx="9906000" cy="354330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493938" y="1788476"/>
            <a:ext cx="1994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solidFill>
                  <a:srgbClr val="2F559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   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195022" y="1531871"/>
            <a:ext cx="2893882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600" b="1" spc="-149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</a:t>
            </a:r>
            <a:r>
              <a:rPr lang="ko-KR" altLang="en-US" sz="1600" b="1" spc="-149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지자기측량 발전방안 연구</a:t>
            </a:r>
            <a:endParaRPr lang="ko-KR" altLang="en-US" sz="1600" b="1" spc="-149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sym typeface="Monotype Sorts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7" y="339226"/>
            <a:ext cx="1933991" cy="425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7F12A4-1D7E-099F-B66D-D57DEDD5C6B9}"/>
              </a:ext>
            </a:extLst>
          </p:cNvPr>
          <p:cNvSpPr txBox="1"/>
          <p:nvPr/>
        </p:nvSpPr>
        <p:spPr>
          <a:xfrm>
            <a:off x="200472" y="3738475"/>
            <a:ext cx="9017801" cy="18928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Ⅰ.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개요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Ⅱ.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연구진 현황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Ⅲ.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수행</a:t>
            </a:r>
            <a:endParaRPr lang="en-US" altLang="ko-KR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l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Ⅳ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추진 일정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Ⅴ</a:t>
            </a: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자문 의견</a:t>
            </a:r>
            <a:endParaRPr lang="ko-KR" altLang="en-US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29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5" name="액자 24"/>
          <p:cNvSpPr/>
          <p:nvPr/>
        </p:nvSpPr>
        <p:spPr>
          <a:xfrm>
            <a:off x="1279798" y="1881878"/>
            <a:ext cx="2664296" cy="2664296"/>
          </a:xfrm>
          <a:prstGeom prst="frame">
            <a:avLst>
              <a:gd name="adj1" fmla="val 66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7279" y="3173713"/>
            <a:ext cx="228933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36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9408" y="2132857"/>
            <a:ext cx="93489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>
              <a:spcBef>
                <a:spcPts val="19"/>
              </a:spcBef>
            </a:pPr>
            <a:r>
              <a:rPr lang="en-US" altLang="ko-KR" sz="5400" spc="-149" dirty="0"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  <a:endParaRPr lang="ko-KR" altLang="en-US" sz="5400" spc="-149" dirty="0"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2385584" y="3040109"/>
            <a:ext cx="5503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7" y="2132857"/>
            <a:ext cx="4650374" cy="4408539"/>
          </a:xfrm>
          <a:prstGeom prst="rect">
            <a:avLst/>
          </a:prstGeom>
          <a:solidFill>
            <a:srgbClr val="2F5596"/>
          </a:solidFill>
        </p:spPr>
      </p:pic>
    </p:spTree>
    <p:extLst>
      <p:ext uri="{BB962C8B-B14F-4D97-AF65-F5344CB8AC3E}">
        <p14:creationId xmlns:p14="http://schemas.microsoft.com/office/powerpoint/2010/main" val="33850757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26" name="액자 25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73958" y="388829"/>
              <a:ext cx="1248865" cy="920384"/>
              <a:chOff x="133026" y="1199392"/>
              <a:chExt cx="1248865" cy="92038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marL="0" lvl="1" indent="-85725" latinLnBrk="0">
                  <a:spcBef>
                    <a:spcPct val="0"/>
                  </a:spcBef>
                  <a:buClr>
                    <a:srgbClr val="008400"/>
                  </a:buClr>
                  <a:buSzPct val="140000"/>
                  <a:tabLst>
                    <a:tab pos="5645238" algn="l"/>
                  </a:tabLst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연구</a:t>
                </a:r>
                <a:r>
                  <a:rPr lang="en-US" altLang="ko-KR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 </a:t>
                </a: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수행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26958" y="1199392"/>
                <a:ext cx="509997" cy="503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0" name="직선 연결선 29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0515480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DC2F-8E2B-0D23-7A4C-985F0376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8D23F761-20D9-81C4-2A96-A11613835383}"/>
              </a:ext>
            </a:extLst>
          </p:cNvPr>
          <p:cNvSpPr/>
          <p:nvPr/>
        </p:nvSpPr>
        <p:spPr>
          <a:xfrm>
            <a:off x="292100" y="1222272"/>
            <a:ext cx="6101060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F05C9D-4957-8AB3-89BA-C63102714E8A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반복 관측 성과 기반 지자기모델 시범구축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FC0963-CAFC-CE27-05BD-F0DDDED39546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CFE1913-8F9A-64E4-6CA1-B62FB3EA09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모델 개발에 사용한 자료 확인 (반복관측점 · 상시관측소 · 전지구모델)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‘25년 시범모델은 반복관측 성과·상시관측소·전지구모델·항공자력 4종 자료로 구축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1719" y="2670048"/>
            <a:ext cx="26867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6516" y="2670048"/>
            <a:ext cx="9615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규모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6115" y="2670048"/>
            <a:ext cx="2141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모델 내 역할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113" y="2670048"/>
            <a:ext cx="1778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비고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62656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90087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반복관측점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2990087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지자기점 관측성과(’22~’25) + ’19년 야장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6516" y="2990087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16점 · 30회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6115" y="2990087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② Regional (공간분포)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6113" y="2990087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재방문 불일치 2점 제외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410711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상시관측소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1719" y="3410711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청양(기상청) · 제주 · 강릉 · 이천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6516" y="3410711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4개소 1분자료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6115" y="3410711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④ External (보정량 산출)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113" y="3410711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관측시각 복원(’19~’25) · 모델 반영은 보류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03904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831336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전지구모델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1719" y="3831336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 구면조화)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6516" y="3831336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 에폭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6115" y="3831336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(주자기장)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6113" y="3831336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공식 계산기와 자릿수 내 일치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251960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항공자력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1719" y="4251960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KIGAM 자력이상도 1.5분 격자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6516" y="4251960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약 2.8 km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6115" y="4251960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③ Crustal (지각 자기이상)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76113" y="4251960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원측선 자료는 부재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2651760"/>
            <a:ext cx="9079992" cy="1993392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1480" y="4846320"/>
            <a:ext cx="9079992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4360" y="4709159"/>
            <a:ext cx="26974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727447"/>
            <a:ext cx="26974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청양 상시관측소 자료 활용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5120640"/>
            <a:ext cx="8567928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보정량은 산출하였으나, 현재 표본에서는 모델 반영을 보류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5431536"/>
            <a:ext cx="8567928" cy="51206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자문의견(거리·위도 차이로 단독 적용 한계)에 따라 청양 단독이 아닌 4개소 공간보간으로 세션별 보정량을 산출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다만 평가 측점을 고정한 교차검증에서 보정 전(0.502°)보다 개선되지 않아(0.510~0.532°) 반영은 측점 확충 후 재판정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10819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반복관측 성과는 야장 원본과 대조하여 일변화·기준시점 환산이 적용되지 않은 원시값임을 확인함(매칭 18행 전부 표기 자릿수 이내 일치)</a:t>
            </a:r>
          </a:p>
        </p:txBody>
      </p:sp>
    </p:spTree>
    <p:extLst>
      <p:ext uri="{BB962C8B-B14F-4D97-AF65-F5344CB8AC3E}">
        <p14:creationId xmlns:p14="http://schemas.microsoft.com/office/powerpoint/2010/main" val="42361359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FFBC-97ED-C0E5-7D63-794E0C0B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LMM(국내외기준) 모델 비교 및 한계·개선방향 도출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개발에 필요한 4축 자료 / 이번 개발의 항공자력 포함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항공자력을 포함해 4축을 구성 — 남은 제약은 해상도와 측점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523744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B_LMM  =  ① Core(IGRF)  +  ② Regional(지역)  +  ③ Crustal(지각)  +  ④ External(외부장)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83464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85292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1719" y="2852928"/>
            <a:ext cx="1687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7717" y="2852928"/>
            <a:ext cx="3685580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이번 개발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1314" y="2852928"/>
            <a:ext cx="23235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한계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145536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172968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①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3172968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7717" y="3172968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재현성 검증 통과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1314" y="3172968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575303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② Regional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1719" y="3575303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지표 절대측정 16점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7717" y="3575303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1차 다항식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1314" y="3575303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권고 30점 대비 미달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950208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77640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③ Crustal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1719" y="3977640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2.8 km 격자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717" y="3977640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총자력에 1:1 결합(결합계수 검정 후 α=1 채택)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1314" y="3977640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원측선 부재로 해상도 상한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379976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④ External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1719" y="4379976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상시관측 4개소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717" y="4379976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보정량 산출 178세션 — 모델 반영은 보류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1314" y="4379976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표본 부족으로 효과 미확인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834640"/>
            <a:ext cx="9079992" cy="19202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76072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항공자력 포함(4축)의 효과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 교차검증 오차 72.3 → 63.0 nT (지각 미사용 대비)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결합계수를 추정하면 α=0.67 이나 교차검증은 67.0 nT 로 악화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  → α=1 유지. 「α=1 을 진리로 두지 말라」는 지적을 검정으로 확인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61204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25796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25796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3축 수준에 머무르는 제약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0660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원측선(측선 100~250 m) 자료가 존재하지 않음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공개 격자 2.8 km 는 단파장을 평활 — 진폭 약 1.6배 부족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해상도 개선은 신규 자력측량 여부에 좌우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19963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스칼라 총자력 이상은 이상벡터를 주자기장 방향으로 투영한 값이므로, 파수영역 역산으로 3성분을 복원하여 편각·복각에 반영함</a:t>
            </a:r>
          </a:p>
        </p:txBody>
      </p:sp>
    </p:spTree>
    <p:extLst>
      <p:ext uri="{BB962C8B-B14F-4D97-AF65-F5344CB8AC3E}">
        <p14:creationId xmlns:p14="http://schemas.microsoft.com/office/powerpoint/2010/main" val="3150516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32" name="액자 31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373958" y="388829"/>
              <a:ext cx="1248865" cy="957009"/>
              <a:chOff x="133026" y="1199392"/>
              <a:chExt cx="1248865" cy="957009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fontAlgn="ctr" latinLnBrk="0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추진 계획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26958" y="1199392"/>
                <a:ext cx="509997" cy="957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  <a:p>
                <a:pPr>
                  <a:spcBef>
                    <a:spcPts val="19"/>
                  </a:spcBef>
                </a:pP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6" name="직선 연결선 35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199141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46470"/>
              </p:ext>
            </p:extLst>
          </p:nvPr>
        </p:nvGraphicFramePr>
        <p:xfrm>
          <a:off x="4243039" y="1114337"/>
          <a:ext cx="5469685" cy="526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06">
                  <a:extLst>
                    <a:ext uri="{9D8B030D-6E8A-4147-A177-3AD203B41FA5}">
                      <a16:colId xmlns:a16="http://schemas.microsoft.com/office/drawing/2014/main" val="199477006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27478490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2711367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45448050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242417261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502918187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40985238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85086841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764755481"/>
                    </a:ext>
                  </a:extLst>
                </a:gridCol>
                <a:gridCol w="684331">
                  <a:extLst>
                    <a:ext uri="{9D8B030D-6E8A-4147-A177-3AD203B41FA5}">
                      <a16:colId xmlns:a16="http://schemas.microsoft.com/office/drawing/2014/main" val="2311316655"/>
                    </a:ext>
                  </a:extLst>
                </a:gridCol>
              </a:tblGrid>
              <a:tr h="294483">
                <a:tc gridSpan="10"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1392"/>
                  </a:ext>
                </a:extLst>
              </a:tr>
              <a:tr h="213160"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M+1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M+2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M+3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M+4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M+5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M+6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60859"/>
                  </a:ext>
                </a:extLst>
              </a:tr>
              <a:tr h="36686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0051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012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94721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29332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8322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7074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0444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8219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9199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1299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600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078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22909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CE72EE-92A6-4611-8B67-D338BCC15E02}"/>
              </a:ext>
            </a:extLst>
          </p:cNvPr>
          <p:cNvSpPr/>
          <p:nvPr/>
        </p:nvSpPr>
        <p:spPr>
          <a:xfrm>
            <a:off x="415924" y="335141"/>
            <a:ext cx="6337275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en-US" altLang="ko-KR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2. </a:t>
            </a:r>
            <a:r>
              <a:rPr lang="ko-KR" altLang="en-US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추진일정 및 세부계획</a:t>
            </a:r>
          </a:p>
        </p:txBody>
      </p:sp>
      <p:sp>
        <p:nvSpPr>
          <p:cNvPr id="70" name="Text Box 150"/>
          <p:cNvSpPr txBox="1">
            <a:spLocks noChangeArrowheads="1"/>
          </p:cNvSpPr>
          <p:nvPr/>
        </p:nvSpPr>
        <p:spPr bwMode="auto">
          <a:xfrm>
            <a:off x="8527150" y="6400619"/>
            <a:ext cx="1255116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변경될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6288"/>
              </p:ext>
            </p:extLst>
          </p:nvPr>
        </p:nvGraphicFramePr>
        <p:xfrm>
          <a:off x="276228" y="1119413"/>
          <a:ext cx="3931171" cy="5261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500">
                <a:tc gridSpan="2">
                  <a:txBody>
                    <a:bodyPr/>
                    <a:lstStyle/>
                    <a:p>
                      <a:pPr marL="0" marR="0" lvl="1" indent="0" algn="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 개월  </a:t>
                      </a:r>
                    </a:p>
                    <a:p>
                      <a:pPr marL="0" marR="0" lvl="1" indent="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공 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관측망 확대 방안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및 유지관리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입지 분석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표지설치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678849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측량 장비 검 </a:t>
                      </a:r>
                      <a:r>
                        <a:rPr lang="en-US" altLang="ko-KR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교정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모델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 구축 방안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구축 유지관리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시범구축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최적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60232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알고리즘 분석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갱신 주기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절차 마련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2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사용자 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서비스 방안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국가 지자기 모델 활용 확대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64516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지구 지자기 모델과 시사점 도출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54218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b="0" u="none" strike="noStrike" kern="1200" spc="-10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73E76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 서비스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59125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사업관리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자문회의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연구진회의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6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보고회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54943"/>
                  </a:ext>
                </a:extLst>
              </a:tr>
              <a:tr h="471980">
                <a:tc vMerge="1">
                  <a:txBody>
                    <a:bodyPr/>
                    <a:lstStyle/>
                    <a:p>
                      <a:pPr marL="0" marR="0" lvl="0" indent="0" algn="ctr" defTabSz="963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659" marR="36659" marT="36659" marB="366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성과품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제출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4239245" y="5413697"/>
            <a:ext cx="5483071" cy="84923"/>
            <a:chOff x="-130297" y="1896609"/>
            <a:chExt cx="5483070" cy="84922"/>
          </a:xfrm>
        </p:grpSpPr>
        <p:sp>
          <p:nvSpPr>
            <p:cNvPr id="8" name="Line 2124"/>
            <p:cNvSpPr>
              <a:spLocks noChangeShapeType="1"/>
            </p:cNvSpPr>
            <p:nvPr/>
          </p:nvSpPr>
          <p:spPr bwMode="auto">
            <a:xfrm flipV="1">
              <a:off x="-47239" y="1939071"/>
              <a:ext cx="5320963" cy="0"/>
            </a:xfrm>
            <a:prstGeom prst="line">
              <a:avLst/>
            </a:prstGeom>
            <a:noFill/>
            <a:ln w="25400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-13029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525834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 Box 150"/>
          <p:cNvSpPr txBox="1">
            <a:spLocks noChangeArrowheads="1"/>
          </p:cNvSpPr>
          <p:nvPr/>
        </p:nvSpPr>
        <p:spPr bwMode="auto">
          <a:xfrm>
            <a:off x="7839918" y="6553205"/>
            <a:ext cx="175917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과업 진행 시 변경될 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Rectangle 2064"/>
          <p:cNvSpPr>
            <a:spLocks noChangeArrowheads="1"/>
          </p:cNvSpPr>
          <p:nvPr/>
        </p:nvSpPr>
        <p:spPr bwMode="auto">
          <a:xfrm>
            <a:off x="4336068" y="5733256"/>
            <a:ext cx="620193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착수보고</a:t>
            </a:r>
          </a:p>
        </p:txBody>
      </p:sp>
      <p:sp>
        <p:nvSpPr>
          <p:cNvPr id="13" name="Rectangle 2064"/>
          <p:cNvSpPr>
            <a:spLocks noChangeArrowheads="1"/>
          </p:cNvSpPr>
          <p:nvPr/>
        </p:nvSpPr>
        <p:spPr bwMode="auto">
          <a:xfrm>
            <a:off x="6762749" y="5733256"/>
            <a:ext cx="577699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중간보고</a:t>
            </a:r>
          </a:p>
        </p:txBody>
      </p:sp>
      <p:sp>
        <p:nvSpPr>
          <p:cNvPr id="14" name="Rectangle 2064"/>
          <p:cNvSpPr>
            <a:spLocks noChangeArrowheads="1"/>
          </p:cNvSpPr>
          <p:nvPr/>
        </p:nvSpPr>
        <p:spPr bwMode="auto">
          <a:xfrm>
            <a:off x="8975857" y="5733256"/>
            <a:ext cx="588732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완료보고</a:t>
            </a:r>
          </a:p>
        </p:txBody>
      </p:sp>
      <p:sp>
        <p:nvSpPr>
          <p:cNvPr id="15" name="Text Box 2074"/>
          <p:cNvSpPr txBox="1">
            <a:spLocks noChangeArrowheads="1"/>
          </p:cNvSpPr>
          <p:nvPr/>
        </p:nvSpPr>
        <p:spPr bwMode="auto">
          <a:xfrm>
            <a:off x="6693326" y="5258294"/>
            <a:ext cx="831530" cy="15388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0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수시개최</a:t>
            </a:r>
            <a:endParaRPr lang="ko-KR" altLang="en-US" sz="10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Text Box 2144"/>
          <p:cNvSpPr txBox="1">
            <a:spLocks noChangeArrowheads="1"/>
          </p:cNvSpPr>
          <p:nvPr/>
        </p:nvSpPr>
        <p:spPr bwMode="auto">
          <a:xfrm>
            <a:off x="8626483" y="6098814"/>
            <a:ext cx="691706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완료보고서 및</a:t>
            </a:r>
          </a:p>
        </p:txBody>
      </p:sp>
      <p:pic>
        <p:nvPicPr>
          <p:cNvPr id="17" name="Picture 41" descr="accep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7568" y="6134999"/>
            <a:ext cx="216866" cy="17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2144"/>
          <p:cNvSpPr txBox="1">
            <a:spLocks noChangeArrowheads="1"/>
          </p:cNvSpPr>
          <p:nvPr/>
        </p:nvSpPr>
        <p:spPr bwMode="auto">
          <a:xfrm>
            <a:off x="8625409" y="6242830"/>
            <a:ext cx="97799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성과품</a:t>
            </a: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 제출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6370230" y="3318762"/>
            <a:ext cx="2656645" cy="110238"/>
            <a:chOff x="4177078" y="1822301"/>
            <a:chExt cx="3173011" cy="84923"/>
          </a:xfrm>
        </p:grpSpPr>
        <p:sp>
          <p:nvSpPr>
            <p:cNvPr id="20" name="Line 2124"/>
            <p:cNvSpPr>
              <a:spLocks noChangeShapeType="1"/>
            </p:cNvSpPr>
            <p:nvPr/>
          </p:nvSpPr>
          <p:spPr bwMode="auto">
            <a:xfrm>
              <a:off x="4271504" y="1864763"/>
              <a:ext cx="3017651" cy="4411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7255663" y="1822301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Line 2124"/>
          <p:cNvSpPr>
            <a:spLocks noChangeShapeType="1"/>
          </p:cNvSpPr>
          <p:nvPr/>
        </p:nvSpPr>
        <p:spPr bwMode="auto">
          <a:xfrm flipV="1">
            <a:off x="4325988" y="1844823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46928" y="180659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25760" y="180659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Line 2124"/>
          <p:cNvSpPr>
            <a:spLocks noChangeShapeType="1"/>
          </p:cNvSpPr>
          <p:nvPr/>
        </p:nvSpPr>
        <p:spPr bwMode="auto">
          <a:xfrm flipV="1">
            <a:off x="4649900" y="2192802"/>
            <a:ext cx="651047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584339" y="213768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5288674" y="213033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Line 2124"/>
          <p:cNvSpPr>
            <a:spLocks noChangeShapeType="1"/>
          </p:cNvSpPr>
          <p:nvPr/>
        </p:nvSpPr>
        <p:spPr bwMode="auto">
          <a:xfrm>
            <a:off x="741241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2339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79933" y="251354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Line 2124"/>
          <p:cNvSpPr>
            <a:spLocks noChangeShapeType="1"/>
          </p:cNvSpPr>
          <p:nvPr/>
        </p:nvSpPr>
        <p:spPr bwMode="auto">
          <a:xfrm flipV="1">
            <a:off x="4310622" y="2912049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287441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2856931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Text Box 2074"/>
          <p:cNvSpPr txBox="1">
            <a:spLocks noChangeArrowheads="1"/>
          </p:cNvSpPr>
          <p:nvPr/>
        </p:nvSpPr>
        <p:spPr bwMode="auto">
          <a:xfrm>
            <a:off x="6698807" y="3165272"/>
            <a:ext cx="20791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시범구축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최적 계산</a:t>
            </a:r>
          </a:p>
        </p:txBody>
      </p:sp>
      <p:sp>
        <p:nvSpPr>
          <p:cNvPr id="39" name="Text Box 2074"/>
          <p:cNvSpPr txBox="1">
            <a:spLocks noChangeArrowheads="1"/>
          </p:cNvSpPr>
          <p:nvPr/>
        </p:nvSpPr>
        <p:spPr bwMode="auto">
          <a:xfrm>
            <a:off x="5745088" y="1632609"/>
            <a:ext cx="238760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확대 및 유지관리 방안</a:t>
            </a:r>
          </a:p>
        </p:txBody>
      </p:sp>
      <p:sp>
        <p:nvSpPr>
          <p:cNvPr id="40" name="Text Box 2074"/>
          <p:cNvSpPr txBox="1">
            <a:spLocks noChangeArrowheads="1"/>
          </p:cNvSpPr>
          <p:nvPr/>
        </p:nvSpPr>
        <p:spPr bwMode="auto">
          <a:xfrm>
            <a:off x="4371554" y="1995201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입지분석</a:t>
            </a:r>
          </a:p>
        </p:txBody>
      </p:sp>
      <p:sp>
        <p:nvSpPr>
          <p:cNvPr id="41" name="Text Box 2074"/>
          <p:cNvSpPr txBox="1">
            <a:spLocks noChangeArrowheads="1"/>
          </p:cNvSpPr>
          <p:nvPr/>
        </p:nvSpPr>
        <p:spPr bwMode="auto">
          <a:xfrm>
            <a:off x="733042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표지 설치 및 관측</a:t>
            </a:r>
          </a:p>
        </p:txBody>
      </p:sp>
      <p:sp>
        <p:nvSpPr>
          <p:cNvPr id="42" name="Text Box 2074"/>
          <p:cNvSpPr txBox="1">
            <a:spLocks noChangeArrowheads="1"/>
          </p:cNvSpPr>
          <p:nvPr/>
        </p:nvSpPr>
        <p:spPr bwMode="auto">
          <a:xfrm>
            <a:off x="6401823" y="2287997"/>
            <a:ext cx="107795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GSM  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3" name="Text Box 2074"/>
          <p:cNvSpPr txBox="1">
            <a:spLocks noChangeArrowheads="1"/>
          </p:cNvSpPr>
          <p:nvPr/>
        </p:nvSpPr>
        <p:spPr bwMode="auto">
          <a:xfrm>
            <a:off x="5877476" y="2724944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구축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유지관리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방안 마련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7193420" y="3643958"/>
            <a:ext cx="1831663" cy="116287"/>
            <a:chOff x="4177078" y="1822302"/>
            <a:chExt cx="2187679" cy="89583"/>
          </a:xfrm>
        </p:grpSpPr>
        <p:sp>
          <p:nvSpPr>
            <p:cNvPr id="45" name="Line 2124"/>
            <p:cNvSpPr>
              <a:spLocks noChangeShapeType="1"/>
            </p:cNvSpPr>
            <p:nvPr/>
          </p:nvSpPr>
          <p:spPr bwMode="auto">
            <a:xfrm flipV="1">
              <a:off x="4271504" y="1864763"/>
              <a:ext cx="2029431" cy="0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6270331" y="1826963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8" name="Text Box 2074"/>
          <p:cNvSpPr txBox="1">
            <a:spLocks noChangeArrowheads="1"/>
          </p:cNvSpPr>
          <p:nvPr/>
        </p:nvSpPr>
        <p:spPr bwMode="auto">
          <a:xfrm>
            <a:off x="7333359" y="3506710"/>
            <a:ext cx="157607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알고리즘 분석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갱신주기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절차 마련</a:t>
            </a:r>
          </a:p>
        </p:txBody>
      </p:sp>
      <p:sp>
        <p:nvSpPr>
          <p:cNvPr id="49" name="Line 2124"/>
          <p:cNvSpPr>
            <a:spLocks noChangeShapeType="1"/>
          </p:cNvSpPr>
          <p:nvPr/>
        </p:nvSpPr>
        <p:spPr bwMode="auto">
          <a:xfrm flipV="1">
            <a:off x="5318672" y="4753489"/>
            <a:ext cx="3085337" cy="1154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262450" y="468852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04010" y="4688528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Text Box 2074"/>
          <p:cNvSpPr txBox="1">
            <a:spLocks noChangeArrowheads="1"/>
          </p:cNvSpPr>
          <p:nvPr/>
        </p:nvSpPr>
        <p:spPr bwMode="auto">
          <a:xfrm>
            <a:off x="6147324" y="4581236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</a:t>
            </a:r>
          </a:p>
        </p:txBody>
      </p:sp>
      <p:sp>
        <p:nvSpPr>
          <p:cNvPr id="53" name="Line 2124"/>
          <p:cNvSpPr>
            <a:spLocks noChangeShapeType="1"/>
          </p:cNvSpPr>
          <p:nvPr/>
        </p:nvSpPr>
        <p:spPr bwMode="auto">
          <a:xfrm flipV="1">
            <a:off x="5817096" y="5098285"/>
            <a:ext cx="3128928" cy="7578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777565" y="504695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916358" y="503154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6" name="Text Box 2074"/>
          <p:cNvSpPr txBox="1">
            <a:spLocks noChangeArrowheads="1"/>
          </p:cNvSpPr>
          <p:nvPr/>
        </p:nvSpPr>
        <p:spPr bwMode="auto">
          <a:xfrm>
            <a:off x="6506941" y="4913315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 서비스 방안</a:t>
            </a:r>
          </a:p>
        </p:txBody>
      </p:sp>
      <p:sp>
        <p:nvSpPr>
          <p:cNvPr id="57" name="Line 2124"/>
          <p:cNvSpPr>
            <a:spLocks noChangeShapeType="1"/>
          </p:cNvSpPr>
          <p:nvPr/>
        </p:nvSpPr>
        <p:spPr bwMode="auto">
          <a:xfrm>
            <a:off x="4853918" y="4389183"/>
            <a:ext cx="2277792" cy="6679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774859" y="4334066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167350" y="4327481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0" name="Text Box 2074"/>
          <p:cNvSpPr txBox="1">
            <a:spLocks noChangeArrowheads="1"/>
          </p:cNvSpPr>
          <p:nvPr/>
        </p:nvSpPr>
        <p:spPr bwMode="auto">
          <a:xfrm>
            <a:off x="5300947" y="4206028"/>
            <a:ext cx="145225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지구 지자기 모델과 시사점 도출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Line 2124"/>
          <p:cNvSpPr>
            <a:spLocks noChangeShapeType="1"/>
          </p:cNvSpPr>
          <p:nvPr/>
        </p:nvSpPr>
        <p:spPr bwMode="auto">
          <a:xfrm flipV="1">
            <a:off x="4310622" y="4086252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404861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4031134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5" name="Text Box 2074"/>
          <p:cNvSpPr txBox="1">
            <a:spLocks noChangeArrowheads="1"/>
          </p:cNvSpPr>
          <p:nvPr/>
        </p:nvSpPr>
        <p:spPr bwMode="auto">
          <a:xfrm>
            <a:off x="5877476" y="3899147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국가 지자기 모델 활용 확대 방안</a:t>
            </a:r>
          </a:p>
        </p:txBody>
      </p:sp>
      <p:sp>
        <p:nvSpPr>
          <p:cNvPr id="66" name="Line 2124"/>
          <p:cNvSpPr>
            <a:spLocks noChangeShapeType="1"/>
          </p:cNvSpPr>
          <p:nvPr/>
        </p:nvSpPr>
        <p:spPr bwMode="auto">
          <a:xfrm>
            <a:off x="537066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34672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8164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9" name="Text Box 2074"/>
          <p:cNvSpPr txBox="1">
            <a:spLocks noChangeArrowheads="1"/>
          </p:cNvSpPr>
          <p:nvPr/>
        </p:nvSpPr>
        <p:spPr bwMode="auto">
          <a:xfrm>
            <a:off x="528867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지자기점 선점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2" name="Line 2124"/>
          <p:cNvSpPr>
            <a:spLocks noChangeShapeType="1"/>
          </p:cNvSpPr>
          <p:nvPr/>
        </p:nvSpPr>
        <p:spPr bwMode="auto">
          <a:xfrm>
            <a:off x="6388981" y="257061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6365039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399954" y="251899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5" name="Text Box 2074"/>
          <p:cNvSpPr txBox="1">
            <a:spLocks noChangeArrowheads="1"/>
          </p:cNvSpPr>
          <p:nvPr/>
        </p:nvSpPr>
        <p:spPr bwMode="auto">
          <a:xfrm>
            <a:off x="6296992" y="2407608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MinGeo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207399" y="2247921"/>
            <a:ext cx="5282105" cy="477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790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갱신 주기 및 방안 도출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국가기준점 지자기측량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발전방안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국가 지자기모델 갱신 주기 및 절차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관측망 재관측 주기(5년)에 맞춰 모델을 재계산하고, 기준시점 변경 시 수시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5년 주기 반복관측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(관측시각·Kp 기록)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882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9202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9202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9202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9202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재적합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7218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4축 재계산 · 교차검증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(순차 튜닝 금지)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2604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6924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06924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6924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6924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4940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독립 측점 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판정기준 충족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0326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4646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54646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4646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4646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2662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도엽별 자침편차 산출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계산기·조회 서비스 갱신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13632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31920"/>
            <a:ext cx="1324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5718" y="3931920"/>
            <a:ext cx="18695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시점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3316" y="3931920"/>
            <a:ext cx="5501579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24528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51960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정기 갱신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5718" y="4251960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5년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3316" y="4251960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재관측 성과 반영 · 전 층 재적합 · 기준시점 환산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636008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5718" y="4636008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 갱신 시(5년)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3316" y="4636008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계수 교체 후 재계산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992624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020056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5718" y="5020056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측점·자료 추가 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3316" y="5020056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신규 관측성과 투입 후 교차검증 재수행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13632"/>
            <a:ext cx="9079992" cy="1463039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522976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층이 서로 결합되어 있어 한 층만 고쳐 끼우는 순차 갱신은 성립하지 않으며, 갱신 시에는 전 층을 다시 적합해야 함</a:t>
            </a:r>
          </a:p>
        </p:txBody>
      </p:sp>
    </p:spTree>
    <p:extLst>
      <p:ext uri="{BB962C8B-B14F-4D97-AF65-F5344CB8AC3E}">
        <p14:creationId xmlns:p14="http://schemas.microsoft.com/office/powerpoint/2010/main" val="227053225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E:\진행중작업\20140409기획재정부PT\간지07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76" y="-1"/>
            <a:ext cx="9902825" cy="6858001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3176" y="3212976"/>
            <a:ext cx="9902824" cy="132343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000" spc="-149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감사합니다</a:t>
            </a:r>
            <a:endParaRPr lang="en-US" altLang="ko-KR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endParaRPr lang="ko-KR" altLang="en-US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1949295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도엽별 자침편차 제공을 위한 정확도 요건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규정 제12조 — 1등 지자기점은 국가기본도의 자편각 표기를 위한 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제공 대상은 1:50,000 도엽 — 도폭 내 편각 변화 5.4′ 가 표기 정밀도의 하한을 결정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5447995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128846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9398" y="2670048"/>
            <a:ext cx="74366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크기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1077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내 편각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996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대표값 1개 표기 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962656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990087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2F5497"/>
                </a:solidFill>
                <a:latin typeface="KoPub돋움체 Bold"/>
              </a:rPr>
              <a:t>1:50,000 (제공)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19398" y="2990087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15′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1077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0.0905° (5.4′)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996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±2.7′ 의 표기 한계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374135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1:25,000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19398" y="3374135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7′30″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91077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0.0453° (2.7′)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996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±1.4′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730752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758184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9398" y="3758184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1′30″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1077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0.0091° (0.5′)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996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±0.3′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651760"/>
            <a:ext cx="5447995" cy="14630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41075" y="2651760"/>
            <a:ext cx="3450396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05667" y="2514600"/>
            <a:ext cx="20116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5667" y="2532888"/>
            <a:ext cx="20116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현재 모델 정확도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8819" y="2944368"/>
            <a:ext cx="2974908" cy="31089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0000"/>
                </a:solidFill>
                <a:latin typeface="KoPub돋움체 Bold"/>
              </a:rPr>
              <a:t>편각 0.50°  (목표 0.1°)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8819" y="3273552"/>
            <a:ext cx="2974908" cy="10058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 63 nT (목표 50 nT)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모델 오차가 도폭 내 변화(5.4′)의 약 6배 — 아직 도엽 구분이 의미를 갖지 못함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현 단계는 참고값이며 정식 표기는 목표 달성 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3891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제공 방식(안)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700016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718303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단계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1719" y="4718303"/>
            <a:ext cx="20511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제공 형태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0917" y="4718303"/>
            <a:ext cx="577397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01091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03834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1단계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1719" y="503834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도엽별 수치자료(엑셀)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0917" y="503834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1:50,000 도엽 단위 — 도엽 중심 대표값 · 도폭 내 변화폭 · 기준시점 · 연변화율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40410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2단계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1719" y="540410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조회 서비스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80917" y="540410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국토정보플랫폼에서 위치·도엽 검색 시 자침편차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74243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6986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3단계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1719" y="576986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지형도 표기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80917" y="576986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도곽 밖 자침편차 도표 반영(정확도 목표 달성 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700016"/>
            <a:ext cx="9079992" cy="1408176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62179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도폭 내 편각 변화는 IGRF-14 산출값 / 도폭 규격 15′ 는 지도도식적용규정 제4조·제211조 / 대표값은 도곽 중심 기준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검증체계 및 구조 선택 결과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구현 검증 · 구조 선택 · 예측 검증 — 평가 측점은 미리 고정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만들고 끝내지 않고, 어떤 형태가 옳은지 자료로 선택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596896"/>
            <a:ext cx="5084795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15184"/>
            <a:ext cx="1092334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23270" y="2615184"/>
            <a:ext cx="1600814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후보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2101" y="2615184"/>
            <a:ext cx="1092334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교차검증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2452" y="2615184"/>
            <a:ext cx="787247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판정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907792"/>
            <a:ext cx="5084795" cy="3291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935224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Regional 차수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23270" y="2935224"/>
            <a:ext cx="160081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R0 상수항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2101" y="2935224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0.4987°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2452" y="2935224"/>
            <a:ext cx="787247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F6B4A"/>
                </a:solidFill>
                <a:latin typeface="KoPub돋움체 Medium"/>
              </a:rPr>
              <a:t>채택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264408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1723270" y="3264408"/>
            <a:ext cx="160081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R1 1차 평면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52101" y="3264408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0.5236°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2452" y="3264408"/>
            <a:ext cx="787247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기각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566160"/>
            <a:ext cx="5084795" cy="3291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593591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723270" y="3593591"/>
            <a:ext cx="160081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R1T 시간항 추가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52101" y="3593591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0.5459°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72452" y="3593591"/>
            <a:ext cx="787247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기각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922776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지각 결합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23270" y="3922776"/>
            <a:ext cx="160081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F1 1:1 결합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2101" y="3922776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63.0 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72452" y="3922776"/>
            <a:ext cx="787247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F6B4A"/>
                </a:solidFill>
                <a:latin typeface="KoPub돋움체 Medium"/>
              </a:rPr>
              <a:t>채택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224528"/>
            <a:ext cx="5084795" cy="3291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251960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58" name="TextBox 57"/>
          <p:cNvSpPr txBox="1"/>
          <p:nvPr/>
        </p:nvSpPr>
        <p:spPr>
          <a:xfrm>
            <a:off x="1723270" y="4251960"/>
            <a:ext cx="160081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Fα 계수 추정(0.67)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52101" y="4251960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67.0 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72452" y="4251960"/>
            <a:ext cx="787247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기각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4581144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External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23270" y="4581144"/>
            <a:ext cx="160081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E0 청양 단독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52101" y="4581144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0.5495°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72452" y="4581144"/>
            <a:ext cx="787247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기각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882896"/>
            <a:ext cx="5084795" cy="3291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4910328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723270" y="4910328"/>
            <a:ext cx="160081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E1 최근접 관측소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52101" y="4910328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0.5504°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72452" y="4910328"/>
            <a:ext cx="787247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기각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239512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723270" y="5239512"/>
            <a:ext cx="160081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E2 4소 공간보간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52101" y="5239512"/>
            <a:ext cx="1092334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0.4987°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72452" y="5239512"/>
            <a:ext cx="787247" cy="32918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F6B4A"/>
                </a:solidFill>
                <a:latin typeface="KoPub돋움체 Medium"/>
              </a:rPr>
              <a:t>채택(잠정)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2596896"/>
            <a:ext cx="5084795" cy="2944368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677875" y="2596896"/>
            <a:ext cx="3813596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842467" y="2459736"/>
            <a:ext cx="237744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42467" y="2478024"/>
            <a:ext cx="237744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평가 측점 고정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15619" y="2889504"/>
            <a:ext cx="3338108" cy="10058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여러 후보를 같은 교차검증 값을 보며 고르면 그 값에도 과적합 발생. 기준 설정에서 평가 측점을 한 번만 정해 고정(편각 14 · 복각 15 · 총자력 13)하고, 이후 모든 비교를 그 위에서만 수행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677875" y="4133087"/>
            <a:ext cx="3813596" cy="1225296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79043" y="4261104"/>
            <a:ext cx="3411260" cy="23774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497"/>
                </a:solidFill>
                <a:latin typeface="KoPub돋움체 Bold"/>
              </a:rPr>
              <a:t>선택의 요점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79043" y="4535424"/>
            <a:ext cx="3411260" cy="76809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측점 16개로는 공간 구조 지지 불가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결합계수 자유추정은 과적합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단일 관측소 가정은 불성립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5687568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모든 비교는 같은 조건(Grade A 자료 · 동일 차수 · 동일 평가 측점)에서 처음부터 다시 적합해 수행함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성능 및 편각 정확도 제한요인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적합에 쓰지 않은 측점에서의 예측오차(Station-LOSO)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총자력은 목표에 근접 · 편각은 과제로 잔존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2596896"/>
            <a:ext cx="2892552" cy="841248"/>
          </a:xfrm>
          <a:prstGeom prst="roundRect">
            <a:avLst>
              <a:gd name="adj" fmla="val 14000"/>
            </a:avLst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688336"/>
            <a:ext cx="2892552" cy="40233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C00000"/>
                </a:solidFill>
                <a:latin typeface="KoPub돋움체 Bold"/>
              </a:rPr>
              <a:t>30′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108960"/>
            <a:ext cx="289255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95959"/>
                </a:solidFill>
                <a:latin typeface="KoPub돋움체 Medium"/>
              </a:rPr>
              <a:t>편각 D  |  목표 6′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05200" y="2596896"/>
            <a:ext cx="2892552" cy="841248"/>
          </a:xfrm>
          <a:prstGeom prst="roundRect">
            <a:avLst>
              <a:gd name="adj" fmla="val 14000"/>
            </a:avLst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05200" y="2688336"/>
            <a:ext cx="2892552" cy="40233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C00000"/>
                </a:solidFill>
                <a:latin typeface="KoPub돋움체 Bold"/>
              </a:rPr>
              <a:t>63 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5200" y="3108960"/>
            <a:ext cx="289255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95959"/>
                </a:solidFill>
                <a:latin typeface="KoPub돋움체 Medium"/>
              </a:rPr>
              <a:t>총자력 F  |  목표 50 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98920" y="2596896"/>
            <a:ext cx="2892552" cy="841248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98920" y="2688336"/>
            <a:ext cx="2892552" cy="40233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2F5497"/>
                </a:solidFill>
                <a:latin typeface="KoPub돋움체 Bold"/>
              </a:rPr>
              <a:t>15′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8920" y="3108960"/>
            <a:ext cx="289255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95959"/>
                </a:solidFill>
                <a:latin typeface="KoPub돋움체 Medium"/>
              </a:rPr>
              <a:t>복각 I  |  별도 목표 없음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639312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657600"/>
            <a:ext cx="22327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검정한 가설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63717" y="3657600"/>
            <a:ext cx="4956779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결과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48513" y="3657600"/>
            <a:ext cx="15063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판정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3950208"/>
            <a:ext cx="9079992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977640"/>
            <a:ext cx="2232781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IGRF 구현 오류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63717" y="3977640"/>
            <a:ext cx="4956779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공식 계산기와 표시 자릿수 내 일치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48513" y="3977640"/>
            <a:ext cx="1506382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배제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270248"/>
            <a:ext cx="2232781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Regional 차수 부족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63717" y="4270248"/>
            <a:ext cx="4956779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1차·2차가 상수항보다 나쁨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48513" y="4270248"/>
            <a:ext cx="1506382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배제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535424"/>
            <a:ext cx="9079992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562856"/>
            <a:ext cx="2232781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지역 영년변화 항 누락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63717" y="4562856"/>
            <a:ext cx="4956779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시간항 추가 시 오히려 악화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48513" y="4562856"/>
            <a:ext cx="1506382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배제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4855464"/>
            <a:ext cx="2232781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단일 관측소 외부장 보정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63717" y="4855464"/>
            <a:ext cx="4956779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청양 단독·최근접 모두 기준선보다 나쁨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48513" y="4855464"/>
            <a:ext cx="1506382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배제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5120640"/>
            <a:ext cx="9079992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5148072"/>
            <a:ext cx="2232781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지각 결합계수 오류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63717" y="5148072"/>
            <a:ext cx="4956779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계수 자유추정은 과적합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48513" y="5148072"/>
            <a:ext cx="1506382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배제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3639312"/>
            <a:ext cx="9079992" cy="1773936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11480" y="5577840"/>
            <a:ext cx="4430268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76072" y="5440680"/>
            <a:ext cx="201168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6072" y="5458968"/>
            <a:ext cx="20116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남은 요인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" y="5797296"/>
            <a:ext cx="3991356" cy="53035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기존 반복측량의 편각 계통오차(장비·방위표지·측점 이설)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② 지각 벡터 미반영  ③ 측점 16개라는 공간 밀도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61204" y="5577840"/>
            <a:ext cx="4430268" cy="786384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44084" y="5705856"/>
            <a:ext cx="4064508" cy="23774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이 단계의 결론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44084" y="5943600"/>
            <a:ext cx="4064508" cy="40233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「미달」이 아니라 「특정」 — 무엇을 고치면 무엇이 좋아지는지 확인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시범구축 결과 웹 공개 및 시연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’25년 시범모델 산출물 공개 현황 (아래 주소를 눌러 시연)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구축 결과는 설치 없이 브라우저에서 바로 확인 가능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596896"/>
            <a:ext cx="4430268" cy="115214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2596896"/>
            <a:ext cx="50292" cy="115214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2706624"/>
            <a:ext cx="4027932" cy="25603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LMM 계산기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2999232"/>
            <a:ext cx="4027932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F5497"/>
                </a:solidFill>
                <a:latin typeface="KoPub돋움체 Bold"/>
                <a:hlinkClick r:id="rId3"/>
              </a:rPr>
              <a:t>https://yoonsoo-ji.github.io/geomag-site-selection/lmm.html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3255264"/>
            <a:ext cx="4027932" cy="43891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좌표·표고·일자를 넣으면 편각·복각·총자력을 계산.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층별 기여와 정확도 고지를 함께 표시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61204" y="2596896"/>
            <a:ext cx="4430268" cy="115214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61204" y="2596896"/>
            <a:ext cx="50292" cy="115214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62372" y="2706624"/>
            <a:ext cx="4027932" cy="25603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한국 지자기도 (2D)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2372" y="2999232"/>
            <a:ext cx="4027932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F5497"/>
                </a:solidFill>
                <a:latin typeface="KoPub돋움체 Bold"/>
                <a:hlinkClick r:id="rId4"/>
              </a:rPr>
              <a:t>https://yoonsoo-ji.github.io/geomag-site-selection/lmm_map.html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62372" y="3255264"/>
            <a:ext cx="4027932" cy="43891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IGRF · LMM · 차이를 나란히 표출.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2020 연구 지자기도와 같은 형식이라 직접 대비 가능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895344"/>
            <a:ext cx="4430268" cy="115214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3895344"/>
            <a:ext cx="50292" cy="115214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" y="4005072"/>
            <a:ext cx="4027932" cy="25603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3D 지구 자기장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4297680"/>
            <a:ext cx="4027932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F5497"/>
                </a:solidFill>
                <a:latin typeface="KoPub돋움체 Bold"/>
                <a:hlinkClick r:id="rId5"/>
              </a:rPr>
              <a:t>https://yoonsoo-ji.github.io/geomag-site-selection/geomag_globe.html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4553712"/>
            <a:ext cx="4027932" cy="43891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전지구 자기장 위에 한국 고해상 패치를 중첩.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선점 후보·기존점 마커에서 상세지도로 연결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61204" y="3895344"/>
            <a:ext cx="4430268" cy="115214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61204" y="3895344"/>
            <a:ext cx="50292" cy="115214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62372" y="4005072"/>
            <a:ext cx="4027932" cy="25603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선점 검토 지도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2372" y="4297680"/>
            <a:ext cx="4027932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F5497"/>
                </a:solidFill>
                <a:latin typeface="KoPub돋움체 Bold"/>
                <a:hlinkClick r:id="rId6"/>
              </a:rPr>
              <a:t>https://yoonsoo-ji.github.io/geomag-site-selection/survey_review.html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2372" y="4553712"/>
            <a:ext cx="4027932" cy="43891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현장조사 103점의 등급·사진·방위표지와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기존 측정점 30점을 함께 표출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5340096"/>
            <a:ext cx="9079992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94360" y="5202936"/>
            <a:ext cx="1737360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221223"/>
            <a:ext cx="173736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시연 순서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" y="5596128"/>
            <a:ext cx="8567928" cy="4572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계산기에서 층별 기여 확인 → ② 지자기도에서 IGRF 와의 차이 확인 → ③ 지구본에서 한국 패치 확대·선점 후보 연결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163055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모두 외부 서버 없이 단일 파일로 동작하며, GitHub Pages 로 상시 공개 중임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국가 지역자기장모델(LMM) 구축의 필요성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왜 국가 지역자기장모델을 구축해야 하는가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자침편차는 국가기본도 표기 대상이나, 산출 근거는 국내 실측이 아닌 전지구모델 계산값뿐임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596896"/>
            <a:ext cx="9079992" cy="292608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15184"/>
            <a:ext cx="961583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92519" y="2615184"/>
            <a:ext cx="4411980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현재 여건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2515" y="2615184"/>
            <a:ext cx="3322380" cy="29260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그래서 필요한 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889504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916936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제도·목적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2519" y="2916936"/>
            <a:ext cx="4411980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국가기본도 표기 대상 — 작업규정 제12조제1항(설치 목적)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2515" y="2916936"/>
            <a:ext cx="3322380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표기값을 국가가 직접 산출·관리하는 자체 모델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337560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정확도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2519" y="3337560"/>
            <a:ext cx="4411980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00000"/>
                </a:solidFill>
                <a:latin typeface="KoPub돋움체 Medium"/>
              </a:rPr>
              <a:t>IGRF 단독 시 국내 편각 잔차 31.9′ — 목표 6′ 의 약 5배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2515" y="3337560"/>
            <a:ext cx="3322380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지역장·지각장을 더해 국내 실측값에 맞추는 층 구조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730752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758184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시간 변동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2519" y="3758184"/>
            <a:ext cx="4411980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영년변화 편각 -2.2′/년 · 일변화만으로 편각 0.11°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32515" y="3758184"/>
            <a:ext cx="3322380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기준시점 환산 + 상시관측 보정 (규정 제21조)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4178808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공간 변동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92519" y="4178808"/>
            <a:ext cx="4411980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전국 편각 -9.4° ~ -7.6° — 약 108′ 분포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32515" y="4178808"/>
            <a:ext cx="3322380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전국 단일값 표기 불가 — 위치별 산출 모델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2596896"/>
            <a:ext cx="9079992" cy="1975103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11480" y="4828032"/>
            <a:ext cx="4430268" cy="12070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76072" y="4690872"/>
            <a:ext cx="24688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4709159"/>
            <a:ext cx="24688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왜 「층 분리」 구조인가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" y="5120640"/>
            <a:ext cx="3991356" cy="85953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· 네 층은 기원·시간상수·공간규모가 모두 상이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· 한 값으로 내삽하면 시간 변동이 공간 분포로 둔갑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· 일본 국토지리원·미국 NOAA·영국 BGS 도 층 분리 구조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61204" y="4828032"/>
            <a:ext cx="4430268" cy="12070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225796" y="4690872"/>
            <a:ext cx="3749039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25796" y="4709159"/>
            <a:ext cx="3749039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국내 여건 — 자료는 있으나 결합체계 부재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80660" y="5120640"/>
            <a:ext cx="3991356" cy="85953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· 반복관측점 16점 · 항공자력 2.8 km 격자 · 상시관측 4개소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· 개별 활용에 그쳐 하나의 모델로 결합된 사례 없음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· 신규 취득이 아니라 «결합체계» 구성이 이번 연구의 요체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6144768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편각 잔차는 국내 반복관측 성과에 대한 실측값, 영년변화율·편각 분포는 IGRF-14 산출값임 (하드코딩 아님)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전지구모델 대비 층별 기여도 실측 결과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층별 기여도 실측 — IGRF 단독부터 단계별 잔차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전지구모델만으로는 국내 지표값과 불일치 — 층을 쌓으면 그 몫이 실제로 감소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11431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성분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74118" y="2670048"/>
            <a:ext cx="1687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① Core 단독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0117" y="2670048"/>
            <a:ext cx="1687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+ ③ Crustal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6115" y="2670048"/>
            <a:ext cx="1687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+ ② Regional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2114" y="2670048"/>
            <a:ext cx="22327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감소율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62656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90087"/>
            <a:ext cx="11431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편각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4118" y="2990087"/>
            <a:ext cx="1687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31.9′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0117" y="2990087"/>
            <a:ext cx="1687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6115" y="2990087"/>
            <a:ext cx="1687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28.8′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2114" y="2990087"/>
            <a:ext cx="2232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6B4A"/>
                </a:solidFill>
                <a:latin typeface="KoPub돋움체 Medium"/>
              </a:rPr>
              <a:t>−10 %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410711"/>
            <a:ext cx="11431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복각 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4118" y="3410711"/>
            <a:ext cx="1687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17.4′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0117" y="3410711"/>
            <a:ext cx="1687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6115" y="3410711"/>
            <a:ext cx="1687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13.6′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2114" y="3410711"/>
            <a:ext cx="2232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6B4A"/>
                </a:solidFill>
                <a:latin typeface="KoPub돋움체 Medium"/>
              </a:rPr>
              <a:t>−22 %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03904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831336"/>
            <a:ext cx="11431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총자력 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74118" y="3831336"/>
            <a:ext cx="1687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87 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0117" y="3831336"/>
            <a:ext cx="1687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59 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6115" y="3831336"/>
            <a:ext cx="1687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58 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2114" y="3831336"/>
            <a:ext cx="2232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6B4A"/>
                </a:solidFill>
                <a:latin typeface="KoPub돋움체 Medium"/>
              </a:rPr>
              <a:t>−33 %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2651760"/>
            <a:ext cx="9079992" cy="1572768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11480" y="4425696"/>
            <a:ext cx="4430268" cy="14264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76072" y="4288536"/>
            <a:ext cx="2194560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4306823"/>
            <a:ext cx="219456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층을 쌓아야 하는 이유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" y="4736592"/>
            <a:ext cx="3991356" cy="107899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총자력은 ③ 지각 자기이상이 대부분을 제거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   (87 → 59 nT, 전체 감소의 대부분)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편각·복각은 지각층이 스칼라만 주므로 ② 지역장이 담당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네 층이 각각 다른 성분·다른 파장을 담당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61204" y="4425696"/>
            <a:ext cx="4430268" cy="14264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225796" y="4288536"/>
            <a:ext cx="219456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25796" y="4306823"/>
            <a:ext cx="219456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그래도 남는 과제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80660" y="4736592"/>
            <a:ext cx="3991356" cy="107899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편각 28.8′ — 목표 6′ 에 미달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감소율도 편각이 최저 — 자기 원인만으로 설명 불가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원인 진단과 측점 확충이 후반기 과제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5961888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개념도가 아니라 국내 반복관측 성과에 대해 IGRF 단독부터 단계별로 실제 측정한 잔차임 (평가 측점 고정)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2020년 연구성과와의 관계 및 확장 사항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56692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기존 연구와의 관계 / 이번 연구에서 확장한 사항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같은 「15점」이 아님 — 겹치는 측점은 5점뿐이고, 새로 든 점은 2020 이 자료부족으로 뺐던 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2542032"/>
            <a:ext cx="2904744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57784" y="2404872"/>
            <a:ext cx="1737360" cy="274320"/>
          </a:xfrm>
          <a:prstGeom prst="roundRect">
            <a:avLst>
              <a:gd name="adj" fmla="val 14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2423160"/>
            <a:ext cx="173736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공통 5점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2816352"/>
            <a:ext cx="2538984" cy="51206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1A1A1A"/>
                </a:solidFill>
                <a:latin typeface="KoPub돋움체 Medium"/>
              </a:rPr>
              <a:t>거제 · 삼척 · 성산 · 여주 · 이원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99104" y="2542032"/>
            <a:ext cx="2904744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45408" y="2404872"/>
            <a:ext cx="173736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45408" y="2423160"/>
            <a:ext cx="173736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2020 에만 10점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1984" y="2816352"/>
            <a:ext cx="2538984" cy="51206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1A1A1A"/>
                </a:solidFill>
                <a:latin typeface="KoPub돋움체 Medium"/>
              </a:rPr>
              <a:t>남지 · 봉평 · 서산 · 와도 · 장흥 · 제천 · 청송 · 청양 · 춘양 · 화천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6728" y="2542032"/>
            <a:ext cx="2904744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3032" y="2404872"/>
            <a:ext cx="173736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3032" y="2423160"/>
            <a:ext cx="173736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’22~25 에만 10점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9608" y="2816352"/>
            <a:ext cx="2538984" cy="51206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1A1A1A"/>
                </a:solidFill>
                <a:latin typeface="KoPub돋움체 Medium"/>
              </a:rPr>
              <a:t>가야 · 강화 · 미원 · 부안 · 상주 · 순천 · 양산 · 영천 · 포천 · 함양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56616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" y="3621024"/>
            <a:ext cx="8787384" cy="25603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① ’22~25 신규 10점이 10점 전부 2020 의 「측량 1회」 배제 목록 — 자료 공백을 정면으로 채운 배치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" y="3877056"/>
            <a:ext cx="8787384" cy="25603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00000"/>
                </a:solidFill>
                <a:latin typeface="KoPub돋움체 Bold"/>
              </a:rPr>
              <a:t>② 대신 최대 관측공백 93 → 129 km · 50 km 초과 지역 29.7 → 35.8 % — 강원·충청 내륙 축(화천·봉평·제천·청송·청양·서산)을 잃음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334256"/>
            <a:ext cx="9079992" cy="274320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352544"/>
            <a:ext cx="961583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92519" y="4352544"/>
            <a:ext cx="3140781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2020년 연구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61316" y="4352544"/>
            <a:ext cx="4593579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/>
              </a:rPr>
              <a:t>이번 연구 (’25 시범구축)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608576"/>
            <a:ext cx="9079992" cy="34747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636008"/>
            <a:ext cx="961583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지역장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92519" y="4636008"/>
            <a:ext cx="3140781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별도 층 없음 — IGRF 계산값 사용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61316" y="4636008"/>
            <a:ext cx="4593579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지표 절대측정으로 직접 구성 (R0 상수항)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983480"/>
            <a:ext cx="961583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지각장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92519" y="4983480"/>
            <a:ext cx="3140781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반영 없음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61316" y="4983480"/>
            <a:ext cx="4593579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6B4A"/>
                </a:solidFill>
                <a:latin typeface="KoPub돋움체 Medium"/>
              </a:rPr>
              <a:t>항공자력 1:1 결합 — 총자력 87 → 59 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303520"/>
            <a:ext cx="9079992" cy="34747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5330952"/>
            <a:ext cx="961583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외부장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92519" y="5330952"/>
            <a:ext cx="3140781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청양 단독 보정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61316" y="5330952"/>
            <a:ext cx="4593579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상시관측 4개소 공간보간 · 성분별 관측구간 (잠정)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5678424"/>
            <a:ext cx="961583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/>
              </a:rPr>
              <a:t>검증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92519" y="5678424"/>
            <a:ext cx="3140781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과거 성과와 비교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61316" y="5678424"/>
            <a:ext cx="4593579" cy="347472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Medium"/>
              </a:rPr>
              <a:t>평가집합 동결 + Station-LOSO + 블록 홀드아웃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334256"/>
            <a:ext cx="9079992" cy="1664207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6126479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성능 우열 비교가 아님 — 측점 명단은 2020 보고서 p.117(측량회수 1회 15점)과 ’22~25 성과표를 대조한 결과이며, 관측공백은 국토 0.1° 격자 기준임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지자기모델 검증 및 보완 방향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3. 지자기모델 고도화 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추후 진행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입력자료 보강 → 모델 고도화 → 독립검증·갱신주기 순으로 진행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1단계   입력자료 보강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’26.9~10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 큰 측점 재측정 · 방위표지 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야장에만 있는 성과 17건 검증 투입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목표: 반복관측점 16점 → 20점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3864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3864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2단계   모델 고도화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’26.10~11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상시관측 4개소 공간투영(NOC)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잔차면 모델링 · 다항식 차수 재선정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지각 자기이상 진폭 보정 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6248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56248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56248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5976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3단계   검증 · 갱신체계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’26.11~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적합에 쓰지 않은 독립 측점 검증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5년 갱신주기 연계 재계산 절차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도엽별 자침편차 산출 · 서비스 연계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497"/>
                </a:solidFill>
                <a:latin typeface="KoPub돋움체 Bold"/>
              </a:rPr>
              <a:t>단계 이행 판정기준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편각 잔차 10′ 이하 → 정식 산출 검토 · 10~20′ → 부분 재측정 · 20′ 초과 → 방위 기준 재결정 (현재 28.9′)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61204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4084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00000"/>
                </a:solidFill>
                <a:latin typeface="KoPub돋움체 Bold"/>
              </a:rPr>
              <a:t>제약 사항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4084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원측선 자료 부재 — 지각축 해상도 개선은 신규 자력측량 여부에 좌우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Autofit/>
      </a:bodyPr>
      <a:lstStyle>
        <a:defPPr algn="l">
          <a:defRPr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81712</TotalTime>
  <Words>356</Words>
  <Application>Microsoft Office PowerPoint</Application>
  <PresentationFormat>A4 용지(210x297mm)</PresentationFormat>
  <Paragraphs>87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KoPub돋움체 Light</vt:lpstr>
      <vt:lpstr>산돌고딕B</vt:lpstr>
      <vt:lpstr>Wingdings</vt:lpstr>
      <vt:lpstr>나눔고딕</vt:lpstr>
      <vt:lpstr>KoPub돋움체 Bold</vt:lpstr>
      <vt:lpstr>KoPub바탕체 Bold</vt:lpstr>
      <vt:lpstr>KoPub돋움체 Medium</vt:lpstr>
      <vt:lpstr>Arial</vt:lpstr>
      <vt:lpstr>나눔스퀘어라운드 Bold</vt:lpstr>
      <vt:lpstr>맑은 고딕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최일훈</dc:creator>
  <cp:lastModifiedBy>YOONS</cp:lastModifiedBy>
  <cp:revision>3764</cp:revision>
  <cp:lastPrinted>2026-03-20T04:25:28Z</cp:lastPrinted>
  <dcterms:created xsi:type="dcterms:W3CDTF">2011-03-02T01:31:16Z</dcterms:created>
  <dcterms:modified xsi:type="dcterms:W3CDTF">2026-08-18T04:30:10Z</dcterms:modified>
</cp:coreProperties>
</file>